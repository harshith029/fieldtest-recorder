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Harshith029/fieldtest-recorde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FieldTest Recorder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588000" cy="31188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SIH26231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Digital Companion for Field Drug Testing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Theme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MedTech / BioTech / HealthTech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PS Category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Team ID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152041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Team Name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Darth CodersUNI</a:t>
            </a:r>
            <a:endParaRPr lang="en-IN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4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FieldTest Recorder</a:t>
            </a:r>
            <a:endParaRPr lang="en-US" sz="34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/>
              <a:t>Darth CodersUNI</a:t>
            </a:r>
            <a:endParaRPr lang="en-IN" sz="1100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C269854-B2D8-EB77-974A-F65969E2231E}"/>
              </a:ext>
            </a:extLst>
          </p:cNvPr>
          <p:cNvSpPr txBox="1"/>
          <p:nvPr/>
        </p:nvSpPr>
        <p:spPr>
          <a:xfrm>
            <a:off x="1778000" y="812800"/>
            <a:ext cx="79375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0" i="1">
                <a:solidFill>
                  <a:srgbClr val="1F3864"/>
                </a:solidFill>
                <a:latin typeface="Arial" panose="020B0604020202020204" pitchFamily="34" charset="0"/>
              </a:rPr>
              <a:t>A guided, measured and signed field test for NCB's Narcotic Drugs Detection Kit</a:t>
            </a:r>
            <a:endParaRPr lang="en-IN" sz="1300" i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1300B1-B4B0-BDCE-C5E0-8BF656E42AA0}"/>
              </a:ext>
            </a:extLst>
          </p:cNvPr>
          <p:cNvSpPr txBox="1"/>
          <p:nvPr/>
        </p:nvSpPr>
        <p:spPr>
          <a:xfrm>
            <a:off x="279400" y="1219200"/>
            <a:ext cx="5537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Proposed solution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5977520-285D-86BA-0323-C869E0E9D430}"/>
              </a:ext>
            </a:extLst>
          </p:cNvPr>
          <p:cNvCxnSpPr/>
          <p:nvPr/>
        </p:nvCxnSpPr>
        <p:spPr>
          <a:xfrm>
            <a:off x="279400" y="1435100"/>
            <a:ext cx="5537200" cy="0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E59E29C-B9C6-5D5C-FB21-15402CDD4BCC}"/>
              </a:ext>
            </a:extLst>
          </p:cNvPr>
          <p:cNvSpPr txBox="1"/>
          <p:nvPr/>
        </p:nvSpPr>
        <p:spPr>
          <a:xfrm>
            <a:off x="279400" y="1498600"/>
            <a:ext cx="5537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27000" indent="-127000">
              <a:spcBef>
                <a:spcPts val="0"/>
              </a:spcBef>
              <a:spcAft>
                <a:spcPts val="3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A phone app for NCB's existing Narcotic Drugs Detection Kit. The only addition is a printed colour card. It works offline.</a:t>
            </a:r>
          </a:p>
          <a:p>
            <a:pPr marL="127000" indent="-127000">
              <a:spcBef>
                <a:spcPts val="0"/>
              </a:spcBef>
              <a:spcAft>
                <a:spcPts val="3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It guides the officer through Tests A–E in the order of the kit's printed flow charts.</a:t>
            </a:r>
          </a:p>
          <a:p>
            <a:pPr marL="127000" indent="-127000">
              <a:spcBef>
                <a:spcPts val="0"/>
              </a:spcBef>
              <a:spcAft>
                <a:spcPts val="3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The officer takes one photo of the reaction, a reagent-only blank and the card.</a:t>
            </a:r>
          </a:p>
          <a:p>
            <a:pPr marL="127000" indent="-127000">
              <a:spcBef>
                <a:spcPts val="0"/>
              </a:spcBef>
              <a:spcAft>
                <a:spcPts val="3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The app reads the colour against the kit's colour ranges: positive, no colour change or inconclusive, with every drug on the kit chart that the colour fits.</a:t>
            </a:r>
          </a:p>
          <a:p>
            <a:pPr marL="127000" indent="-127000">
              <a:spcBef>
                <a:spcPts val="0"/>
              </a:spcBef>
              <a:spcAft>
                <a:spcPts val="3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Each result is saved as a signed record with time, GPS, officer and photo hash.</a:t>
            </a:r>
          </a:p>
          <a:p>
            <a:pPr marL="127000" indent="-127000">
              <a:spcBef>
                <a:spcPts val="0"/>
              </a:spcBef>
              <a:spcAft>
                <a:spcPts val="3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A 14-character code written in the panchnama ties the records to the witnesses' signatures, so anyone can check them later.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EE3768-F75F-A8A1-46E0-B53E51ECC9A9}"/>
              </a:ext>
            </a:extLst>
          </p:cNvPr>
          <p:cNvSpPr txBox="1"/>
          <p:nvPr/>
        </p:nvSpPr>
        <p:spPr>
          <a:xfrm>
            <a:off x="279400" y="3294380"/>
            <a:ext cx="5537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50" b="1">
                <a:solidFill>
                  <a:srgbClr val="1F3864"/>
                </a:solidFill>
                <a:latin typeface="Arial" panose="020B0604020202020204" pitchFamily="34" charset="0"/>
              </a:rPr>
              <a:t>How it addresses the problem</a:t>
            </a:r>
            <a:endParaRPr lang="en-IN" sz="115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E3DC68B-5012-6F7A-0A2F-72D0EADDCC67}"/>
              </a:ext>
            </a:extLst>
          </p:cNvPr>
          <p:cNvCxnSpPr/>
          <p:nvPr/>
        </p:nvCxnSpPr>
        <p:spPr>
          <a:xfrm>
            <a:off x="279400" y="3510280"/>
            <a:ext cx="5537200" cy="0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E32F986-5019-9C9D-4D30-0CC0586815D5}"/>
              </a:ext>
            </a:extLst>
          </p:cNvPr>
          <p:cNvSpPr txBox="1"/>
          <p:nvPr/>
        </p:nvSpPr>
        <p:spPr>
          <a:xfrm>
            <a:off x="279400" y="3573780"/>
            <a:ext cx="5537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27000" indent="-127000">
              <a:spcBef>
                <a:spcPts val="0"/>
              </a:spcBef>
              <a:spcAft>
                <a:spcPts val="3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Today the colour is judged by eye against a printed chart. Here it is measured.</a:t>
            </a:r>
          </a:p>
          <a:p>
            <a:pPr marL="127000" indent="-127000">
              <a:spcBef>
                <a:spcPts val="0"/>
              </a:spcBef>
              <a:spcAft>
                <a:spcPts val="3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Bombay HC (2021) called field testing "arbitrary", with no set standard. Here every test leaves a record of when, where and by whom.</a:t>
            </a:r>
          </a:p>
          <a:p>
            <a:pPr marL="127000" indent="-127000">
              <a:spcBef>
                <a:spcPts val="0"/>
              </a:spcBef>
              <a:spcAft>
                <a:spcPts val="3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Kerala HC (2024): seized "MDMA" was methamphetamine, a different NDPS quantity category. Our report lists every drug the colour fits and does not name one.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EC3E17-467F-A476-1BDD-6BBB09850645}"/>
              </a:ext>
            </a:extLst>
          </p:cNvPr>
          <p:cNvSpPr txBox="1"/>
          <p:nvPr/>
        </p:nvSpPr>
        <p:spPr>
          <a:xfrm>
            <a:off x="279400" y="4615180"/>
            <a:ext cx="5537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Innovation and uniqueness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8A69BB-C986-E9D4-9922-93EAA56E5586}"/>
              </a:ext>
            </a:extLst>
          </p:cNvPr>
          <p:cNvCxnSpPr/>
          <p:nvPr/>
        </p:nvCxnSpPr>
        <p:spPr>
          <a:xfrm>
            <a:off x="279400" y="4831080"/>
            <a:ext cx="5537200" cy="0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37F37E5-F01C-CE85-4B77-D3441A9D96C5}"/>
              </a:ext>
            </a:extLst>
          </p:cNvPr>
          <p:cNvSpPr txBox="1"/>
          <p:nvPr/>
        </p:nvSpPr>
        <p:spPr>
          <a:xfrm>
            <a:off x="279400" y="4894580"/>
            <a:ext cx="5537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27000" indent="-127000">
              <a:spcBef>
                <a:spcPts val="0"/>
              </a:spcBef>
              <a:spcAft>
                <a:spcPts val="3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Built on NCB's own kit and flow charts; it is not a generic colour matcher.</a:t>
            </a:r>
          </a:p>
          <a:p>
            <a:pPr marL="127000" indent="-127000">
              <a:spcBef>
                <a:spcPts val="0"/>
              </a:spcBef>
              <a:spcAft>
                <a:spcPts val="3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Deleted or repeated tests are detected, not only edited ones (tested in code).</a:t>
            </a:r>
          </a:p>
          <a:p>
            <a:pPr marL="127000" indent="-127000">
              <a:spcBef>
                <a:spcPts val="0"/>
              </a:spcBef>
              <a:spcAft>
                <a:spcPts val="3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Still correct when the sample amount varies: 0% false positives in simulation, against 11.7% for a simple rule.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91F100-336D-0AC3-3BF6-785341367FD7}"/>
              </a:ext>
            </a:extLst>
          </p:cNvPr>
          <p:cNvSpPr txBox="1"/>
          <p:nvPr/>
        </p:nvSpPr>
        <p:spPr>
          <a:xfrm>
            <a:off x="6121400" y="1219200"/>
            <a:ext cx="5791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50" b="1">
                <a:solidFill>
                  <a:srgbClr val="1F3864"/>
                </a:solidFill>
                <a:latin typeface="Arial" panose="020B0604020202020204" pitchFamily="34" charset="0"/>
              </a:rPr>
              <a:t>One test in our prototype (simulated photo)</a:t>
            </a:r>
            <a:endParaRPr lang="en-IN" sz="115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F289A3A-4D0C-62E5-7D8B-0869097F813F}"/>
              </a:ext>
            </a:extLst>
          </p:cNvPr>
          <p:cNvCxnSpPr/>
          <p:nvPr/>
        </p:nvCxnSpPr>
        <p:spPr>
          <a:xfrm>
            <a:off x="6121400" y="1435100"/>
            <a:ext cx="5791200" cy="0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39CA52CE-14AE-E17B-72F5-59C50739D406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121400" y="1524000"/>
            <a:ext cx="3708400" cy="2781300"/>
          </a:xfrm>
          <a:prstGeom prst="rect">
            <a:avLst/>
          </a:prstGeom>
          <a:ln w="9525">
            <a:solidFill>
              <a:srgbClr val="7F7F7F"/>
            </a:solidFill>
          </a:ln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0E26D50-5EDC-9641-9159-7D5EE541584A}"/>
              </a:ext>
            </a:extLst>
          </p:cNvPr>
          <p:cNvCxnSpPr/>
          <p:nvPr/>
        </p:nvCxnSpPr>
        <p:spPr>
          <a:xfrm flipV="1">
            <a:off x="9240165" y="1727200"/>
            <a:ext cx="767435" cy="305778"/>
          </a:xfrm>
          <a:prstGeom prst="line">
            <a:avLst/>
          </a:prstGeom>
          <a:ln w="12700">
            <a:solidFill>
              <a:srgbClr val="1F3864"/>
            </a:solidFill>
            <a:head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C098954-88A4-DAD4-4468-547D641D2749}"/>
              </a:ext>
            </a:extLst>
          </p:cNvPr>
          <p:cNvSpPr txBox="1"/>
          <p:nvPr/>
        </p:nvSpPr>
        <p:spPr>
          <a:xfrm>
            <a:off x="10045700" y="1625600"/>
            <a:ext cx="18669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Markers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262626"/>
                </a:solidFill>
                <a:latin typeface="Arial" panose="020B0604020202020204" pitchFamily="34" charset="0"/>
              </a:rPr>
              <a:t>the app finds the card</a:t>
            </a:r>
            <a:endParaRPr lang="en-IN" sz="9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73FDAC2-B7E4-19B6-EA50-2685D28ED220}"/>
              </a:ext>
            </a:extLst>
          </p:cNvPr>
          <p:cNvCxnSpPr/>
          <p:nvPr/>
        </p:nvCxnSpPr>
        <p:spPr>
          <a:xfrm flipV="1">
            <a:off x="8669071" y="2336800"/>
            <a:ext cx="1338529" cy="252438"/>
          </a:xfrm>
          <a:prstGeom prst="line">
            <a:avLst/>
          </a:prstGeom>
          <a:ln w="12700">
            <a:solidFill>
              <a:srgbClr val="1F3864"/>
            </a:solidFill>
            <a:head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CFBA204-A276-1F03-F5D2-98DDB75F00C6}"/>
              </a:ext>
            </a:extLst>
          </p:cNvPr>
          <p:cNvSpPr txBox="1"/>
          <p:nvPr/>
        </p:nvSpPr>
        <p:spPr>
          <a:xfrm>
            <a:off x="10045700" y="2235200"/>
            <a:ext cx="18669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Sample well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900">
                <a:solidFill>
                  <a:srgbClr val="262626"/>
                </a:solidFill>
                <a:latin typeface="Arial" panose="020B0604020202020204" pitchFamily="34" charset="0"/>
              </a:rPr>
              <a:t>the reaction colour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FE94B4D-E98E-0CDF-D041-F0536961550C}"/>
              </a:ext>
            </a:extLst>
          </p:cNvPr>
          <p:cNvCxnSpPr/>
          <p:nvPr/>
        </p:nvCxnSpPr>
        <p:spPr>
          <a:xfrm flipV="1">
            <a:off x="8624570" y="2946400"/>
            <a:ext cx="1383030" cy="207442"/>
          </a:xfrm>
          <a:prstGeom prst="line">
            <a:avLst/>
          </a:prstGeom>
          <a:ln w="12700">
            <a:solidFill>
              <a:srgbClr val="1F3864"/>
            </a:solidFill>
            <a:head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03E3080-12FC-DE3D-AB9F-3A259753349F}"/>
              </a:ext>
            </a:extLst>
          </p:cNvPr>
          <p:cNvSpPr txBox="1"/>
          <p:nvPr/>
        </p:nvSpPr>
        <p:spPr>
          <a:xfrm>
            <a:off x="10045700" y="2844800"/>
            <a:ext cx="18669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Blank well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900">
                <a:solidFill>
                  <a:srgbClr val="262626"/>
                </a:solidFill>
                <a:latin typeface="Arial" panose="020B0604020202020204" pitchFamily="34" charset="0"/>
              </a:rPr>
              <a:t>reagent only, same light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44D2DC0-71B0-A176-3D98-600E58BB1BFC}"/>
              </a:ext>
            </a:extLst>
          </p:cNvPr>
          <p:cNvCxnSpPr/>
          <p:nvPr/>
        </p:nvCxnSpPr>
        <p:spPr>
          <a:xfrm>
            <a:off x="7864348" y="3248406"/>
            <a:ext cx="2143252" cy="307594"/>
          </a:xfrm>
          <a:prstGeom prst="line">
            <a:avLst/>
          </a:prstGeom>
          <a:ln w="12700">
            <a:solidFill>
              <a:srgbClr val="1F3864"/>
            </a:solidFill>
            <a:head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1C772C0-1858-02BB-3007-3CF34174D73A}"/>
              </a:ext>
            </a:extLst>
          </p:cNvPr>
          <p:cNvSpPr txBox="1"/>
          <p:nvPr/>
        </p:nvSpPr>
        <p:spPr>
          <a:xfrm>
            <a:off x="10045700" y="3454400"/>
            <a:ext cx="18669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Reference colours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262626"/>
                </a:solidFill>
                <a:latin typeface="Arial" panose="020B0604020202020204" pitchFamily="34" charset="0"/>
              </a:rPr>
              <a:t>correct for light and camera</a:t>
            </a:r>
            <a:endParaRPr lang="en-IN" sz="9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435C43A-1166-2461-1F76-36AD08552040}"/>
              </a:ext>
            </a:extLst>
          </p:cNvPr>
          <p:cNvSpPr txBox="1"/>
          <p:nvPr/>
        </p:nvSpPr>
        <p:spPr>
          <a:xfrm>
            <a:off x="6121400" y="4406900"/>
            <a:ext cx="5791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000" b="1">
                <a:solidFill>
                  <a:srgbClr val="1F3864"/>
                </a:solidFill>
                <a:latin typeface="Arial" panose="020B0604020202020204" pitchFamily="34" charset="0"/>
              </a:rPr>
              <a:t>What the signed record for this test says</a:t>
            </a:r>
            <a:endParaRPr lang="en-IN" sz="10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79BF1304-6D3D-F222-08BD-87CDBE06A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5814895"/>
              </p:ext>
            </p:extLst>
          </p:nvPr>
        </p:nvGraphicFramePr>
        <p:xfrm>
          <a:off x="6121400" y="4610100"/>
          <a:ext cx="5791200" cy="1371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3209262922"/>
                    </a:ext>
                  </a:extLst>
                </a:gridCol>
                <a:gridCol w="4470400">
                  <a:extLst>
                    <a:ext uri="{9D8B030D-6E8A-4147-A177-3AD203B41FA5}">
                      <a16:colId xmlns:a16="http://schemas.microsoft.com/office/drawing/2014/main" val="50473119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Test</a:t>
                      </a: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NCB kit Test A, package P-1</a:t>
                      </a:r>
                      <a:endParaRPr lang="en-IN" sz="9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1027504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Result</a:t>
                      </a: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Positive</a:t>
                      </a: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983785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Colour fits</a:t>
                      </a: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codeine, heroin, morphine (the kit cannot tell these apart)</a:t>
                      </a:r>
                      <a:endParaRPr lang="en-IN" sz="9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712224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NDPS quantity</a:t>
                      </a: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cannot be decided in the field</a:t>
                      </a:r>
                      <a:endParaRPr lang="en-IN" sz="9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336680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Signed with</a:t>
                      </a: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time, GPS, officer, photo hash; linked to the previous record</a:t>
                      </a:r>
                      <a:endParaRPr lang="en-IN" sz="9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6668408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Panchnama code</a:t>
                      </a: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VRBUN-XZCSP-6TMM; the whole raid verifies offline</a:t>
                      </a:r>
                      <a:endParaRPr lang="en-IN" sz="9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9045596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F9E57F73-A033-2B9C-FFBA-4618B007ADDE}"/>
              </a:ext>
            </a:extLst>
          </p:cNvPr>
          <p:cNvSpPr txBox="1"/>
          <p:nvPr/>
        </p:nvSpPr>
        <p:spPr>
          <a:xfrm>
            <a:off x="6121400" y="6070600"/>
            <a:ext cx="5791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800">
                <a:solidFill>
                  <a:srgbClr val="595959"/>
                </a:solidFill>
                <a:latin typeface="Arial" panose="020B0604020202020204" pitchFamily="34" charset="0"/>
              </a:rPr>
              <a:t>Output of our Python prototype with test keys. The phone app is the next build.</a:t>
            </a:r>
            <a:endParaRPr lang="en-IN" sz="8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2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  <a:endParaRPr lang="en-US" sz="32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/>
              <a:t>Darth CodersUNI</a:t>
            </a:r>
            <a:endParaRPr lang="en-IN" sz="1100" b="1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C21165D-049A-3829-4E25-0F8A3DD3404F}"/>
              </a:ext>
            </a:extLst>
          </p:cNvPr>
          <p:cNvSpPr txBox="1"/>
          <p:nvPr/>
        </p:nvSpPr>
        <p:spPr>
          <a:xfrm>
            <a:off x="279400" y="1168400"/>
            <a:ext cx="734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50" b="1">
                <a:solidFill>
                  <a:srgbClr val="1F3864"/>
                </a:solidFill>
                <a:latin typeface="Arial" panose="020B0604020202020204" pitchFamily="34" charset="0"/>
              </a:rPr>
              <a:t>Process flow: one package, from seizure to court</a:t>
            </a:r>
            <a:endParaRPr lang="en-IN" sz="115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A1E0A77-233C-B6F6-23DE-2D201C043E8B}"/>
              </a:ext>
            </a:extLst>
          </p:cNvPr>
          <p:cNvCxnSpPr/>
          <p:nvPr/>
        </p:nvCxnSpPr>
        <p:spPr>
          <a:xfrm>
            <a:off x="279400" y="1384300"/>
            <a:ext cx="7340600" cy="0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E998407-3D63-B391-774E-8935A3F54457}"/>
              </a:ext>
            </a:extLst>
          </p:cNvPr>
          <p:cNvSpPr/>
          <p:nvPr/>
        </p:nvSpPr>
        <p:spPr>
          <a:xfrm>
            <a:off x="279400" y="1422400"/>
            <a:ext cx="7340600" cy="20574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5B23EB-6916-515A-6FA3-A11EFA728CA8}"/>
              </a:ext>
            </a:extLst>
          </p:cNvPr>
          <p:cNvSpPr txBox="1"/>
          <p:nvPr/>
        </p:nvSpPr>
        <p:spPr>
          <a:xfrm>
            <a:off x="381000" y="14732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750" b="1">
                <a:solidFill>
                  <a:srgbClr val="0070C0"/>
                </a:solidFill>
                <a:latin typeface="Arial" panose="020B0604020202020204" pitchFamily="34" charset="0"/>
              </a:rPr>
              <a:t>OFFICER'S PHONE · WORKS OFFLINE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24E7319-1B7A-0CE5-53F8-0F0CAAE8F8A1}"/>
              </a:ext>
            </a:extLst>
          </p:cNvPr>
          <p:cNvSpPr/>
          <p:nvPr/>
        </p:nvSpPr>
        <p:spPr>
          <a:xfrm>
            <a:off x="279400" y="3581400"/>
            <a:ext cx="3606800" cy="10414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FE9827-72A8-8D46-A431-E10E90DCAAB7}"/>
              </a:ext>
            </a:extLst>
          </p:cNvPr>
          <p:cNvSpPr txBox="1"/>
          <p:nvPr/>
        </p:nvSpPr>
        <p:spPr>
          <a:xfrm>
            <a:off x="381000" y="3632200"/>
            <a:ext cx="342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750" b="1">
                <a:solidFill>
                  <a:srgbClr val="0070C0"/>
                </a:solidFill>
                <a:latin typeface="Arial" panose="020B0604020202020204" pitchFamily="34" charset="0"/>
              </a:rPr>
              <a:t>ANYONE · OFFLINE VERIFIER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6B4AE06-E622-A563-C9F3-BC6C73DC33FA}"/>
              </a:ext>
            </a:extLst>
          </p:cNvPr>
          <p:cNvSpPr/>
          <p:nvPr/>
        </p:nvSpPr>
        <p:spPr>
          <a:xfrm>
            <a:off x="4013200" y="3581400"/>
            <a:ext cx="3606800" cy="10414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DE0345-318D-CC6F-8F17-35AA5579BE37}"/>
              </a:ext>
            </a:extLst>
          </p:cNvPr>
          <p:cNvSpPr txBox="1"/>
          <p:nvPr/>
        </p:nvSpPr>
        <p:spPr>
          <a:xfrm>
            <a:off x="4114800" y="3632200"/>
            <a:ext cx="342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750" b="1">
                <a:solidFill>
                  <a:srgbClr val="0070C0"/>
                </a:solidFill>
                <a:latin typeface="Arial" panose="020B0604020202020204" pitchFamily="34" charset="0"/>
              </a:rPr>
              <a:t>NCB SERVER (NIC / MeitY CLOUD) · WHEN ONLINE</a:t>
            </a:r>
            <a:endParaRPr lang="en-IN" sz="750" b="1">
              <a:solidFill>
                <a:srgbClr val="0070C0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0DE0D7C-DB94-44B7-2DC1-2F9A15021F9D}"/>
              </a:ext>
            </a:extLst>
          </p:cNvPr>
          <p:cNvSpPr/>
          <p:nvPr/>
        </p:nvSpPr>
        <p:spPr>
          <a:xfrm>
            <a:off x="381000" y="1676400"/>
            <a:ext cx="1320800" cy="584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25400" rIns="508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950" b="1">
                <a:solidFill>
                  <a:srgbClr val="0070C0"/>
                </a:solidFill>
                <a:latin typeface="Arial" panose="020B0604020202020204" pitchFamily="34" charset="0"/>
              </a:rPr>
              <a:t>1  </a:t>
            </a: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Pick the test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262626"/>
                </a:solidFill>
                <a:latin typeface="Arial" panose="020B0604020202020204" pitchFamily="34" charset="0"/>
              </a:rPr>
              <a:t>the kit's printed flow chart chooses Test A–E</a:t>
            </a:r>
            <a:endParaRPr lang="en-IN" sz="8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E62636D-E305-9277-52C6-1E2F8E23C05C}"/>
              </a:ext>
            </a:extLst>
          </p:cNvPr>
          <p:cNvSpPr/>
          <p:nvPr/>
        </p:nvSpPr>
        <p:spPr>
          <a:xfrm>
            <a:off x="1905000" y="1676400"/>
            <a:ext cx="1422400" cy="584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25400" rIns="508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950" b="1">
                <a:solidFill>
                  <a:srgbClr val="0070C0"/>
                </a:solidFill>
                <a:latin typeface="Arial" panose="020B0604020202020204" pitchFamily="34" charset="0"/>
              </a:rPr>
              <a:t>2  </a:t>
            </a: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Capture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262626"/>
                </a:solidFill>
                <a:latin typeface="Arial" panose="020B0604020202020204" pitchFamily="34" charset="0"/>
              </a:rPr>
              <a:t>one photo: colour card + sample well + blank well</a:t>
            </a:r>
            <a:endParaRPr lang="en-IN" sz="8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3A8AD9D-6A7E-F81D-DCF0-50E419CF1256}"/>
              </a:ext>
            </a:extLst>
          </p:cNvPr>
          <p:cNvSpPr/>
          <p:nvPr/>
        </p:nvSpPr>
        <p:spPr>
          <a:xfrm>
            <a:off x="3530600" y="1676400"/>
            <a:ext cx="1600200" cy="584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25400" rIns="508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950" b="1">
                <a:solidFill>
                  <a:srgbClr val="0070C0"/>
                </a:solidFill>
                <a:latin typeface="Arial" panose="020B0604020202020204" pitchFamily="34" charset="0"/>
              </a:rPr>
              <a:t>3  </a:t>
            </a: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Read the colour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262626"/>
                </a:solidFill>
                <a:latin typeface="Arial" panose="020B0604020202020204" pitchFamily="34" charset="0"/>
              </a:rPr>
              <a:t>correct the light, compare with the blank, match the kit's colour bands</a:t>
            </a:r>
            <a:endParaRPr lang="en-IN" sz="8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387111D-68A7-063D-09B4-1F0AB6919559}"/>
              </a:ext>
            </a:extLst>
          </p:cNvPr>
          <p:cNvCxnSpPr/>
          <p:nvPr/>
        </p:nvCxnSpPr>
        <p:spPr>
          <a:xfrm>
            <a:off x="1701800" y="1968500"/>
            <a:ext cx="2032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0A16958-7FC3-29F2-2D2C-0A1984EDDE31}"/>
              </a:ext>
            </a:extLst>
          </p:cNvPr>
          <p:cNvCxnSpPr/>
          <p:nvPr/>
        </p:nvCxnSpPr>
        <p:spPr>
          <a:xfrm>
            <a:off x="3327400" y="1968500"/>
            <a:ext cx="2032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CA1DBDE-8D27-9CCC-3C70-D64AF9ABE8CC}"/>
              </a:ext>
            </a:extLst>
          </p:cNvPr>
          <p:cNvCxnSpPr/>
          <p:nvPr/>
        </p:nvCxnSpPr>
        <p:spPr>
          <a:xfrm>
            <a:off x="5130800" y="1968500"/>
            <a:ext cx="1778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Diamond 20">
            <a:extLst>
              <a:ext uri="{FF2B5EF4-FFF2-40B4-BE49-F238E27FC236}">
                <a16:creationId xmlns:a16="http://schemas.microsoft.com/office/drawing/2014/main" id="{7D1105C5-9DF8-7302-4BE8-B59DA4C679F0}"/>
              </a:ext>
            </a:extLst>
          </p:cNvPr>
          <p:cNvSpPr/>
          <p:nvPr/>
        </p:nvSpPr>
        <p:spPr>
          <a:xfrm>
            <a:off x="5308600" y="1625600"/>
            <a:ext cx="990600" cy="6858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900" b="1">
                <a:solidFill>
                  <a:srgbClr val="1F3864"/>
                </a:solidFill>
                <a:latin typeface="Arial" panose="020B0604020202020204" pitchFamily="34" charset="0"/>
              </a:rPr>
              <a:t>Result?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30066BF-A2AA-5602-5278-99AB11632A91}"/>
              </a:ext>
            </a:extLst>
          </p:cNvPr>
          <p:cNvSpPr/>
          <p:nvPr/>
        </p:nvSpPr>
        <p:spPr>
          <a:xfrm>
            <a:off x="6477000" y="1498600"/>
            <a:ext cx="1092200" cy="33020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0" rIns="38100" bIns="0" rtlCol="0" anchor="ctr"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700" b="1">
                <a:solidFill>
                  <a:srgbClr val="C55A11"/>
                </a:solidFill>
                <a:latin typeface="Arial" panose="020B0604020202020204" pitchFamily="34" charset="0"/>
              </a:rPr>
              <a:t>POSITIVE: drug list + NDPS warning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C55A6D5-AD2E-6416-64EF-0C11E3258872}"/>
              </a:ext>
            </a:extLst>
          </p:cNvPr>
          <p:cNvCxnSpPr/>
          <p:nvPr/>
        </p:nvCxnSpPr>
        <p:spPr>
          <a:xfrm flipV="1">
            <a:off x="6299200" y="1663700"/>
            <a:ext cx="177800" cy="30480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C6C4D37-5B15-3176-DB40-45D61D8507E9}"/>
              </a:ext>
            </a:extLst>
          </p:cNvPr>
          <p:cNvSpPr/>
          <p:nvPr/>
        </p:nvSpPr>
        <p:spPr>
          <a:xfrm>
            <a:off x="6477000" y="1879600"/>
            <a:ext cx="1092200" cy="2032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9525">
            <a:solidFill>
              <a:srgbClr val="2E7D32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0" rIns="38100" bIns="0" rtlCol="0" anchor="ctr"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700" b="1">
                <a:solidFill>
                  <a:srgbClr val="2E7D32"/>
                </a:solidFill>
                <a:latin typeface="Arial" panose="020B0604020202020204" pitchFamily="34" charset="0"/>
              </a:rPr>
              <a:t>NO COLOUR CHANGE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A611BAA-CDCE-1166-F513-1D41B7AA0437}"/>
              </a:ext>
            </a:extLst>
          </p:cNvPr>
          <p:cNvCxnSpPr/>
          <p:nvPr/>
        </p:nvCxnSpPr>
        <p:spPr>
          <a:xfrm>
            <a:off x="6299200" y="1968500"/>
            <a:ext cx="177800" cy="1270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862ED61-7C6E-2811-EBA9-C148EF57C726}"/>
              </a:ext>
            </a:extLst>
          </p:cNvPr>
          <p:cNvSpPr/>
          <p:nvPr/>
        </p:nvSpPr>
        <p:spPr>
          <a:xfrm>
            <a:off x="6477000" y="2133600"/>
            <a:ext cx="1092200" cy="203200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 w="9525">
            <a:solidFill>
              <a:srgbClr val="7F7F7F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0" rIns="38100" bIns="0" rtlCol="0" anchor="ctr"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700" b="1">
                <a:solidFill>
                  <a:srgbClr val="7F7F7F"/>
                </a:solidFill>
                <a:latin typeface="Arial" panose="020B0604020202020204" pitchFamily="34" charset="0"/>
              </a:rPr>
              <a:t>INCONCLUSIVE: retake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93B5142-1692-04D8-13B9-AA161EFBE9D5}"/>
              </a:ext>
            </a:extLst>
          </p:cNvPr>
          <p:cNvCxnSpPr/>
          <p:nvPr/>
        </p:nvCxnSpPr>
        <p:spPr>
          <a:xfrm>
            <a:off x="6299200" y="1968500"/>
            <a:ext cx="177800" cy="26670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669C508-2CA9-5736-5DBA-9E5CC903F7FC}"/>
              </a:ext>
            </a:extLst>
          </p:cNvPr>
          <p:cNvCxnSpPr/>
          <p:nvPr/>
        </p:nvCxnSpPr>
        <p:spPr>
          <a:xfrm>
            <a:off x="5803900" y="2311400"/>
            <a:ext cx="0" cy="17780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540D784-7BBD-753E-5CD3-9641F27AE5A0}"/>
              </a:ext>
            </a:extLst>
          </p:cNvPr>
          <p:cNvCxnSpPr/>
          <p:nvPr/>
        </p:nvCxnSpPr>
        <p:spPr>
          <a:xfrm flipH="1">
            <a:off x="1041400" y="2489200"/>
            <a:ext cx="4762500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C4A85CC-0BFA-7AB0-6F09-EDE5AB9E318E}"/>
              </a:ext>
            </a:extLst>
          </p:cNvPr>
          <p:cNvCxnSpPr/>
          <p:nvPr/>
        </p:nvCxnSpPr>
        <p:spPr>
          <a:xfrm flipV="1">
            <a:off x="1041400" y="2273300"/>
            <a:ext cx="0" cy="21590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4DFB1287-DE9E-D6A4-F167-23F04A2E6CCF}"/>
              </a:ext>
            </a:extLst>
          </p:cNvPr>
          <p:cNvSpPr txBox="1"/>
          <p:nvPr/>
        </p:nvSpPr>
        <p:spPr>
          <a:xfrm>
            <a:off x="1219200" y="2514600"/>
            <a:ext cx="431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750" i="1">
                <a:solidFill>
                  <a:srgbClr val="595959"/>
                </a:solidFill>
                <a:latin typeface="Arial" panose="020B0604020202020204" pitchFamily="34" charset="0"/>
              </a:rPr>
              <a:t>no colour change or inconclusive: next test, as the kit's flow chart says</a:t>
            </a:r>
            <a:endParaRPr lang="en-IN" sz="750" i="1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A0F7771-608F-C547-5EF6-A87A38210A6C}"/>
              </a:ext>
            </a:extLst>
          </p:cNvPr>
          <p:cNvCxnSpPr/>
          <p:nvPr/>
        </p:nvCxnSpPr>
        <p:spPr>
          <a:xfrm>
            <a:off x="7023100" y="2336800"/>
            <a:ext cx="0" cy="38100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F2AAC8A-5207-99AA-06A3-A84084847CB0}"/>
              </a:ext>
            </a:extLst>
          </p:cNvPr>
          <p:cNvSpPr txBox="1"/>
          <p:nvPr/>
        </p:nvSpPr>
        <p:spPr>
          <a:xfrm>
            <a:off x="7073900" y="24384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700" i="1">
                <a:solidFill>
                  <a:srgbClr val="595959"/>
                </a:solidFill>
                <a:latin typeface="Arial" panose="020B0604020202020204" pitchFamily="34" charset="0"/>
              </a:rPr>
              <a:t>every result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F8203936-1FAA-E415-8103-BBD7B258198D}"/>
              </a:ext>
            </a:extLst>
          </p:cNvPr>
          <p:cNvSpPr/>
          <p:nvPr/>
        </p:nvSpPr>
        <p:spPr>
          <a:xfrm>
            <a:off x="5588000" y="2717800"/>
            <a:ext cx="1981200" cy="584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25400" rIns="508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950" b="1">
                <a:solidFill>
                  <a:srgbClr val="0070C0"/>
                </a:solidFill>
                <a:latin typeface="Arial" panose="020B0604020202020204" pitchFamily="34" charset="0"/>
              </a:rPr>
              <a:t>4  </a:t>
            </a: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Sign and chain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262626"/>
                </a:solidFill>
                <a:latin typeface="Arial" panose="020B0604020202020204" pitchFamily="34" charset="0"/>
              </a:rPr>
              <a:t>time, GNSS time, GPS, officer, image hash; signed, and linked to the last record</a:t>
            </a:r>
            <a:endParaRPr lang="en-IN" sz="8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38A402E-D3B1-9310-62C1-4ADA4BC8EDA9}"/>
              </a:ext>
            </a:extLst>
          </p:cNvPr>
          <p:cNvCxnSpPr/>
          <p:nvPr/>
        </p:nvCxnSpPr>
        <p:spPr>
          <a:xfrm flipH="1">
            <a:off x="5346700" y="3009900"/>
            <a:ext cx="2413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DEA15877-9782-E7A3-B122-7B58F7C5FADF}"/>
              </a:ext>
            </a:extLst>
          </p:cNvPr>
          <p:cNvSpPr/>
          <p:nvPr/>
        </p:nvSpPr>
        <p:spPr>
          <a:xfrm>
            <a:off x="2997200" y="2717800"/>
            <a:ext cx="2336800" cy="584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25400" rIns="508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950" b="1">
                <a:solidFill>
                  <a:srgbClr val="0070C0"/>
                </a:solidFill>
                <a:latin typeface="Arial" panose="020B0604020202020204" pitchFamily="34" charset="0"/>
              </a:rPr>
              <a:t>5  </a:t>
            </a: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Anchor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262626"/>
                </a:solidFill>
                <a:latin typeface="Arial" panose="020B0604020202020204" pitchFamily="34" charset="0"/>
              </a:rPr>
              <a:t>a 14-character code goes into the panchnama that the witnesses sign</a:t>
            </a:r>
            <a:endParaRPr lang="en-IN" sz="8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652963D-6BDE-EC4A-D9F0-20AE6361BAE2}"/>
              </a:ext>
            </a:extLst>
          </p:cNvPr>
          <p:cNvSpPr txBox="1"/>
          <p:nvPr/>
        </p:nvSpPr>
        <p:spPr>
          <a:xfrm>
            <a:off x="381000" y="2768600"/>
            <a:ext cx="248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800" i="1">
                <a:solidFill>
                  <a:srgbClr val="595959"/>
                </a:solidFill>
                <a:latin typeface="Arial" panose="020B0604020202020204" pitchFamily="34" charset="0"/>
              </a:rPr>
              <a:t>Every capture is recorded, retakes and negatives too, so a test cannot be quietly dropped or re-run.</a:t>
            </a:r>
            <a:endParaRPr lang="en-IN" sz="800" i="1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6B9C590-671F-8107-B039-8D1862CD0969}"/>
              </a:ext>
            </a:extLst>
          </p:cNvPr>
          <p:cNvCxnSpPr/>
          <p:nvPr/>
        </p:nvCxnSpPr>
        <p:spPr>
          <a:xfrm>
            <a:off x="3556000" y="3302000"/>
            <a:ext cx="0" cy="50800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FDBE9B0-59CC-0BF0-7CD5-2EB217DC76FD}"/>
              </a:ext>
            </a:extLst>
          </p:cNvPr>
          <p:cNvSpPr/>
          <p:nvPr/>
        </p:nvSpPr>
        <p:spPr>
          <a:xfrm>
            <a:off x="381000" y="3810000"/>
            <a:ext cx="3403600" cy="736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25400" rIns="508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Verify, any time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262626"/>
                </a:solidFill>
                <a:latin typeface="Arial" panose="020B0604020202020204" pitchFamily="34" charset="0"/>
              </a:rPr>
              <a:t>a court expert, the defence or the lab re-checks signatures, the chain and the panchnama code: VERIFIED or tampering found</a:t>
            </a:r>
            <a:endParaRPr lang="en-IN" sz="8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F824862-5C86-DDCB-987A-40383008AE7D}"/>
              </a:ext>
            </a:extLst>
          </p:cNvPr>
          <p:cNvCxnSpPr/>
          <p:nvPr/>
        </p:nvCxnSpPr>
        <p:spPr>
          <a:xfrm>
            <a:off x="6578600" y="3302000"/>
            <a:ext cx="0" cy="50800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CF7B09BB-66C4-5357-119B-7A1E90C13EB8}"/>
              </a:ext>
            </a:extLst>
          </p:cNvPr>
          <p:cNvSpPr/>
          <p:nvPr/>
        </p:nvSpPr>
        <p:spPr>
          <a:xfrm>
            <a:off x="4114800" y="3810000"/>
            <a:ext cx="3403600" cy="736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25400" rIns="508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Sync and search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262626"/>
                </a:solidFill>
                <a:latin typeface="Arial" panose="020B0604020202020204" pitchFamily="34" charset="0"/>
              </a:rPr>
              <a:t>each record checked on arrival (forks, replays, gaps); case search; our server is never trusted; lab-result link planned</a:t>
            </a:r>
            <a:endParaRPr lang="en-IN" sz="8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26F39B7-581A-9DEC-77E2-E246A0CA5334}"/>
              </a:ext>
            </a:extLst>
          </p:cNvPr>
          <p:cNvSpPr txBox="1"/>
          <p:nvPr/>
        </p:nvSpPr>
        <p:spPr>
          <a:xfrm>
            <a:off x="279400" y="4660900"/>
            <a:ext cx="734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800" i="1">
                <a:solidFill>
                  <a:srgbClr val="595959"/>
                </a:solidFill>
                <a:latin typeface="Arial" panose="020B0604020202020204" pitchFamily="34" charset="0"/>
              </a:rPr>
              <a:t>Every step above runs today in our Python prototype (colour on simulated photos). The Android app and hardware-backed keys are next.</a:t>
            </a:r>
            <a:endParaRPr lang="en-IN" sz="800" i="1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7E503BD-D08A-B70D-A998-F62757352F74}"/>
              </a:ext>
            </a:extLst>
          </p:cNvPr>
          <p:cNvSpPr txBox="1"/>
          <p:nvPr/>
        </p:nvSpPr>
        <p:spPr>
          <a:xfrm>
            <a:off x="279400" y="4876800"/>
            <a:ext cx="734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IN" sz="900" b="1">
                <a:solidFill>
                  <a:srgbClr val="1F3864"/>
                </a:solidFill>
                <a:latin typeface="Arial" panose="020B0604020202020204" pitchFamily="34" charset="0"/>
              </a:rPr>
              <a:t>Trust: </a:t>
            </a:r>
            <a:r>
              <a:rPr lang="en-US" sz="900">
                <a:solidFill>
                  <a:srgbClr val="262626"/>
                </a:solidFill>
                <a:latin typeface="Arial" panose="020B0604020202020204" pitchFamily="34" charset="0"/>
              </a:rPr>
              <a:t>NCB signs the supervisor list; a supervisor's key (a Class 3 DSC in production) binds officer + phone + key; the phone key is designed to live in StrongBox/TEE (prototype: test keys).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IN" sz="900" b="1">
                <a:solidFill>
                  <a:srgbClr val="1F3864"/>
                </a:solidFill>
                <a:latin typeface="Arial" panose="020B0604020202020204" pitchFamily="34" charset="0"/>
              </a:rPr>
              <a:t>Technologies to be used: </a:t>
            </a:r>
            <a:r>
              <a:rPr lang="en-IN" sz="900">
                <a:solidFill>
                  <a:srgbClr val="262626"/>
                </a:solidFill>
                <a:latin typeface="Arial" panose="020B0604020202020204" pitchFamily="34" charset="0"/>
              </a:rPr>
              <a:t>Kotlin · CameraX/Camera2 RAW · OpenCV · Android Keystore + attestation · SQLCipher · RFC 8785 JSON · ECDSA P-256 · Spring Boot · PostgreSQL · S3. Prototype today: Python, OpenCV, SQLite.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900" b="1">
                <a:solidFill>
                  <a:srgbClr val="1F3864"/>
                </a:solidFill>
                <a:latin typeface="Arial" panose="020B0604020202020204" pitchFamily="34" charset="0"/>
              </a:rPr>
              <a:t>Deliberately not used: </a:t>
            </a:r>
            <a:r>
              <a:rPr lang="en-US" sz="900">
                <a:solidFill>
                  <a:srgbClr val="262626"/>
                </a:solidFill>
                <a:latin typeface="Arial" panose="020B0604020202020204" pitchFamily="34" charset="0"/>
              </a:rPr>
              <a:t>blockchain, cloud AI, a neural-network "drug detector" (a colour test cannot identify a drug; the court must be able to re-run the reading).</a:t>
            </a:r>
            <a:endParaRPr lang="en-IN" sz="9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ECDF049-0F51-9957-3BD0-BF4C0239F60D}"/>
              </a:ext>
            </a:extLst>
          </p:cNvPr>
          <p:cNvSpPr txBox="1"/>
          <p:nvPr/>
        </p:nvSpPr>
        <p:spPr>
          <a:xfrm>
            <a:off x="7874000" y="1168400"/>
            <a:ext cx="4013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Working prototype output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04202FF-2DF2-F97E-69B3-AAB729DAAAC3}"/>
              </a:ext>
            </a:extLst>
          </p:cNvPr>
          <p:cNvCxnSpPr/>
          <p:nvPr/>
        </p:nvCxnSpPr>
        <p:spPr>
          <a:xfrm>
            <a:off x="7874000" y="1384300"/>
            <a:ext cx="4013200" cy="0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7810F1C2-C9A3-0FAE-D07C-66C5772EFF2C}"/>
              </a:ext>
            </a:extLst>
          </p:cNvPr>
          <p:cNvSpPr/>
          <p:nvPr/>
        </p:nvSpPr>
        <p:spPr>
          <a:xfrm>
            <a:off x="11277600" y="1206500"/>
            <a:ext cx="609600" cy="1397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SIMULATED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5AAB9FA2-2488-9EBB-12C0-D2F682A9D7B8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7874000" y="1524000"/>
            <a:ext cx="1270000" cy="939800"/>
          </a:xfrm>
          <a:prstGeom prst="rect">
            <a:avLst/>
          </a:prstGeom>
          <a:ln w="9525">
            <a:solidFill>
              <a:srgbClr val="B4C7E7"/>
            </a:solidFill>
          </a:ln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10837283-E69F-F194-DC8F-AB5DFE11142A}"/>
              </a:ext>
            </a:extLst>
          </p:cNvPr>
          <p:cNvSpPr txBox="1"/>
          <p:nvPr/>
        </p:nvSpPr>
        <p:spPr>
          <a:xfrm>
            <a:off x="7848600" y="2489200"/>
            <a:ext cx="1320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900" b="1">
                <a:solidFill>
                  <a:srgbClr val="C55A11"/>
                </a:solidFill>
                <a:latin typeface="Arial" panose="020B0604020202020204" pitchFamily="34" charset="0"/>
              </a:rPr>
              <a:t>POSITIVE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595959"/>
                </a:solidFill>
                <a:latin typeface="Arial" panose="020B0604020202020204" pitchFamily="34" charset="0"/>
              </a:rPr>
              <a:t>Test A: fits codeine, heroin, morphine</a:t>
            </a:r>
            <a:endParaRPr lang="en-IN" sz="8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94DE3266-3A2A-4D52-C0C3-0DF71D81E6FA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9245600" y="1524000"/>
            <a:ext cx="1270000" cy="939800"/>
          </a:xfrm>
          <a:prstGeom prst="rect">
            <a:avLst/>
          </a:prstGeom>
          <a:ln w="9525">
            <a:solidFill>
              <a:srgbClr val="B4C7E7"/>
            </a:solidFill>
          </a:ln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3B7ABEA9-608D-D8CA-C2CF-4764644C61D8}"/>
              </a:ext>
            </a:extLst>
          </p:cNvPr>
          <p:cNvSpPr txBox="1"/>
          <p:nvPr/>
        </p:nvSpPr>
        <p:spPr>
          <a:xfrm>
            <a:off x="9220200" y="2489200"/>
            <a:ext cx="1320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900" b="1">
                <a:solidFill>
                  <a:srgbClr val="2E7D32"/>
                </a:solidFill>
                <a:latin typeface="Arial" panose="020B0604020202020204" pitchFamily="34" charset="0"/>
              </a:rPr>
              <a:t>NEGATIVE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595959"/>
                </a:solidFill>
                <a:latin typeface="Arial" panose="020B0604020202020204" pitchFamily="34" charset="0"/>
              </a:rPr>
              <a:t>Test A: no colour change vs blank</a:t>
            </a:r>
            <a:endParaRPr lang="en-IN" sz="8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DA7BC271-8E16-81EE-D71C-CC20B180885C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0617200" y="1524000"/>
            <a:ext cx="1270000" cy="939800"/>
          </a:xfrm>
          <a:prstGeom prst="rect">
            <a:avLst/>
          </a:prstGeom>
          <a:ln w="9525">
            <a:solidFill>
              <a:srgbClr val="B4C7E7"/>
            </a:solidFill>
          </a:ln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08D2AA1C-153D-75E9-F6EC-B31E2E34489F}"/>
              </a:ext>
            </a:extLst>
          </p:cNvPr>
          <p:cNvSpPr txBox="1"/>
          <p:nvPr/>
        </p:nvSpPr>
        <p:spPr>
          <a:xfrm>
            <a:off x="10591800" y="2489200"/>
            <a:ext cx="1320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900" b="1">
                <a:solidFill>
                  <a:srgbClr val="7F7F7F"/>
                </a:solidFill>
                <a:latin typeface="Arial" panose="020B0604020202020204" pitchFamily="34" charset="0"/>
              </a:rPr>
              <a:t>INCONCLUSIVE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595959"/>
                </a:solidFill>
                <a:latin typeface="Arial" panose="020B0604020202020204" pitchFamily="34" charset="0"/>
              </a:rPr>
              <a:t>Test C: kit chart not printed</a:t>
            </a:r>
            <a:endParaRPr lang="en-IN" sz="8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950EE78-3F11-BA18-AEA9-DE205021F5A6}"/>
              </a:ext>
            </a:extLst>
          </p:cNvPr>
          <p:cNvSpPr txBox="1"/>
          <p:nvPr/>
        </p:nvSpPr>
        <p:spPr>
          <a:xfrm>
            <a:off x="7874000" y="2971800"/>
            <a:ext cx="4013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850" i="1">
                <a:solidFill>
                  <a:srgbClr val="595959"/>
                </a:solidFill>
                <a:latin typeface="Arial" panose="020B0604020202020204" pitchFamily="34" charset="0"/>
              </a:rPr>
              <a:t>Real reference code on camera-model photos: finds the card, corrects the light, reads the well against the blank, decides, then signs and chains the record; the raid verifies offline.</a:t>
            </a:r>
            <a:endParaRPr lang="en-IN" sz="850" i="1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38B6EC7-8C02-8821-D4E2-CB75E6EC7AE1}"/>
              </a:ext>
            </a:extLst>
          </p:cNvPr>
          <p:cNvSpPr txBox="1"/>
          <p:nvPr/>
        </p:nvSpPr>
        <p:spPr>
          <a:xfrm>
            <a:off x="7874000" y="3530600"/>
            <a:ext cx="4013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Implementation status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1F93CCF-289B-4DFA-213C-2EBADB72A975}"/>
              </a:ext>
            </a:extLst>
          </p:cNvPr>
          <p:cNvCxnSpPr/>
          <p:nvPr/>
        </p:nvCxnSpPr>
        <p:spPr>
          <a:xfrm>
            <a:off x="7874000" y="3746500"/>
            <a:ext cx="4013200" cy="0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C487C07C-F291-4419-D27D-CDD31E325E24}"/>
              </a:ext>
            </a:extLst>
          </p:cNvPr>
          <p:cNvSpPr/>
          <p:nvPr/>
        </p:nvSpPr>
        <p:spPr>
          <a:xfrm>
            <a:off x="7874000" y="3860800"/>
            <a:ext cx="787400" cy="1397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PROVEN IN CODE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8D81A20-A205-BBF0-93D6-27860FCDD2CB}"/>
              </a:ext>
            </a:extLst>
          </p:cNvPr>
          <p:cNvSpPr txBox="1"/>
          <p:nvPr/>
        </p:nvSpPr>
        <p:spPr>
          <a:xfrm>
            <a:off x="8737600" y="3835400"/>
            <a:ext cx="3149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Python reference prototype + one-command demo, 65 automated test cases: github.com/Harshith029/fieldtest-recorder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6CC86CAE-BB99-7AEE-08C9-447ADB7EAF53}"/>
              </a:ext>
            </a:extLst>
          </p:cNvPr>
          <p:cNvSpPr/>
          <p:nvPr/>
        </p:nvSpPr>
        <p:spPr>
          <a:xfrm>
            <a:off x="7874000" y="4368800"/>
            <a:ext cx="609600" cy="1397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SIMULATED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A9B0B6A-08A1-09A3-7B83-8D47C096DDB1}"/>
              </a:ext>
            </a:extLst>
          </p:cNvPr>
          <p:cNvSpPr txBox="1"/>
          <p:nvPr/>
        </p:nvSpPr>
        <p:spPr>
          <a:xfrm>
            <a:off x="8737600" y="4343400"/>
            <a:ext cx="3149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Colour, liveness, night-light and amount experiments on simulated photos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CB850804-573F-B93B-BADE-8CC6E20D8952}"/>
              </a:ext>
            </a:extLst>
          </p:cNvPr>
          <p:cNvSpPr/>
          <p:nvPr/>
        </p:nvSpPr>
        <p:spPr>
          <a:xfrm>
            <a:off x="7874000" y="4876800"/>
            <a:ext cx="355600" cy="139700"/>
          </a:xfrm>
          <a:prstGeom prst="roundRect">
            <a:avLst>
              <a:gd name="adj" fmla="val 50000"/>
            </a:avLst>
          </a:prstGeom>
          <a:solidFill>
            <a:srgbClr val="7F7F7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NEXT</a:t>
            </a:r>
          </a:p>
        </p:txBody>
      </p:sp>
      <p:sp>
        <p:nvSpPr>
          <p:cNvPr id="17408" name="TextBox 17407">
            <a:extLst>
              <a:ext uri="{FF2B5EF4-FFF2-40B4-BE49-F238E27FC236}">
                <a16:creationId xmlns:a16="http://schemas.microsoft.com/office/drawing/2014/main" id="{37E04F77-DD25-B043-514A-61522AA8D79E}"/>
              </a:ext>
            </a:extLst>
          </p:cNvPr>
          <p:cNvSpPr txBox="1"/>
          <p:nvPr/>
        </p:nvSpPr>
        <p:spPr>
          <a:xfrm>
            <a:off x="8737600" y="4851400"/>
            <a:ext cx="3149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Android app; printed-card and real-reaction validation with NCB/CFSL chemists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0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  <a:endParaRPr lang="en-US" sz="30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/>
              <a:t>Darth CodersUNI</a:t>
            </a:r>
            <a:endParaRPr lang="en-IN" sz="1100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2F66CC8-9F4E-D640-41F5-AE0EC174CE0C}"/>
              </a:ext>
            </a:extLst>
          </p:cNvPr>
          <p:cNvSpPr txBox="1"/>
          <p:nvPr/>
        </p:nvSpPr>
        <p:spPr>
          <a:xfrm>
            <a:off x="279400" y="1219200"/>
            <a:ext cx="5740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50" b="1">
                <a:solidFill>
                  <a:srgbClr val="1F3864"/>
                </a:solidFill>
                <a:latin typeface="Arial" panose="020B0604020202020204" pitchFamily="34" charset="0"/>
              </a:rPr>
              <a:t>Analysis of feasibility: what we have tested so far</a:t>
            </a:r>
            <a:endParaRPr lang="en-IN" sz="115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B9DFAA3-6F83-EC53-1631-5CE06B26764A}"/>
              </a:ext>
            </a:extLst>
          </p:cNvPr>
          <p:cNvCxnSpPr/>
          <p:nvPr/>
        </p:nvCxnSpPr>
        <p:spPr>
          <a:xfrm>
            <a:off x="279400" y="1435100"/>
            <a:ext cx="5740400" cy="0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2951A31-8190-6EF6-96B0-E5C7AA9013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7687321"/>
              </p:ext>
            </p:extLst>
          </p:nvPr>
        </p:nvGraphicFramePr>
        <p:xfrm>
          <a:off x="279400" y="1524000"/>
          <a:ext cx="5740400" cy="1371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2200">
                  <a:extLst>
                    <a:ext uri="{9D8B030D-6E8A-4147-A177-3AD203B41FA5}">
                      <a16:colId xmlns:a16="http://schemas.microsoft.com/office/drawing/2014/main" val="2317175087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1544715742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3964854561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What we tested</a:t>
                      </a:r>
                    </a:p>
                  </a:txBody>
                  <a:tcPr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Result</a:t>
                      </a:r>
                    </a:p>
                  </a:txBody>
                  <a:tcPr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How</a:t>
                      </a:r>
                    </a:p>
                  </a:txBody>
                  <a:tcPr marL="63500" marR="63500" marT="38100" marB="38100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2704382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18 ways of tampering with records: edit, delete, hide, forge as server admin</a:t>
                      </a:r>
                      <a:endParaRPr lang="en-IN" sz="9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all 18 detected</a:t>
                      </a: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real code</a:t>
                      </a: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7816580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15 sync failures: lost network, duplicate upload, phone restored from an old backup</a:t>
                      </a:r>
                      <a:endParaRPr lang="en-IN" sz="9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all 15 handled correctly</a:t>
                      </a: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real code</a:t>
                      </a: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1695560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Reading when the sample amount varies</a:t>
                      </a:r>
                      <a:endParaRPr lang="en-IN" sz="9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0% false positives (a simple rule gave up to 11.7%)</a:t>
                      </a:r>
                      <a:endParaRPr lang="en-IN" sz="9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simulated photos</a:t>
                      </a: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3555262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Sample spilled into the blank well</a:t>
                      </a:r>
                      <a:endParaRPr lang="en-IN" sz="9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reported as inconclusive, never as negative</a:t>
                      </a:r>
                      <a:endParaRPr lang="en-IN" sz="9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real code</a:t>
                      </a: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3037864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Real phones and real NCB reactions</a:t>
                      </a:r>
                      <a:endParaRPr lang="en-IN" sz="9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not tested yet</a:t>
                      </a: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next: 1,296 tests by NCB/CFSL chemists; target at most 1% false positives</a:t>
                      </a:r>
                      <a:endParaRPr lang="en-IN" sz="9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176964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17860A1-6766-5455-9704-E5685FACCFAD}"/>
              </a:ext>
            </a:extLst>
          </p:cNvPr>
          <p:cNvSpPr txBox="1"/>
          <p:nvPr/>
        </p:nvSpPr>
        <p:spPr>
          <a:xfrm>
            <a:off x="279400" y="4041140"/>
            <a:ext cx="5740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Why it is practical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458EA83-8780-1D57-7D18-471A5403AA89}"/>
              </a:ext>
            </a:extLst>
          </p:cNvPr>
          <p:cNvCxnSpPr/>
          <p:nvPr/>
        </p:nvCxnSpPr>
        <p:spPr>
          <a:xfrm>
            <a:off x="279400" y="4257040"/>
            <a:ext cx="5740400" cy="0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48597A2-7AE7-31F9-606E-08740EF14DA6}"/>
              </a:ext>
            </a:extLst>
          </p:cNvPr>
          <p:cNvSpPr txBox="1"/>
          <p:nvPr/>
        </p:nvSpPr>
        <p:spPr>
          <a:xfrm>
            <a:off x="279400" y="4320540"/>
            <a:ext cx="5740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27000" indent="-127000">
              <a:spcBef>
                <a:spcPts val="0"/>
              </a:spcBef>
              <a:spcAft>
                <a:spcPts val="4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NCB already supplies the kit free of cost and officers already carry phones. We add a printed card per kit and a few reagent drops for the blank.</a:t>
            </a:r>
          </a:p>
          <a:p>
            <a:pPr marL="127000" indent="-127000">
              <a:spcBef>
                <a:spcPts val="0"/>
              </a:spcBef>
              <a:spcAft>
                <a:spcPts val="4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Small infrastructure (estimate): one server pair and 1–3 TB of storage a year on NIC or MeitY-empanelled cloud.</a:t>
            </a:r>
          </a:p>
          <a:p>
            <a:pPr marL="127000" indent="-127000">
              <a:spcBef>
                <a:spcPts val="0"/>
              </a:spcBef>
              <a:spcAft>
                <a:spcPts val="4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NCB would hold the signing keys, the colour standard and the code. Open formats, no per-device licence fees.</a:t>
            </a:r>
          </a:p>
          <a:p>
            <a:pPr marL="127000" indent="-127000"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No real phone photo or real reaction has been tested yet. That is the next stage, and the table above says how each result was obtained.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7F531B-A942-2505-2703-533DA5983460}"/>
              </a:ext>
            </a:extLst>
          </p:cNvPr>
          <p:cNvSpPr txBox="1"/>
          <p:nvPr/>
        </p:nvSpPr>
        <p:spPr>
          <a:xfrm>
            <a:off x="6273800" y="1219200"/>
            <a:ext cx="5638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50" b="1">
                <a:solidFill>
                  <a:srgbClr val="1F3864"/>
                </a:solidFill>
                <a:latin typeface="Arial" panose="020B0604020202020204" pitchFamily="34" charset="0"/>
              </a:rPr>
              <a:t>Potential challenges and risks, and our strategies</a:t>
            </a:r>
            <a:endParaRPr lang="en-IN" sz="115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FB30E8C-3E14-4DE5-7D7E-BA83E6DEB662}"/>
              </a:ext>
            </a:extLst>
          </p:cNvPr>
          <p:cNvCxnSpPr/>
          <p:nvPr/>
        </p:nvCxnSpPr>
        <p:spPr>
          <a:xfrm>
            <a:off x="6273800" y="1435100"/>
            <a:ext cx="5638800" cy="0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389DBAC6-421F-F592-DE8C-ABC3553BB4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2934185"/>
              </p:ext>
            </p:extLst>
          </p:nvPr>
        </p:nvGraphicFramePr>
        <p:xfrm>
          <a:off x="6273800" y="1524000"/>
          <a:ext cx="5638800" cy="1371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340085969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1014246460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Challenge / risk</a:t>
                      </a:r>
                    </a:p>
                  </a:txBody>
                  <a:tcPr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Strategy</a:t>
                      </a:r>
                    </a:p>
                  </a:txBody>
                  <a:tcPr marL="63500" marR="63500" marT="38100" marB="38100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097980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Real reaction colours differ from the printed chart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Validation by NCB/CFSL chemists under their licences, at 3 sample amounts. We never handle narcotics.</a:t>
                      </a:r>
                      <a:endParaRPr lang="en-IN" sz="9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0093552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Phones and light vary; glare; night raids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Reference card, RAW capture and a bad-light check (in prototype). The app says "inconclusive" rather than guess. Flash / no-flash night mode is simulated, not yet integrated.</a:t>
                      </a:r>
                      <a:endParaRPr lang="en-IN" sz="9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789037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Staged or swapped sample</a:t>
                      </a: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Planned: capture from before the reagent drop, a liveness check (simulated so far), the package label in frame, a link to the s.105 video.</a:t>
                      </a:r>
                      <a:endParaRPr lang="en-IN" sz="9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1375269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Rooted phone, insider, deleted records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Supervisor-signed phone binding, panchnama code, server never trusted (in prototype). Hardware keys and attestation are designed; the checker is prototyped.</a:t>
                      </a:r>
                      <a:endParaRPr lang="en-IN" sz="9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5748790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Access to SIMS / e-Sakshya not confirmed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File exports first. The engine is designed as a module that e-Sakshya could embed.</a:t>
                      </a:r>
                      <a:endParaRPr lang="en-IN" sz="9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385410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BD0E02DB-CC5B-5CA3-EC4D-67111405972F}"/>
              </a:ext>
            </a:extLst>
          </p:cNvPr>
          <p:cNvSpPr txBox="1"/>
          <p:nvPr/>
        </p:nvSpPr>
        <p:spPr>
          <a:xfrm>
            <a:off x="6273800" y="4185920"/>
            <a:ext cx="5638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50" b="1">
                <a:solidFill>
                  <a:srgbClr val="1F3864"/>
                </a:solidFill>
                <a:latin typeface="Arial" panose="020B0604020202020204" pitchFamily="34" charset="0"/>
              </a:rPr>
              <a:t>Path to a working product</a:t>
            </a:r>
            <a:endParaRPr lang="en-IN" sz="115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EDE133D-CF66-8B78-C878-7D875C5A54CF}"/>
              </a:ext>
            </a:extLst>
          </p:cNvPr>
          <p:cNvCxnSpPr/>
          <p:nvPr/>
        </p:nvCxnSpPr>
        <p:spPr>
          <a:xfrm>
            <a:off x="6273800" y="4401820"/>
            <a:ext cx="5638800" cy="0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19CECDA-B475-407C-FAFB-6C66DD37AAF1}"/>
              </a:ext>
            </a:extLst>
          </p:cNvPr>
          <p:cNvSpPr/>
          <p:nvPr/>
        </p:nvSpPr>
        <p:spPr>
          <a:xfrm>
            <a:off x="6273800" y="4516120"/>
            <a:ext cx="1270000" cy="838200"/>
          </a:xfrm>
          <a:prstGeom prst="rect">
            <a:avLst/>
          </a:prstGeom>
          <a:solidFill>
            <a:srgbClr val="FFFFFF"/>
          </a:solidFill>
          <a:ln w="9525">
            <a:solidFill>
              <a:srgbClr val="1F3864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50800" rIns="63500" bIns="38100" rtlCol="0" anchor="t"/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lang="en-IN" sz="1000" b="1">
                <a:solidFill>
                  <a:srgbClr val="1F3864"/>
                </a:solidFill>
                <a:latin typeface="Arial" panose="020B0604020202020204" pitchFamily="34" charset="0"/>
              </a:rPr>
              <a:t>Done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262626"/>
                </a:solidFill>
                <a:latin typeface="Arial" panose="020B0604020202020204" pitchFamily="34" charset="0"/>
              </a:rPr>
              <a:t>Python prototype, one-command demo, 65 test cases</a:t>
            </a:r>
            <a:endParaRPr lang="en-IN" sz="9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1CC7C3F-AC09-E247-BFC0-47CF2570F0C9}"/>
              </a:ext>
            </a:extLst>
          </p:cNvPr>
          <p:cNvCxnSpPr/>
          <p:nvPr/>
        </p:nvCxnSpPr>
        <p:spPr>
          <a:xfrm>
            <a:off x="7543800" y="4935220"/>
            <a:ext cx="186309" cy="0"/>
          </a:xfrm>
          <a:prstGeom prst="line">
            <a:avLst/>
          </a:prstGeom>
          <a:ln w="19050">
            <a:solidFill>
              <a:srgbClr val="1F386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6ED6D96-4C77-8EFB-8AAE-79334DE3F11D}"/>
              </a:ext>
            </a:extLst>
          </p:cNvPr>
          <p:cNvSpPr/>
          <p:nvPr/>
        </p:nvSpPr>
        <p:spPr>
          <a:xfrm>
            <a:off x="7730109" y="4516120"/>
            <a:ext cx="1270000" cy="838200"/>
          </a:xfrm>
          <a:prstGeom prst="rect">
            <a:avLst/>
          </a:prstGeom>
          <a:solidFill>
            <a:srgbClr val="FFFFFF"/>
          </a:solidFill>
          <a:ln w="9525">
            <a:solidFill>
              <a:srgbClr val="1F3864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50800" rIns="63500" bIns="38100" rtlCol="0" anchor="t"/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lang="en-IN" sz="1000" b="1">
                <a:solidFill>
                  <a:srgbClr val="1F3864"/>
                </a:solidFill>
                <a:latin typeface="Arial" panose="020B0604020202020204" pitchFamily="34" charset="0"/>
              </a:rPr>
              <a:t>Next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262626"/>
                </a:solidFill>
                <a:latin typeface="Arial" panose="020B0604020202020204" pitchFamily="34" charset="0"/>
              </a:rPr>
              <a:t>Android app; photos of the printed card on real phones</a:t>
            </a:r>
            <a:endParaRPr lang="en-IN" sz="9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B031085-6B0E-1A49-FF5E-5C6034BF7750}"/>
              </a:ext>
            </a:extLst>
          </p:cNvPr>
          <p:cNvCxnSpPr/>
          <p:nvPr/>
        </p:nvCxnSpPr>
        <p:spPr>
          <a:xfrm>
            <a:off x="9000109" y="4935220"/>
            <a:ext cx="186309" cy="0"/>
          </a:xfrm>
          <a:prstGeom prst="line">
            <a:avLst/>
          </a:prstGeom>
          <a:ln w="19050">
            <a:solidFill>
              <a:srgbClr val="1F386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8F6F889-1EAA-1976-F72A-173350BA2DA4}"/>
              </a:ext>
            </a:extLst>
          </p:cNvPr>
          <p:cNvSpPr/>
          <p:nvPr/>
        </p:nvSpPr>
        <p:spPr>
          <a:xfrm>
            <a:off x="9186418" y="4516120"/>
            <a:ext cx="1270000" cy="838200"/>
          </a:xfrm>
          <a:prstGeom prst="rect">
            <a:avLst/>
          </a:prstGeom>
          <a:solidFill>
            <a:srgbClr val="FFFFFF"/>
          </a:solidFill>
          <a:ln w="9525">
            <a:solidFill>
              <a:srgbClr val="1F3864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50800" rIns="63500" bIns="38100" rtlCol="0" anchor="t"/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lang="en-IN" sz="1000" b="1">
                <a:solidFill>
                  <a:srgbClr val="1F3864"/>
                </a:solidFill>
                <a:latin typeface="Arial" panose="020B0604020202020204" pitchFamily="34" charset="0"/>
              </a:rPr>
              <a:t>Then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262626"/>
                </a:solidFill>
                <a:latin typeface="Arial" panose="020B0604020202020204" pitchFamily="34" charset="0"/>
              </a:rPr>
              <a:t>Validation by NCB/CFSL chemists: 1,296 tests</a:t>
            </a:r>
            <a:endParaRPr lang="en-IN" sz="9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2E87BCC-4DAF-183C-D9F0-0F1775777B3F}"/>
              </a:ext>
            </a:extLst>
          </p:cNvPr>
          <p:cNvCxnSpPr/>
          <p:nvPr/>
        </p:nvCxnSpPr>
        <p:spPr>
          <a:xfrm>
            <a:off x="10456418" y="4935220"/>
            <a:ext cx="186309" cy="0"/>
          </a:xfrm>
          <a:prstGeom prst="line">
            <a:avLst/>
          </a:prstGeom>
          <a:ln w="19050">
            <a:solidFill>
              <a:srgbClr val="1F386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0008624C-7507-191F-CC4C-EBCD39D9886E}"/>
              </a:ext>
            </a:extLst>
          </p:cNvPr>
          <p:cNvSpPr/>
          <p:nvPr/>
        </p:nvSpPr>
        <p:spPr>
          <a:xfrm>
            <a:off x="10642727" y="4516120"/>
            <a:ext cx="1270000" cy="838200"/>
          </a:xfrm>
          <a:prstGeom prst="rect">
            <a:avLst/>
          </a:prstGeom>
          <a:solidFill>
            <a:srgbClr val="FFFFFF"/>
          </a:solidFill>
          <a:ln w="9525">
            <a:solidFill>
              <a:srgbClr val="1F3864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50800" rIns="63500" bIns="38100" rtlCol="0" anchor="t"/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lang="en-IN" sz="1000" b="1">
                <a:solidFill>
                  <a:srgbClr val="1F3864"/>
                </a:solidFill>
                <a:latin typeface="Arial" panose="020B0604020202020204" pitchFamily="34" charset="0"/>
              </a:rPr>
              <a:t>After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262626"/>
                </a:solidFill>
                <a:latin typeface="Arial" panose="020B0604020202020204" pitchFamily="34" charset="0"/>
              </a:rPr>
              <a:t>Pilot in one NCB zone; lab results linked back</a:t>
            </a:r>
            <a:endParaRPr lang="en-IN" sz="9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0CB3363-B50F-CDD7-6929-EDE83A397D10}"/>
              </a:ext>
            </a:extLst>
          </p:cNvPr>
          <p:cNvSpPr/>
          <p:nvPr/>
        </p:nvSpPr>
        <p:spPr>
          <a:xfrm>
            <a:off x="279400" y="3649980"/>
            <a:ext cx="11633200" cy="47244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2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  <a:endParaRPr lang="en-US" sz="32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/>
              <a:t>Darth CodersUNI</a:t>
            </a:r>
            <a:endParaRPr lang="en-IN" sz="1100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063792C-97DF-1329-3773-6FB053162617}"/>
              </a:ext>
            </a:extLst>
          </p:cNvPr>
          <p:cNvSpPr txBox="1"/>
          <p:nvPr/>
        </p:nvSpPr>
        <p:spPr>
          <a:xfrm>
            <a:off x="279400" y="1219200"/>
            <a:ext cx="5740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50" b="1">
                <a:solidFill>
                  <a:srgbClr val="1F3864"/>
                </a:solidFill>
                <a:latin typeface="Arial" panose="020B0604020202020204" pitchFamily="34" charset="0"/>
              </a:rPr>
              <a:t>Potential impact on the target audience</a:t>
            </a:r>
            <a:endParaRPr lang="en-IN" sz="115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1D62625-78D7-037C-9824-6A77326F5143}"/>
              </a:ext>
            </a:extLst>
          </p:cNvPr>
          <p:cNvCxnSpPr/>
          <p:nvPr/>
        </p:nvCxnSpPr>
        <p:spPr>
          <a:xfrm>
            <a:off x="279400" y="1435100"/>
            <a:ext cx="5740400" cy="0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C551183-D5BD-2875-FE48-9DA2CDE85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0079945"/>
              </p:ext>
            </p:extLst>
          </p:nvPr>
        </p:nvGraphicFramePr>
        <p:xfrm>
          <a:off x="279400" y="1524000"/>
          <a:ext cx="5740400" cy="1143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3674681383"/>
                    </a:ext>
                  </a:extLst>
                </a:gridCol>
                <a:gridCol w="4089400">
                  <a:extLst>
                    <a:ext uri="{9D8B030D-6E8A-4147-A177-3AD203B41FA5}">
                      <a16:colId xmlns:a16="http://schemas.microsoft.com/office/drawing/2014/main" val="3157027742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10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Who</a:t>
                      </a:r>
                    </a:p>
                  </a:txBody>
                  <a:tcPr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10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What changes for them</a:t>
                      </a:r>
                    </a:p>
                  </a:txBody>
                  <a:tcPr marL="63500" marR="63500" marT="38100" marB="38100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7712353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10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Seizing officer</a:t>
                      </a: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A guided test and a signed record showing the test was done properly. Planned: Field Test Memo and Form-1 item 5 filled in.</a:t>
                      </a:r>
                      <a:endParaRPr lang="en-IN" sz="10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4648103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10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Investigating officer, prosecutor</a:t>
                      </a: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Records that can be checked, for remand and bail. Planned: a Rule 10(2) grouping check and the lab result linked back.</a:t>
                      </a:r>
                      <a:endParaRPr lang="en-IN" sz="10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480173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10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Courts, defence, the accused</a:t>
                      </a: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Any expert can re-check the record offline. The quantity category is marked uncertain until the lab confirms.</a:t>
                      </a:r>
                      <a:endParaRPr lang="en-IN" sz="10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542023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10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NCB headquarters and labs</a:t>
                      </a: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Planned: field result against lab result for every kit batch and test.</a:t>
                      </a:r>
                      <a:endParaRPr lang="en-IN" sz="10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00698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1087595-BABA-FABD-FEDF-6286B4405521}"/>
              </a:ext>
            </a:extLst>
          </p:cNvPr>
          <p:cNvSpPr txBox="1"/>
          <p:nvPr/>
        </p:nvSpPr>
        <p:spPr>
          <a:xfrm>
            <a:off x="6273800" y="1219200"/>
            <a:ext cx="5638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50" b="1">
                <a:solidFill>
                  <a:srgbClr val="1F3864"/>
                </a:solidFill>
                <a:latin typeface="Arial" panose="020B0604020202020204" pitchFamily="34" charset="0"/>
              </a:rPr>
              <a:t>What changes for one seizure</a:t>
            </a:r>
            <a:endParaRPr lang="en-IN" sz="115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84D333D-0A19-9517-CA25-5D06DAAAB557}"/>
              </a:ext>
            </a:extLst>
          </p:cNvPr>
          <p:cNvCxnSpPr/>
          <p:nvPr/>
        </p:nvCxnSpPr>
        <p:spPr>
          <a:xfrm>
            <a:off x="6273800" y="1435100"/>
            <a:ext cx="5638800" cy="0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7F3CB35-208C-2228-4A0C-149DFE298F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6911700"/>
              </p:ext>
            </p:extLst>
          </p:nvPr>
        </p:nvGraphicFramePr>
        <p:xfrm>
          <a:off x="6273800" y="1524000"/>
          <a:ext cx="5638800" cy="1600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954781319"/>
                    </a:ext>
                  </a:extLst>
                </a:gridCol>
                <a:gridCol w="3225800">
                  <a:extLst>
                    <a:ext uri="{9D8B030D-6E8A-4147-A177-3AD203B41FA5}">
                      <a16:colId xmlns:a16="http://schemas.microsoft.com/office/drawing/2014/main" val="1082501535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10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Today (paper)</a:t>
                      </a:r>
                    </a:p>
                  </a:txBody>
                  <a:tcPr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10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With FieldTest Recorder</a:t>
                      </a:r>
                    </a:p>
                  </a:txBody>
                  <a:tcPr marL="63500" marR="63500" marT="38100" marB="38100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7020092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10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Colour judged by eye</a:t>
                      </a: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Measured against a signed colour standard</a:t>
                      </a:r>
                      <a:endParaRPr lang="en-IN" sz="10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116045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"Dark brown" written in the panchnama</a:t>
                      </a:r>
                      <a:endParaRPr lang="en-IN" sz="10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Photo, reading and every drug on the kit chart the colour fits</a:t>
                      </a:r>
                      <a:endParaRPr lang="en-IN" sz="10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2279610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No proof of time or place</a:t>
                      </a:r>
                      <a:endParaRPr lang="en-IN" sz="10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Signed time, GNSS time, GPS and officer</a:t>
                      </a:r>
                      <a:endParaRPr lang="en-IN" sz="10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1434180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Records can be rewritten later</a:t>
                      </a:r>
                      <a:endParaRPr lang="en-IN" sz="10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Deletions and re-runs are detectable</a:t>
                      </a:r>
                      <a:endParaRPr lang="en-IN" sz="10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750317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10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Quantity category guessed</a:t>
                      </a: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Flagged when it cannot be told in the field</a:t>
                      </a:r>
                      <a:endParaRPr lang="en-IN" sz="10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8095064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10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No kit accuracy data</a:t>
                      </a: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Field result against lab result, per kit batch (planned)</a:t>
                      </a:r>
                      <a:endParaRPr lang="en-IN" sz="10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7896423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48B11A41-DF8A-17A6-2C61-39945DCA4424}"/>
              </a:ext>
            </a:extLst>
          </p:cNvPr>
          <p:cNvSpPr txBox="1"/>
          <p:nvPr/>
        </p:nvSpPr>
        <p:spPr>
          <a:xfrm>
            <a:off x="381000" y="3726180"/>
            <a:ext cx="1143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050" b="1">
                <a:solidFill>
                  <a:srgbClr val="1F3864"/>
                </a:solidFill>
                <a:latin typeface="Arial" panose="020B0604020202020204" pitchFamily="34" charset="0"/>
              </a:rPr>
              <a:t>A real case: Anuraj v. State of Kerala (2024).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Police alleged commercial-quantity MDMA; the lab found methamphetamine in intermediate quantity (MDMA 0.5 g / 10 g against methamphetamine 2 g / 50 g). A field report must not overstate: ours lists every drug on the kit chart that the colour fits and warns when they fall under different NDPS thresholds.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0F9850-6C89-2B00-5673-78A517660890}"/>
              </a:ext>
            </a:extLst>
          </p:cNvPr>
          <p:cNvSpPr txBox="1"/>
          <p:nvPr/>
        </p:nvSpPr>
        <p:spPr>
          <a:xfrm>
            <a:off x="279400" y="4300220"/>
            <a:ext cx="11633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Benefits of the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346E71F-7DE8-A7AC-E9A3-B7FAED152C93}"/>
              </a:ext>
            </a:extLst>
          </p:cNvPr>
          <p:cNvCxnSpPr/>
          <p:nvPr/>
        </p:nvCxnSpPr>
        <p:spPr>
          <a:xfrm>
            <a:off x="279400" y="4516120"/>
            <a:ext cx="11633200" cy="0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6C3124A6-1190-8FC9-171B-AE09A5D2B0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9993487"/>
              </p:ext>
            </p:extLst>
          </p:nvPr>
        </p:nvGraphicFramePr>
        <p:xfrm>
          <a:off x="279400" y="4605020"/>
          <a:ext cx="1163320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08300">
                  <a:extLst>
                    <a:ext uri="{9D8B030D-6E8A-4147-A177-3AD203B41FA5}">
                      <a16:colId xmlns:a16="http://schemas.microsoft.com/office/drawing/2014/main" val="772539401"/>
                    </a:ext>
                  </a:extLst>
                </a:gridCol>
                <a:gridCol w="2908300">
                  <a:extLst>
                    <a:ext uri="{9D8B030D-6E8A-4147-A177-3AD203B41FA5}">
                      <a16:colId xmlns:a16="http://schemas.microsoft.com/office/drawing/2014/main" val="1327539238"/>
                    </a:ext>
                  </a:extLst>
                </a:gridCol>
                <a:gridCol w="2908300">
                  <a:extLst>
                    <a:ext uri="{9D8B030D-6E8A-4147-A177-3AD203B41FA5}">
                      <a16:colId xmlns:a16="http://schemas.microsoft.com/office/drawing/2014/main" val="3586890409"/>
                    </a:ext>
                  </a:extLst>
                </a:gridCol>
                <a:gridCol w="2908300">
                  <a:extLst>
                    <a:ext uri="{9D8B030D-6E8A-4147-A177-3AD203B41FA5}">
                      <a16:colId xmlns:a16="http://schemas.microsoft.com/office/drawing/2014/main" val="3991412520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10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Social</a:t>
                      </a:r>
                    </a:p>
                  </a:txBody>
                  <a:tcPr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10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Economic</a:t>
                      </a:r>
                    </a:p>
                  </a:txBody>
                  <a:tcPr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10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Environmental</a:t>
                      </a:r>
                    </a:p>
                  </a:txBody>
                  <a:tcPr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10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Scale</a:t>
                      </a:r>
                    </a:p>
                  </a:txBody>
                  <a:tcPr marL="63500" marR="63500" marT="38100" marB="38100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1136995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Fairer remand and bail decisions. Fewer cases lost on procedure. Honest officers protected.</a:t>
                      </a:r>
                      <a:endParaRPr lang="en-IN" sz="10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No new hardware. Reuses the free NCB kit and officers' phones. Small hosting cost.</a:t>
                      </a:r>
                      <a:endParaRPr lang="en-IN" sz="10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Paperless records. The only extra consumables are a printed card per kit and a few reagent drops.</a:t>
                      </a:r>
                      <a:endParaRPr lang="en-IN" sz="10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5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1,15,236 NDPS cases in 2022 (MHA). Each seized package can get a recorded field test.</a:t>
                      </a:r>
                      <a:endParaRPr lang="en-IN" sz="105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53595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0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  <a:endParaRPr lang="en-US" sz="30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/>
              <a:t>Darth CodersUNI</a:t>
            </a:r>
            <a:endParaRPr lang="en-IN" sz="1100" b="1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68CE41D-E921-5D43-49FE-DF8C761DA6A0}"/>
              </a:ext>
            </a:extLst>
          </p:cNvPr>
          <p:cNvSpPr txBox="1"/>
          <p:nvPr/>
        </p:nvSpPr>
        <p:spPr>
          <a:xfrm>
            <a:off x="279400" y="1270000"/>
            <a:ext cx="5664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[1]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SIH26231 problem statement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Narcotics Control Bureau, MHA; sih.gov.in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[2]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NCB Narcotic Drugs Detection Kit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NICFS, A Forensic Guide for Crime Investigators, ch. 8, Figs 8.12–8.16 (Tests A–E, flow charts)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[3]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NDPS (Seizure, Storage, Sampling and Disposal) Rules 2022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GSR 899(E): Rules 3, 5, 10(2), 13, 14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[4]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Sagar Parshuram Joshi v. State of Maharashtra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Bombay HC, 15 Jan 2021 (indiankanoon.org/doc/90970274)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[5]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Masibur Khan v. State</a:t>
            </a:r>
            <a:r>
              <a:rPr lang="en-IN" sz="1050">
                <a:solidFill>
                  <a:srgbClr val="595959"/>
                </a:solidFill>
                <a:latin typeface="Arial" panose="020B0604020202020204" pitchFamily="34" charset="0"/>
              </a:rPr>
              <a:t> — Delhi HC, 31 May 2023 (indiankanoon.org/doc/91398841)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[6]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Anuraj v. State of Kerala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Kerala HC, 2024: alleged MDMA found to be methamphetamine</a:t>
            </a:r>
            <a:endParaRPr lang="en-IN" sz="105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F7465B-49BC-7D2C-EC14-9F2B41D4C0E1}"/>
              </a:ext>
            </a:extLst>
          </p:cNvPr>
          <p:cNvSpPr txBox="1"/>
          <p:nvPr/>
        </p:nvSpPr>
        <p:spPr>
          <a:xfrm>
            <a:off x="6121400" y="1270000"/>
            <a:ext cx="5664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[7]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NDPS small and commercial quantities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S.O. 1055(E), 19 Oct 2001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[8]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NCB Drug Law Enforcement Field Officers' Handbook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narcoticsindia.nic.in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[9]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BPR&amp;D SOP: audio-video recording under BNSS; BSA 2023 s.63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hash value in the electronic-record certificate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[10]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NIJ Standard-0604.01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Color Test Reagents/Kits for Preliminary Identification of Drugs of Abuse (US DoJ)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[11]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Android key attestation; RFC 8785 (JSON canonicalisation)</a:t>
            </a:r>
            <a:r>
              <a:rPr lang="en-IN" sz="1050">
                <a:solidFill>
                  <a:srgbClr val="595959"/>
                </a:solidFill>
                <a:latin typeface="Arial" panose="020B0604020202020204" pitchFamily="34" charset="0"/>
              </a:rPr>
              <a:t> — developer.android.com; rfc-editor.org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[12]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MHA Rajya Sabha USQ 1832 (11 Dec 2024)</a:t>
            </a:r>
            <a:r>
              <a:rPr lang="en-IN" sz="1050">
                <a:solidFill>
                  <a:srgbClr val="595959"/>
                </a:solidFill>
                <a:latin typeface="Arial" panose="020B0604020202020204" pitchFamily="34" charset="0"/>
              </a:rPr>
              <a:t> — NDPS case statistics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D78FBE2-3685-B03C-DFE0-C858EC29ECD9}"/>
              </a:ext>
            </a:extLst>
          </p:cNvPr>
          <p:cNvSpPr/>
          <p:nvPr/>
        </p:nvSpPr>
        <p:spPr>
          <a:xfrm>
            <a:off x="279400" y="4089400"/>
            <a:ext cx="11633200" cy="2108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9D985F-CD45-F681-8ECC-09EDCDB9D2A6}"/>
              </a:ext>
            </a:extLst>
          </p:cNvPr>
          <p:cNvSpPr txBox="1"/>
          <p:nvPr/>
        </p:nvSpPr>
        <p:spPr>
          <a:xfrm>
            <a:off x="431800" y="4216400"/>
            <a:ext cx="11328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OUR CODE AND RESEARCH: </a:t>
            </a:r>
            <a:r>
              <a:rPr lang="en-IN" sz="1200" b="1">
                <a:solidFill>
                  <a:srgbClr val="0070C0"/>
                </a:solidFill>
                <a:latin typeface="Arial" panose="020B0604020202020204" pitchFamily="34" charset="0"/>
                <a:hlinkClick r:id="rId4"/>
              </a:rPr>
              <a:t>github.com/Harshith029/fieldtest-recorder</a:t>
            </a:r>
            <a:endParaRPr lang="en-IN" sz="1200" b="1">
              <a:solidFill>
                <a:srgbClr val="0070C0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E9C696-1DCB-36F5-BE88-02739C5D7CE8}"/>
              </a:ext>
            </a:extLst>
          </p:cNvPr>
          <p:cNvSpPr txBox="1"/>
          <p:nvPr/>
        </p:nvSpPr>
        <p:spPr>
          <a:xfrm>
            <a:off x="431800" y="4495800"/>
            <a:ext cx="11328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27000" indent="-127000">
              <a:spcBef>
                <a:spcPts val="0"/>
              </a:spcBef>
              <a:spcAft>
                <a:spcPts val="7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Working Python reference prototype with a one-command demo and 65 automated test cases: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record format and offline verifier, colour engine, NCB kit protocol, searchable log, sync protocol. Photos in the demo are simulated; the Android app must match its outputs.</a:t>
            </a:r>
          </a:p>
          <a:p>
            <a:pPr marL="127000" indent="-127000">
              <a:spcBef>
                <a:spcPts val="0"/>
              </a:spcBef>
              <a:spcAft>
                <a:spcPts val="7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17 experiments with 95% confidence intervals,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including 18 tampering attacks and 15 failure scenarios (real code) and colour, sample-amount, night-light and staged-sample tests (simulated photos).</a:t>
            </a:r>
          </a:p>
          <a:p>
            <a:pPr marL="127000" indent="-127000">
              <a:spcBef>
                <a:spcPts val="0"/>
              </a:spcBef>
              <a:spcAft>
                <a:spcPts val="7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Reviewed adversarially, claim by claim: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confirmed defects are either fixed and re-tested or listed openly in the repository's problem register.</a:t>
            </a:r>
          </a:p>
          <a:p>
            <a:pPr marL="127000" indent="-127000"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Safety and law: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our team never handles narcotics; colour tests use published colours, the kit chart and safe dyes. Real-kit validation is designed for NCB or CFSL chemists.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2194</Words>
  <Application>Microsoft Office PowerPoint</Application>
  <PresentationFormat>Widescreen</PresentationFormat>
  <Paragraphs>213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FieldTest Recorder</vt:lpstr>
      <vt:lpstr>TECHNICAL APPROACH</vt:lpstr>
      <vt:lpstr>FEASIBILITY AND VIABILITY</vt:lpstr>
      <vt:lpstr>IMPACT AND BENEFITS</vt:lpstr>
      <vt:lpstr>RESEARCH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Harshith Pali</cp:lastModifiedBy>
  <cp:revision>149</cp:revision>
  <dcterms:created xsi:type="dcterms:W3CDTF">2013-12-12T18:46:50Z</dcterms:created>
  <dcterms:modified xsi:type="dcterms:W3CDTF">2026-09-30T11:14:09Z</dcterms:modified>
  <cp:category/>
</cp:coreProperties>
</file>