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Harshith029/fieldtest-recorde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FieldTest Recorder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588000" cy="3118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SIH26231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Digital Companion for Field Drug Testing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Theme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MedTech / BioTech / HealthTech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PS Category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Team ID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152041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Team Name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Darth CodersUNI</a:t>
            </a:r>
            <a:endParaRPr lang="en-IN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4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FieldTest Recorder</a:t>
            </a:r>
            <a:endParaRPr lang="en-US" sz="34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/>
              <a:t>Darth CodersUNI</a:t>
            </a:r>
            <a:endParaRPr lang="en-IN" sz="11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072C7FF-6A11-7FEF-5501-A535B3A31335}"/>
              </a:ext>
            </a:extLst>
          </p:cNvPr>
          <p:cNvSpPr txBox="1"/>
          <p:nvPr/>
        </p:nvSpPr>
        <p:spPr>
          <a:xfrm>
            <a:off x="1778000" y="812800"/>
            <a:ext cx="7937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0" i="1">
                <a:solidFill>
                  <a:srgbClr val="1F3864"/>
                </a:solidFill>
                <a:latin typeface="Arial" panose="020B0604020202020204" pitchFamily="34" charset="0"/>
              </a:rPr>
              <a:t>A guided, measured and signed field test for NCB's Narcotic Drugs Detection Kit</a:t>
            </a:r>
            <a:endParaRPr lang="en-IN" sz="1300" i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3B12A-5ED8-F823-5691-C6CB0DB212B3}"/>
              </a:ext>
            </a:extLst>
          </p:cNvPr>
          <p:cNvSpPr txBox="1"/>
          <p:nvPr/>
        </p:nvSpPr>
        <p:spPr>
          <a:xfrm>
            <a:off x="279400" y="1193800"/>
            <a:ext cx="342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THE PROBLEM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61E27E-A1CF-0344-B5F1-2A8EAD7F5A62}"/>
              </a:ext>
            </a:extLst>
          </p:cNvPr>
          <p:cNvSpPr txBox="1"/>
          <p:nvPr/>
        </p:nvSpPr>
        <p:spPr>
          <a:xfrm>
            <a:off x="3962400" y="1193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HOW THE SOLUTION ADDRESSES IT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3EAB93-E981-CE8B-CF9F-7810332D2478}"/>
              </a:ext>
            </a:extLst>
          </p:cNvPr>
          <p:cNvSpPr txBox="1"/>
          <p:nvPr/>
        </p:nvSpPr>
        <p:spPr>
          <a:xfrm>
            <a:off x="8280400" y="1193800"/>
            <a:ext cx="3632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INNOVATION AND UNIQUENESS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469BCD1-09BE-0BCA-CCB7-BDA464D0C1BF}"/>
              </a:ext>
            </a:extLst>
          </p:cNvPr>
          <p:cNvSpPr/>
          <p:nvPr/>
        </p:nvSpPr>
        <p:spPr>
          <a:xfrm>
            <a:off x="279400" y="1422400"/>
            <a:ext cx="3429000" cy="55880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tIns="25400" rIns="762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000" b="1">
                <a:solidFill>
                  <a:srgbClr val="C55A11"/>
                </a:solidFill>
                <a:latin typeface="Arial" panose="020B0604020202020204" pitchFamily="34" charset="0"/>
              </a:rPr>
              <a:t>Read by eye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50">
                <a:solidFill>
                  <a:srgbClr val="262626"/>
                </a:solidFill>
                <a:latin typeface="Arial" panose="020B0604020202020204" pitchFamily="34" charset="0"/>
              </a:rPr>
              <a:t>the kit's colour is matched against a printed chart, in any light</a:t>
            </a:r>
            <a:endParaRPr lang="en-IN" sz="8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DF0E06-0A9A-69D7-05EC-6F565765FF50}"/>
              </a:ext>
            </a:extLst>
          </p:cNvPr>
          <p:cNvSpPr/>
          <p:nvPr/>
        </p:nvSpPr>
        <p:spPr>
          <a:xfrm>
            <a:off x="3962400" y="1422400"/>
            <a:ext cx="4064000" cy="55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tIns="25400" rIns="762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000" b="1">
                <a:solidFill>
                  <a:srgbClr val="1F3864"/>
                </a:solidFill>
                <a:latin typeface="Arial" panose="020B0604020202020204" pitchFamily="34" charset="0"/>
              </a:rPr>
              <a:t>Measured, not judged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50">
                <a:solidFill>
                  <a:srgbClr val="262626"/>
                </a:solidFill>
                <a:latin typeface="Arial" panose="020B0604020202020204" pitchFamily="34" charset="0"/>
              </a:rPr>
              <a:t>photo on a reference colour card beside a reagent-only blank well, read against the kit's own colour ranges</a:t>
            </a:r>
            <a:endParaRPr lang="en-IN" sz="8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F956EC0-4A96-DE73-7277-98A23B0E7001}"/>
              </a:ext>
            </a:extLst>
          </p:cNvPr>
          <p:cNvSpPr/>
          <p:nvPr/>
        </p:nvSpPr>
        <p:spPr>
          <a:xfrm>
            <a:off x="8280400" y="1422400"/>
            <a:ext cx="3632200" cy="5588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tIns="25400" rIns="762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US" sz="1000" b="1">
                <a:solidFill>
                  <a:srgbClr val="1F3864"/>
                </a:solidFill>
                <a:latin typeface="Arial" panose="020B0604020202020204" pitchFamily="34" charset="0"/>
              </a:rPr>
              <a:t>Holds up when sample amount varies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50">
                <a:solidFill>
                  <a:srgbClr val="262626"/>
                </a:solidFill>
                <a:latin typeface="Arial" panose="020B0604020202020204" pitchFamily="34" charset="0"/>
              </a:rPr>
              <a:t>colour bands + blank well: 0% false positives where a single-point rule gave 11.7%</a:t>
            </a:r>
            <a:endParaRPr lang="en-IN" sz="8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08B9CE7-2016-E489-29FF-5ADB6BAC1427}"/>
              </a:ext>
            </a:extLst>
          </p:cNvPr>
          <p:cNvCxnSpPr/>
          <p:nvPr/>
        </p:nvCxnSpPr>
        <p:spPr>
          <a:xfrm>
            <a:off x="3708400" y="1701800"/>
            <a:ext cx="2540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5F2D3A6-6B24-6479-9D25-1745F908FAEE}"/>
              </a:ext>
            </a:extLst>
          </p:cNvPr>
          <p:cNvCxnSpPr/>
          <p:nvPr/>
        </p:nvCxnSpPr>
        <p:spPr>
          <a:xfrm>
            <a:off x="8026400" y="1701800"/>
            <a:ext cx="2540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89144BE-1F21-AB7E-A3EA-B4103FF03ED1}"/>
              </a:ext>
            </a:extLst>
          </p:cNvPr>
          <p:cNvSpPr/>
          <p:nvPr/>
        </p:nvSpPr>
        <p:spPr>
          <a:xfrm>
            <a:off x="11252200" y="14605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B9F5CE8-B19A-9AE3-F68C-9416C40083EB}"/>
              </a:ext>
            </a:extLst>
          </p:cNvPr>
          <p:cNvSpPr/>
          <p:nvPr/>
        </p:nvSpPr>
        <p:spPr>
          <a:xfrm>
            <a:off x="279400" y="2057400"/>
            <a:ext cx="3429000" cy="55880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tIns="25400" rIns="762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000" b="1">
                <a:solidFill>
                  <a:srgbClr val="C55A11"/>
                </a:solidFill>
                <a:latin typeface="Arial" panose="020B0604020202020204" pitchFamily="34" charset="0"/>
              </a:rPr>
              <a:t>No proof, no standard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50">
                <a:solidFill>
                  <a:srgbClr val="262626"/>
                </a:solidFill>
                <a:latin typeface="Arial" panose="020B0604020202020204" pitchFamily="34" charset="0"/>
              </a:rPr>
              <a:t>nothing proves a test happened there and then; Bombay HC (2021) called field testing "arbitrary"</a:t>
            </a:r>
            <a:endParaRPr lang="en-IN" sz="8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83C0B75-8DCA-2BD0-E083-663673AB118E}"/>
              </a:ext>
            </a:extLst>
          </p:cNvPr>
          <p:cNvSpPr/>
          <p:nvPr/>
        </p:nvSpPr>
        <p:spPr>
          <a:xfrm>
            <a:off x="3962400" y="2057400"/>
            <a:ext cx="4064000" cy="55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tIns="25400" rIns="762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000" b="1">
                <a:solidFill>
                  <a:srgbClr val="1F3864"/>
                </a:solidFill>
                <a:latin typeface="Arial" panose="020B0604020202020204" pitchFamily="34" charset="0"/>
              </a:rPr>
              <a:t>Signed at the scene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50">
                <a:solidFill>
                  <a:srgbClr val="262626"/>
                </a:solidFill>
                <a:latin typeface="Arial" panose="020B0604020202020204" pitchFamily="34" charset="0"/>
              </a:rPr>
              <a:t>time, GPS, officer and image hash in a signed, chained record; a short code goes into the witness-signed panchnama</a:t>
            </a:r>
            <a:endParaRPr lang="en-IN" sz="8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4DF191E-78CA-FEF0-3698-589742010183}"/>
              </a:ext>
            </a:extLst>
          </p:cNvPr>
          <p:cNvSpPr/>
          <p:nvPr/>
        </p:nvSpPr>
        <p:spPr>
          <a:xfrm>
            <a:off x="8280400" y="2057400"/>
            <a:ext cx="3632200" cy="5588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tIns="25400" rIns="762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000" b="1">
                <a:solidFill>
                  <a:srgbClr val="1F3864"/>
                </a:solidFill>
                <a:latin typeface="Arial" panose="020B0604020202020204" pitchFamily="34" charset="0"/>
              </a:rPr>
              <a:t>Completeness, not just integrity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50">
                <a:solidFill>
                  <a:srgbClr val="262626"/>
                </a:solidFill>
                <a:latin typeface="Arial" panose="020B0604020202020204" pitchFamily="34" charset="0"/>
              </a:rPr>
              <a:t>deleted or re-run tests are caught; even a server admin cannot forge a record</a:t>
            </a:r>
            <a:endParaRPr lang="en-IN" sz="8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F934C93-4D1F-E441-31DB-15899E47CE8D}"/>
              </a:ext>
            </a:extLst>
          </p:cNvPr>
          <p:cNvCxnSpPr/>
          <p:nvPr/>
        </p:nvCxnSpPr>
        <p:spPr>
          <a:xfrm>
            <a:off x="3708400" y="2336800"/>
            <a:ext cx="2540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EBFDA43-CD24-9CBB-CB1C-0F11467C6D02}"/>
              </a:ext>
            </a:extLst>
          </p:cNvPr>
          <p:cNvCxnSpPr/>
          <p:nvPr/>
        </p:nvCxnSpPr>
        <p:spPr>
          <a:xfrm>
            <a:off x="8026400" y="2336800"/>
            <a:ext cx="2540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B5D92A4-2F4F-335D-BAA8-D8F01803755C}"/>
              </a:ext>
            </a:extLst>
          </p:cNvPr>
          <p:cNvSpPr/>
          <p:nvPr/>
        </p:nvSpPr>
        <p:spPr>
          <a:xfrm>
            <a:off x="11074400" y="20955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477B5D4-5FC0-DD0A-F570-0F472D5CEDF3}"/>
              </a:ext>
            </a:extLst>
          </p:cNvPr>
          <p:cNvSpPr/>
          <p:nvPr/>
        </p:nvSpPr>
        <p:spPr>
          <a:xfrm>
            <a:off x="279400" y="2692400"/>
            <a:ext cx="3429000" cy="55880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tIns="25400" rIns="762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000" b="1">
                <a:solidFill>
                  <a:srgbClr val="C55A11"/>
                </a:solidFill>
                <a:latin typeface="Arial" panose="020B0604020202020204" pitchFamily="34" charset="0"/>
              </a:rPr>
              <a:t>Wrong drug, wrong quantity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850">
                <a:solidFill>
                  <a:srgbClr val="262626"/>
                </a:solidFill>
                <a:latin typeface="Arial" panose="020B0604020202020204" pitchFamily="34" charset="0"/>
              </a:rPr>
              <a:t>Kerala HC (2024): seized "MDMA" was methamphetamine, a different NDPS quantity category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6C9BFC4-1E66-1C62-2EA7-BF42015749C7}"/>
              </a:ext>
            </a:extLst>
          </p:cNvPr>
          <p:cNvSpPr/>
          <p:nvPr/>
        </p:nvSpPr>
        <p:spPr>
          <a:xfrm>
            <a:off x="3962400" y="2692400"/>
            <a:ext cx="4064000" cy="55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tIns="25400" rIns="762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US" sz="1000" b="1">
                <a:solidFill>
                  <a:srgbClr val="1F3864"/>
                </a:solidFill>
                <a:latin typeface="Arial" panose="020B0604020202020204" pitchFamily="34" charset="0"/>
              </a:rPr>
              <a:t>Says only what the chemistry supports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50">
                <a:solidFill>
                  <a:srgbClr val="262626"/>
                </a:solidFill>
                <a:latin typeface="Arial" panose="020B0604020202020204" pitchFamily="34" charset="0"/>
              </a:rPr>
              <a:t>lists every drug on the kit chart that the colour fits; warns when their NDPS quantity categories differ</a:t>
            </a:r>
            <a:endParaRPr lang="en-IN" sz="8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2112B2E-C3BE-1EA5-5DDD-F6FA1488A580}"/>
              </a:ext>
            </a:extLst>
          </p:cNvPr>
          <p:cNvSpPr/>
          <p:nvPr/>
        </p:nvSpPr>
        <p:spPr>
          <a:xfrm>
            <a:off x="8280400" y="2692400"/>
            <a:ext cx="3632200" cy="5588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tIns="25400" rIns="762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000" b="1">
                <a:solidFill>
                  <a:srgbClr val="1F3864"/>
                </a:solidFill>
                <a:latin typeface="Arial" panose="020B0604020202020204" pitchFamily="34" charset="0"/>
              </a:rPr>
              <a:t>An honest result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50">
                <a:solidFill>
                  <a:srgbClr val="262626"/>
                </a:solidFill>
                <a:latin typeface="Arial" panose="020B0604020202020204" pitchFamily="34" charset="0"/>
              </a:rPr>
              <a:t>Test E blue = "cocaine or methaqualone" until E3/E4 narrows it; "inconclusive" instead of a guess</a:t>
            </a:r>
            <a:endParaRPr lang="en-IN" sz="8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7D47A1B-7B3D-25B0-2831-4CAAB0259DEF}"/>
              </a:ext>
            </a:extLst>
          </p:cNvPr>
          <p:cNvCxnSpPr/>
          <p:nvPr/>
        </p:nvCxnSpPr>
        <p:spPr>
          <a:xfrm>
            <a:off x="3708400" y="2971800"/>
            <a:ext cx="2540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E4E7A27-40C0-97BD-E62E-6C380AB9D5F4}"/>
              </a:ext>
            </a:extLst>
          </p:cNvPr>
          <p:cNvCxnSpPr/>
          <p:nvPr/>
        </p:nvCxnSpPr>
        <p:spPr>
          <a:xfrm>
            <a:off x="8026400" y="2971800"/>
            <a:ext cx="2540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86C7BF5-8CBA-6928-CFDA-AE37DDED5E68}"/>
              </a:ext>
            </a:extLst>
          </p:cNvPr>
          <p:cNvSpPr txBox="1"/>
          <p:nvPr/>
        </p:nvSpPr>
        <p:spPr>
          <a:xfrm>
            <a:off x="279400" y="3429000"/>
            <a:ext cx="812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PROPOSED SOLUTION: WHAT THE OFFICER DOES (PHONE APP, OFFLINE)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B5FACE2-A45C-301A-F44F-773561D20BFE}"/>
              </a:ext>
            </a:extLst>
          </p:cNvPr>
          <p:cNvSpPr/>
          <p:nvPr/>
        </p:nvSpPr>
        <p:spPr>
          <a:xfrm>
            <a:off x="11303000" y="34544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868F2B9-3A9D-CC83-7E8D-39008972B180}"/>
              </a:ext>
            </a:extLst>
          </p:cNvPr>
          <p:cNvSpPr/>
          <p:nvPr/>
        </p:nvSpPr>
        <p:spPr>
          <a:xfrm>
            <a:off x="279400" y="3683000"/>
            <a:ext cx="2184400" cy="147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63B86DBC-506A-B4EC-3D93-C8215B1EDE15}"/>
              </a:ext>
            </a:extLst>
          </p:cNvPr>
          <p:cNvSpPr/>
          <p:nvPr/>
        </p:nvSpPr>
        <p:spPr>
          <a:xfrm>
            <a:off x="2641600" y="3683000"/>
            <a:ext cx="2184400" cy="147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C3345326-6A59-B48C-FB66-FA793B11BC67}"/>
              </a:ext>
            </a:extLst>
          </p:cNvPr>
          <p:cNvSpPr/>
          <p:nvPr/>
        </p:nvSpPr>
        <p:spPr>
          <a:xfrm>
            <a:off x="5003800" y="3683000"/>
            <a:ext cx="2184400" cy="147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494FF46B-0E4C-1718-88A1-CBFD12EEA155}"/>
              </a:ext>
            </a:extLst>
          </p:cNvPr>
          <p:cNvSpPr/>
          <p:nvPr/>
        </p:nvSpPr>
        <p:spPr>
          <a:xfrm>
            <a:off x="7366000" y="3683000"/>
            <a:ext cx="2184400" cy="147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CAC3B1A-7E65-1E6A-3596-1700D81B2BEE}"/>
              </a:ext>
            </a:extLst>
          </p:cNvPr>
          <p:cNvSpPr/>
          <p:nvPr/>
        </p:nvSpPr>
        <p:spPr>
          <a:xfrm>
            <a:off x="9728200" y="3683000"/>
            <a:ext cx="2184400" cy="147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20E1A14-EFB8-7B5C-95E8-EC259381E87C}"/>
              </a:ext>
            </a:extLst>
          </p:cNvPr>
          <p:cNvCxnSpPr/>
          <p:nvPr/>
        </p:nvCxnSpPr>
        <p:spPr>
          <a:xfrm>
            <a:off x="2476500" y="4419600"/>
            <a:ext cx="1524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C35C63D-3714-795C-2E22-11210A8E9AFB}"/>
              </a:ext>
            </a:extLst>
          </p:cNvPr>
          <p:cNvCxnSpPr/>
          <p:nvPr/>
        </p:nvCxnSpPr>
        <p:spPr>
          <a:xfrm>
            <a:off x="4838700" y="4419600"/>
            <a:ext cx="1524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3CC106E-0206-F3B8-FC1F-DD50A5496750}"/>
              </a:ext>
            </a:extLst>
          </p:cNvPr>
          <p:cNvCxnSpPr/>
          <p:nvPr/>
        </p:nvCxnSpPr>
        <p:spPr>
          <a:xfrm>
            <a:off x="7200900" y="4419600"/>
            <a:ext cx="1524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D84048-1D2A-173B-59D9-C5D7F05E983D}"/>
              </a:ext>
            </a:extLst>
          </p:cNvPr>
          <p:cNvCxnSpPr/>
          <p:nvPr/>
        </p:nvCxnSpPr>
        <p:spPr>
          <a:xfrm>
            <a:off x="9563100" y="4419600"/>
            <a:ext cx="1524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Picture 39">
            <a:extLst>
              <a:ext uri="{FF2B5EF4-FFF2-40B4-BE49-F238E27FC236}">
                <a16:creationId xmlns:a16="http://schemas.microsoft.com/office/drawing/2014/main" id="{951101B5-7564-E0F2-754A-AF789769105F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" y="3733800"/>
            <a:ext cx="1955800" cy="137160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772181E1-FED5-6A89-EECF-7AEAF1707509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2806700" y="3733800"/>
            <a:ext cx="1854200" cy="1371600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F4DA35C-45C9-D165-CB3B-FCC18250674B}"/>
              </a:ext>
            </a:extLst>
          </p:cNvPr>
          <p:cNvSpPr txBox="1"/>
          <p:nvPr/>
        </p:nvSpPr>
        <p:spPr>
          <a:xfrm>
            <a:off x="5105400" y="3759200"/>
            <a:ext cx="1981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lang="en-IN" sz="800">
                <a:solidFill>
                  <a:srgbClr val="595959"/>
                </a:solidFill>
                <a:latin typeface="Arial" panose="020B0604020202020204" pitchFamily="34" charset="0"/>
              </a:rPr>
              <a:t>Package P-1 · Test A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lang="en-IN" sz="1700" b="1">
                <a:solidFill>
                  <a:srgbClr val="C55A11"/>
                </a:solidFill>
                <a:latin typeface="Arial" panose="020B0604020202020204" pitchFamily="34" charset="0"/>
              </a:rPr>
              <a:t>POSITIVE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lang="fr-FR" sz="850" b="1">
                <a:solidFill>
                  <a:srgbClr val="262626"/>
                </a:solidFill>
                <a:latin typeface="Arial" panose="020B0604020202020204" pitchFamily="34" charset="0"/>
              </a:rPr>
              <a:t>colour fits: codeine, heroin, morphine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i="1">
                <a:solidFill>
                  <a:srgbClr val="C55A11"/>
                </a:solidFill>
                <a:latin typeface="Arial" panose="020B0604020202020204" pitchFamily="34" charset="0"/>
              </a:rPr>
              <a:t>NDPS quantity category cannot be decided in the field</a:t>
            </a:r>
            <a:endParaRPr lang="en-IN" sz="800" i="1">
              <a:solidFill>
                <a:srgbClr val="C55A11"/>
              </a:solidFill>
              <a:latin typeface="Arial" panose="020B06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14DA5B7-B4EC-4C69-CA2B-AEA62A56AD0F}"/>
              </a:ext>
            </a:extLst>
          </p:cNvPr>
          <p:cNvSpPr txBox="1"/>
          <p:nvPr/>
        </p:nvSpPr>
        <p:spPr>
          <a:xfrm>
            <a:off x="7467600" y="3759200"/>
            <a:ext cx="1981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IN" sz="900" b="1">
                <a:solidFill>
                  <a:srgbClr val="1F3864"/>
                </a:solidFill>
                <a:latin typeface="Arial" panose="020B0604020202020204" pitchFamily="34" charset="0"/>
              </a:rPr>
              <a:t>Signed record #5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>
                <a:solidFill>
                  <a:srgbClr val="595959"/>
                </a:solidFill>
                <a:latin typeface="Arial" panose="020B0604020202020204" pitchFamily="34" charset="0"/>
              </a:rPr>
              <a:t>time · GNSS time · GPS · officer · image hash · link to record #4</a:t>
            </a:r>
            <a:endParaRPr lang="en-IN" sz="75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933C748-E30B-2BB8-F9C6-C71D7565E688}"/>
              </a:ext>
            </a:extLst>
          </p:cNvPr>
          <p:cNvSpPr/>
          <p:nvPr/>
        </p:nvSpPr>
        <p:spPr>
          <a:xfrm>
            <a:off x="7569200" y="4394200"/>
            <a:ext cx="1778000" cy="3556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150" b="1">
                <a:solidFill>
                  <a:srgbClr val="1F3864"/>
                </a:solidFill>
                <a:latin typeface="Consolas" panose="020B0609020204030204" pitchFamily="49" charset="0"/>
              </a:rPr>
              <a:t>VRBUN-XZCSP-6TMM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AFED365-22CF-F1D0-D090-73965E16E5D3}"/>
              </a:ext>
            </a:extLst>
          </p:cNvPr>
          <p:cNvSpPr txBox="1"/>
          <p:nvPr/>
        </p:nvSpPr>
        <p:spPr>
          <a:xfrm>
            <a:off x="7467600" y="4800600"/>
            <a:ext cx="1981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i="1">
                <a:solidFill>
                  <a:srgbClr val="595959"/>
                </a:solidFill>
                <a:latin typeface="Arial" panose="020B0604020202020204" pitchFamily="34" charset="0"/>
              </a:rPr>
              <a:t>code written into the panchnama and signed by the witnesses</a:t>
            </a:r>
            <a:endParaRPr lang="en-IN" sz="750" i="1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294AE20-2861-63CA-E9F6-3CD547345E64}"/>
              </a:ext>
            </a:extLst>
          </p:cNvPr>
          <p:cNvSpPr txBox="1"/>
          <p:nvPr/>
        </p:nvSpPr>
        <p:spPr>
          <a:xfrm>
            <a:off x="9829800" y="3810000"/>
            <a:ext cx="1981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lang="en-IN" sz="1700" b="1">
                <a:solidFill>
                  <a:srgbClr val="2E7D32"/>
                </a:solidFill>
                <a:latin typeface="Arial" panose="020B0604020202020204" pitchFamily="34" charset="0"/>
              </a:rPr>
              <a:t>✔ VERIFIED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lang="en-IN" sz="850">
                <a:solidFill>
                  <a:srgbClr val="262626"/>
                </a:solidFill>
                <a:latin typeface="Arial" panose="020B0604020202020204" pitchFamily="34" charset="0"/>
              </a:rPr>
              <a:t>signatures, chain and panchnama code re-checked offline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i="1">
                <a:solidFill>
                  <a:srgbClr val="2E7D32"/>
                </a:solidFill>
                <a:latin typeface="Arial" panose="020B0604020202020204" pitchFamily="34" charset="0"/>
              </a:rPr>
              <a:t>changed, deleted or hidden records: caught</a:t>
            </a:r>
            <a:endParaRPr lang="en-IN" sz="800" i="1">
              <a:solidFill>
                <a:srgbClr val="2E7D32"/>
              </a:solidFill>
              <a:latin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48CCFBD-3097-B3BE-CA0E-DD4A95ECDC31}"/>
              </a:ext>
            </a:extLst>
          </p:cNvPr>
          <p:cNvSpPr txBox="1"/>
          <p:nvPr/>
        </p:nvSpPr>
        <p:spPr>
          <a:xfrm>
            <a:off x="279400" y="5219700"/>
            <a:ext cx="218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US" sz="1000" b="1">
                <a:solidFill>
                  <a:srgbClr val="1F3864"/>
                </a:solidFill>
                <a:latin typeface="Arial" panose="020B0604020202020204" pitchFamily="34" charset="0"/>
              </a:rPr>
              <a:t>1  Same kit + a printed card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50">
                <a:solidFill>
                  <a:srgbClr val="262626"/>
                </a:solidFill>
                <a:latin typeface="Arial" panose="020B0604020202020204" pitchFamily="34" charset="0"/>
              </a:rPr>
              <a:t>NCB's own kit and a colour card per kit; no new hardware</a:t>
            </a:r>
            <a:endParaRPr lang="en-IN" sz="8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F3360BB-9EAB-58AC-7F48-B5971DD39253}"/>
              </a:ext>
            </a:extLst>
          </p:cNvPr>
          <p:cNvSpPr txBox="1"/>
          <p:nvPr/>
        </p:nvSpPr>
        <p:spPr>
          <a:xfrm>
            <a:off x="2641600" y="5219700"/>
            <a:ext cx="218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US" sz="1000" b="1">
                <a:solidFill>
                  <a:srgbClr val="1F3864"/>
                </a:solidFill>
                <a:latin typeface="Arial" panose="020B0604020202020204" pitchFamily="34" charset="0"/>
              </a:rPr>
              <a:t>2  One photo per test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50">
                <a:solidFill>
                  <a:srgbClr val="262626"/>
                </a:solidFill>
                <a:latin typeface="Arial" panose="020B0604020202020204" pitchFamily="34" charset="0"/>
              </a:rPr>
              <a:t>reaction, reagent-only blank and card in one frame</a:t>
            </a:r>
            <a:endParaRPr lang="en-IN" sz="8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082221B-4428-DC2D-6410-7CC67FA3C8F7}"/>
              </a:ext>
            </a:extLst>
          </p:cNvPr>
          <p:cNvSpPr txBox="1"/>
          <p:nvPr/>
        </p:nvSpPr>
        <p:spPr>
          <a:xfrm>
            <a:off x="5003800" y="5219700"/>
            <a:ext cx="218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000" b="1">
                <a:solidFill>
                  <a:srgbClr val="1F3864"/>
                </a:solidFill>
                <a:latin typeface="Arial" panose="020B0604020202020204" pitchFamily="34" charset="0"/>
              </a:rPr>
              <a:t>3  Measured result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50">
                <a:solidFill>
                  <a:srgbClr val="262626"/>
                </a:solidFill>
                <a:latin typeface="Arial" panose="020B0604020202020204" pitchFamily="34" charset="0"/>
              </a:rPr>
              <a:t>positive / no colour change / inconclusive, with every drug the colour fits</a:t>
            </a:r>
            <a:endParaRPr lang="en-IN" sz="8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40FD739-07D8-CD85-021C-CF286111860B}"/>
              </a:ext>
            </a:extLst>
          </p:cNvPr>
          <p:cNvSpPr txBox="1"/>
          <p:nvPr/>
        </p:nvSpPr>
        <p:spPr>
          <a:xfrm>
            <a:off x="7366000" y="5219700"/>
            <a:ext cx="218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000" b="1">
                <a:solidFill>
                  <a:srgbClr val="1F3864"/>
                </a:solidFill>
                <a:latin typeface="Arial" panose="020B0604020202020204" pitchFamily="34" charset="0"/>
              </a:rPr>
              <a:t>4  Signed and anchored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50">
                <a:solidFill>
                  <a:srgbClr val="262626"/>
                </a:solidFill>
                <a:latin typeface="Arial" panose="020B0604020202020204" pitchFamily="34" charset="0"/>
              </a:rPr>
              <a:t>every test chained; a 14-character code ties the set to the panchnama</a:t>
            </a:r>
            <a:endParaRPr lang="en-IN" sz="8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BBE624D-C8E7-7D0E-1868-F89BD7D864C2}"/>
              </a:ext>
            </a:extLst>
          </p:cNvPr>
          <p:cNvSpPr txBox="1"/>
          <p:nvPr/>
        </p:nvSpPr>
        <p:spPr>
          <a:xfrm>
            <a:off x="9728200" y="5219700"/>
            <a:ext cx="218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000" b="1">
                <a:solidFill>
                  <a:srgbClr val="1F3864"/>
                </a:solidFill>
                <a:latin typeface="Arial" panose="020B0604020202020204" pitchFamily="34" charset="0"/>
              </a:rPr>
              <a:t>5  Verified by anyone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50">
                <a:solidFill>
                  <a:srgbClr val="262626"/>
                </a:solidFill>
                <a:latin typeface="Arial" panose="020B0604020202020204" pitchFamily="34" charset="0"/>
              </a:rPr>
              <a:t>court expert, defence or lab. Planned: Field Test Memo, Form-1 item 5, BSA s.63 data</a:t>
            </a:r>
            <a:endParaRPr lang="en-IN" sz="8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BCC7345-8543-827C-B031-EF9B11392D6F}"/>
              </a:ext>
            </a:extLst>
          </p:cNvPr>
          <p:cNvSpPr txBox="1"/>
          <p:nvPr/>
        </p:nvSpPr>
        <p:spPr>
          <a:xfrm>
            <a:off x="279400" y="6019800"/>
            <a:ext cx="11633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800" i="1">
                <a:solidFill>
                  <a:srgbClr val="595959"/>
                </a:solidFill>
                <a:latin typeface="Arial" panose="020B0604020202020204" pitchFamily="34" charset="0"/>
              </a:rPr>
              <a:t>Pictures 2–5 are real output of our prototype demo, run on simulated photos with test keys. The phone app is the next build.</a:t>
            </a:r>
            <a:endParaRPr lang="en-IN" sz="800" i="1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2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lang="en-US" sz="32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/>
              <a:t>Darth CodersUNI</a:t>
            </a:r>
            <a:endParaRPr lang="en-IN" sz="1100" b="1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5F2CF17-7CCA-35B3-829D-507CBDD3CF97}"/>
              </a:ext>
            </a:extLst>
          </p:cNvPr>
          <p:cNvSpPr txBox="1"/>
          <p:nvPr/>
        </p:nvSpPr>
        <p:spPr>
          <a:xfrm>
            <a:off x="279400" y="11938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PROCESS FLOW: ONE PACKAGE, FROM SEIZURE TO COURT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211C4AC-6E0C-E67B-74A0-4EBDF9BEB111}"/>
              </a:ext>
            </a:extLst>
          </p:cNvPr>
          <p:cNvSpPr/>
          <p:nvPr/>
        </p:nvSpPr>
        <p:spPr>
          <a:xfrm>
            <a:off x="279400" y="1422400"/>
            <a:ext cx="7340600" cy="20574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8DB2B7-9785-01D5-583F-85B41CEB218E}"/>
              </a:ext>
            </a:extLst>
          </p:cNvPr>
          <p:cNvSpPr txBox="1"/>
          <p:nvPr/>
        </p:nvSpPr>
        <p:spPr>
          <a:xfrm>
            <a:off x="381000" y="14732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750" b="1">
                <a:solidFill>
                  <a:srgbClr val="0070C0"/>
                </a:solidFill>
                <a:latin typeface="Arial" panose="020B0604020202020204" pitchFamily="34" charset="0"/>
              </a:rPr>
              <a:t>OFFICER'S PHONE · WORKS OFFLINE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601B497-9958-46EA-26EE-FEF39E988A12}"/>
              </a:ext>
            </a:extLst>
          </p:cNvPr>
          <p:cNvSpPr/>
          <p:nvPr/>
        </p:nvSpPr>
        <p:spPr>
          <a:xfrm>
            <a:off x="279400" y="3581400"/>
            <a:ext cx="3606800" cy="10414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725C63-EF23-3318-87C0-38A43427D813}"/>
              </a:ext>
            </a:extLst>
          </p:cNvPr>
          <p:cNvSpPr txBox="1"/>
          <p:nvPr/>
        </p:nvSpPr>
        <p:spPr>
          <a:xfrm>
            <a:off x="381000" y="3632200"/>
            <a:ext cx="342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750" b="1">
                <a:solidFill>
                  <a:srgbClr val="0070C0"/>
                </a:solidFill>
                <a:latin typeface="Arial" panose="020B0604020202020204" pitchFamily="34" charset="0"/>
              </a:rPr>
              <a:t>ANYONE · OFFLINE VERIFIER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743CA94-A8E9-BA9C-E57E-A4F1EB7ED6B2}"/>
              </a:ext>
            </a:extLst>
          </p:cNvPr>
          <p:cNvSpPr/>
          <p:nvPr/>
        </p:nvSpPr>
        <p:spPr>
          <a:xfrm>
            <a:off x="4013200" y="3581400"/>
            <a:ext cx="3606800" cy="10414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73FFB2-9CEA-0C7E-FCAC-6D1DAB4D8C69}"/>
              </a:ext>
            </a:extLst>
          </p:cNvPr>
          <p:cNvSpPr txBox="1"/>
          <p:nvPr/>
        </p:nvSpPr>
        <p:spPr>
          <a:xfrm>
            <a:off x="4114800" y="3632200"/>
            <a:ext cx="342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750" b="1">
                <a:solidFill>
                  <a:srgbClr val="0070C0"/>
                </a:solidFill>
                <a:latin typeface="Arial" panose="020B0604020202020204" pitchFamily="34" charset="0"/>
              </a:rPr>
              <a:t>NCB SERVER (NIC / MeitY CLOUD) · WHEN ONLINE</a:t>
            </a:r>
            <a:endParaRPr lang="en-IN" sz="750" b="1">
              <a:solidFill>
                <a:srgbClr val="0070C0"/>
              </a:solidFill>
              <a:latin typeface="Arial" panose="020B0604020202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66A3FE7-E115-38A5-6D56-80EAB5AB21A3}"/>
              </a:ext>
            </a:extLst>
          </p:cNvPr>
          <p:cNvSpPr/>
          <p:nvPr/>
        </p:nvSpPr>
        <p:spPr>
          <a:xfrm>
            <a:off x="381000" y="1676400"/>
            <a:ext cx="1320800" cy="584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0070C0"/>
                </a:solidFill>
                <a:latin typeface="Arial" panose="020B0604020202020204" pitchFamily="34" charset="0"/>
              </a:rPr>
              <a:t>1  </a:t>
            </a: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Pick the test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the kit's printed flow chart chooses Test A–E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8464C30-35AB-3F86-D5FD-1E8DECE20BB1}"/>
              </a:ext>
            </a:extLst>
          </p:cNvPr>
          <p:cNvSpPr/>
          <p:nvPr/>
        </p:nvSpPr>
        <p:spPr>
          <a:xfrm>
            <a:off x="1905000" y="1676400"/>
            <a:ext cx="1422400" cy="584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0070C0"/>
                </a:solidFill>
                <a:latin typeface="Arial" panose="020B0604020202020204" pitchFamily="34" charset="0"/>
              </a:rPr>
              <a:t>2  </a:t>
            </a: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Capture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one photo: colour card + sample well + blank well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B3AE310-94F0-9D09-83B2-B4DB0E279397}"/>
              </a:ext>
            </a:extLst>
          </p:cNvPr>
          <p:cNvSpPr/>
          <p:nvPr/>
        </p:nvSpPr>
        <p:spPr>
          <a:xfrm>
            <a:off x="3530600" y="1676400"/>
            <a:ext cx="1600200" cy="584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0070C0"/>
                </a:solidFill>
                <a:latin typeface="Arial" panose="020B0604020202020204" pitchFamily="34" charset="0"/>
              </a:rPr>
              <a:t>3  </a:t>
            </a: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Read the colour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correct the light, compare with the blank, match the kit's colour bands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AEB0556-DBF1-9FBD-BF64-9CB3386FC273}"/>
              </a:ext>
            </a:extLst>
          </p:cNvPr>
          <p:cNvCxnSpPr/>
          <p:nvPr/>
        </p:nvCxnSpPr>
        <p:spPr>
          <a:xfrm>
            <a:off x="1701800" y="1968500"/>
            <a:ext cx="2032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2855483-A4D2-0FCD-2823-31D4A5BE4B45}"/>
              </a:ext>
            </a:extLst>
          </p:cNvPr>
          <p:cNvCxnSpPr/>
          <p:nvPr/>
        </p:nvCxnSpPr>
        <p:spPr>
          <a:xfrm>
            <a:off x="3327400" y="1968500"/>
            <a:ext cx="2032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A4F133F-828D-0C8F-B5EF-7D16DE324DC2}"/>
              </a:ext>
            </a:extLst>
          </p:cNvPr>
          <p:cNvCxnSpPr/>
          <p:nvPr/>
        </p:nvCxnSpPr>
        <p:spPr>
          <a:xfrm>
            <a:off x="5130800" y="1968500"/>
            <a:ext cx="1778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Diamond 19">
            <a:extLst>
              <a:ext uri="{FF2B5EF4-FFF2-40B4-BE49-F238E27FC236}">
                <a16:creationId xmlns:a16="http://schemas.microsoft.com/office/drawing/2014/main" id="{37E293BF-7046-2288-421C-2EEC6C01245F}"/>
              </a:ext>
            </a:extLst>
          </p:cNvPr>
          <p:cNvSpPr/>
          <p:nvPr/>
        </p:nvSpPr>
        <p:spPr>
          <a:xfrm>
            <a:off x="5308600" y="1625600"/>
            <a:ext cx="990600" cy="6858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900" b="1">
                <a:solidFill>
                  <a:srgbClr val="1F3864"/>
                </a:solidFill>
                <a:latin typeface="Arial" panose="020B0604020202020204" pitchFamily="34" charset="0"/>
              </a:rPr>
              <a:t>Result?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4554875-983C-13F0-FAA6-F71E98BE870E}"/>
              </a:ext>
            </a:extLst>
          </p:cNvPr>
          <p:cNvSpPr/>
          <p:nvPr/>
        </p:nvSpPr>
        <p:spPr>
          <a:xfrm>
            <a:off x="6477000" y="1498600"/>
            <a:ext cx="1092200" cy="33020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0" rIns="38100" bIns="0" rtlCol="0" anchor="ctr"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700" b="1">
                <a:solidFill>
                  <a:srgbClr val="C55A11"/>
                </a:solidFill>
                <a:latin typeface="Arial" panose="020B0604020202020204" pitchFamily="34" charset="0"/>
              </a:rPr>
              <a:t>POSITIVE: drug list + NDPS warning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8707B4A-A2E5-221C-8A6E-3CAD8D6EAD38}"/>
              </a:ext>
            </a:extLst>
          </p:cNvPr>
          <p:cNvCxnSpPr/>
          <p:nvPr/>
        </p:nvCxnSpPr>
        <p:spPr>
          <a:xfrm flipV="1">
            <a:off x="6299200" y="1663700"/>
            <a:ext cx="177800" cy="3048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F22D1B2-3054-C8B5-9C41-4DC01C4C93D6}"/>
              </a:ext>
            </a:extLst>
          </p:cNvPr>
          <p:cNvSpPr/>
          <p:nvPr/>
        </p:nvSpPr>
        <p:spPr>
          <a:xfrm>
            <a:off x="6477000" y="1879600"/>
            <a:ext cx="1092200" cy="2032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9525">
            <a:solidFill>
              <a:srgbClr val="2E7D32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0" rIns="38100" bIns="0" rtlCol="0" anchor="ctr"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700" b="1">
                <a:solidFill>
                  <a:srgbClr val="2E7D32"/>
                </a:solidFill>
                <a:latin typeface="Arial" panose="020B0604020202020204" pitchFamily="34" charset="0"/>
              </a:rPr>
              <a:t>NO COLOUR CHANGE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BEA411C-575F-E31F-EB40-122FC8EF40AF}"/>
              </a:ext>
            </a:extLst>
          </p:cNvPr>
          <p:cNvCxnSpPr/>
          <p:nvPr/>
        </p:nvCxnSpPr>
        <p:spPr>
          <a:xfrm>
            <a:off x="6299200" y="1968500"/>
            <a:ext cx="177800" cy="127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5E391C1-77AB-92D8-47A4-E3695D98A677}"/>
              </a:ext>
            </a:extLst>
          </p:cNvPr>
          <p:cNvSpPr/>
          <p:nvPr/>
        </p:nvSpPr>
        <p:spPr>
          <a:xfrm>
            <a:off x="6477000" y="2133600"/>
            <a:ext cx="1092200" cy="203200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 w="9525">
            <a:solidFill>
              <a:srgbClr val="7F7F7F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0" rIns="38100" bIns="0" rtlCol="0" anchor="ctr"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700" b="1">
                <a:solidFill>
                  <a:srgbClr val="7F7F7F"/>
                </a:solidFill>
                <a:latin typeface="Arial" panose="020B0604020202020204" pitchFamily="34" charset="0"/>
              </a:rPr>
              <a:t>INCONCLUSIVE: retake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576F94E-92C4-AF52-A30D-ABACACE93FB6}"/>
              </a:ext>
            </a:extLst>
          </p:cNvPr>
          <p:cNvCxnSpPr/>
          <p:nvPr/>
        </p:nvCxnSpPr>
        <p:spPr>
          <a:xfrm>
            <a:off x="6299200" y="1968500"/>
            <a:ext cx="177800" cy="2667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314796C-5906-C5BE-1C66-0C2F842BD0E5}"/>
              </a:ext>
            </a:extLst>
          </p:cNvPr>
          <p:cNvCxnSpPr/>
          <p:nvPr/>
        </p:nvCxnSpPr>
        <p:spPr>
          <a:xfrm>
            <a:off x="5803900" y="2311400"/>
            <a:ext cx="0" cy="17780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F59E4A0-5ACF-76CE-FDB1-1E25214BC1D2}"/>
              </a:ext>
            </a:extLst>
          </p:cNvPr>
          <p:cNvCxnSpPr/>
          <p:nvPr/>
        </p:nvCxnSpPr>
        <p:spPr>
          <a:xfrm flipH="1">
            <a:off x="1041400" y="2489200"/>
            <a:ext cx="4762500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C47C3F3-421F-623C-0342-FE6B01F7E758}"/>
              </a:ext>
            </a:extLst>
          </p:cNvPr>
          <p:cNvCxnSpPr/>
          <p:nvPr/>
        </p:nvCxnSpPr>
        <p:spPr>
          <a:xfrm flipV="1">
            <a:off x="1041400" y="2273300"/>
            <a:ext cx="0" cy="2159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4062186-E117-80C6-7C3B-584BF90086A4}"/>
              </a:ext>
            </a:extLst>
          </p:cNvPr>
          <p:cNvSpPr txBox="1"/>
          <p:nvPr/>
        </p:nvSpPr>
        <p:spPr>
          <a:xfrm>
            <a:off x="1219200" y="2514600"/>
            <a:ext cx="431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750" i="1">
                <a:solidFill>
                  <a:srgbClr val="595959"/>
                </a:solidFill>
                <a:latin typeface="Arial" panose="020B0604020202020204" pitchFamily="34" charset="0"/>
              </a:rPr>
              <a:t>no colour change or inconclusive: next test, as the kit's flow chart says</a:t>
            </a:r>
            <a:endParaRPr lang="en-IN" sz="750" i="1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024975E-3D74-22C9-4BCE-EFD234BE5B76}"/>
              </a:ext>
            </a:extLst>
          </p:cNvPr>
          <p:cNvCxnSpPr/>
          <p:nvPr/>
        </p:nvCxnSpPr>
        <p:spPr>
          <a:xfrm>
            <a:off x="7023100" y="2336800"/>
            <a:ext cx="0" cy="3810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518AB86-CE48-5093-D83A-DA53BDE58DA4}"/>
              </a:ext>
            </a:extLst>
          </p:cNvPr>
          <p:cNvSpPr txBox="1"/>
          <p:nvPr/>
        </p:nvSpPr>
        <p:spPr>
          <a:xfrm>
            <a:off x="7073900" y="24384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700" i="1">
                <a:solidFill>
                  <a:srgbClr val="595959"/>
                </a:solidFill>
                <a:latin typeface="Arial" panose="020B0604020202020204" pitchFamily="34" charset="0"/>
              </a:rPr>
              <a:t>every result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AA8092-AB37-AF70-B47C-A070152AFBCE}"/>
              </a:ext>
            </a:extLst>
          </p:cNvPr>
          <p:cNvSpPr/>
          <p:nvPr/>
        </p:nvSpPr>
        <p:spPr>
          <a:xfrm>
            <a:off x="5588000" y="2717800"/>
            <a:ext cx="1981200" cy="584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0070C0"/>
                </a:solidFill>
                <a:latin typeface="Arial" panose="020B0604020202020204" pitchFamily="34" charset="0"/>
              </a:rPr>
              <a:t>4  </a:t>
            </a: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Sign and chain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time, GNSS time, GPS, officer, image hash; signed, and linked to the last record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BE69CFA-BEFD-FC3F-2230-480DAC32F81E}"/>
              </a:ext>
            </a:extLst>
          </p:cNvPr>
          <p:cNvCxnSpPr/>
          <p:nvPr/>
        </p:nvCxnSpPr>
        <p:spPr>
          <a:xfrm flipH="1">
            <a:off x="5346700" y="3009900"/>
            <a:ext cx="2413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84FC31ED-59AD-016F-BB6D-F690ED0F5FB1}"/>
              </a:ext>
            </a:extLst>
          </p:cNvPr>
          <p:cNvSpPr/>
          <p:nvPr/>
        </p:nvSpPr>
        <p:spPr>
          <a:xfrm>
            <a:off x="2997200" y="2717800"/>
            <a:ext cx="2336800" cy="584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0070C0"/>
                </a:solidFill>
                <a:latin typeface="Arial" panose="020B0604020202020204" pitchFamily="34" charset="0"/>
              </a:rPr>
              <a:t>5  </a:t>
            </a: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Anchor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a 14-character code goes into the panchnama that the witnesses sign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EE184E2-63DD-0F4E-C775-A07AD19A3F1F}"/>
              </a:ext>
            </a:extLst>
          </p:cNvPr>
          <p:cNvSpPr txBox="1"/>
          <p:nvPr/>
        </p:nvSpPr>
        <p:spPr>
          <a:xfrm>
            <a:off x="381000" y="2768600"/>
            <a:ext cx="248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800" i="1">
                <a:solidFill>
                  <a:srgbClr val="595959"/>
                </a:solidFill>
                <a:latin typeface="Arial" panose="020B0604020202020204" pitchFamily="34" charset="0"/>
              </a:rPr>
              <a:t>Every capture is recorded, retakes and negatives too, so a test cannot be quietly dropped or re-run.</a:t>
            </a:r>
            <a:endParaRPr lang="en-IN" sz="800" i="1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D3726D2-9A4E-53F6-4936-F8AE8281B99C}"/>
              </a:ext>
            </a:extLst>
          </p:cNvPr>
          <p:cNvCxnSpPr/>
          <p:nvPr/>
        </p:nvCxnSpPr>
        <p:spPr>
          <a:xfrm>
            <a:off x="3556000" y="3302000"/>
            <a:ext cx="0" cy="5080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27358BEB-93A0-0262-3B18-7F0A33701326}"/>
              </a:ext>
            </a:extLst>
          </p:cNvPr>
          <p:cNvSpPr/>
          <p:nvPr/>
        </p:nvSpPr>
        <p:spPr>
          <a:xfrm>
            <a:off x="381000" y="3810000"/>
            <a:ext cx="3403600" cy="736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Verify, any time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a court expert, the defence or the lab re-checks signatures, the chain and the panchnama code: VERIFIED or tampering found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587D0F2-2FB7-F002-6CEC-1749EB2F1058}"/>
              </a:ext>
            </a:extLst>
          </p:cNvPr>
          <p:cNvCxnSpPr/>
          <p:nvPr/>
        </p:nvCxnSpPr>
        <p:spPr>
          <a:xfrm>
            <a:off x="6578600" y="3302000"/>
            <a:ext cx="0" cy="5080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2B9C4144-2FAE-7F87-5F31-B5E69FED87F2}"/>
              </a:ext>
            </a:extLst>
          </p:cNvPr>
          <p:cNvSpPr/>
          <p:nvPr/>
        </p:nvSpPr>
        <p:spPr>
          <a:xfrm>
            <a:off x="4114800" y="3810000"/>
            <a:ext cx="3403600" cy="736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Sync and search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each record checked on arrival (forks, replays, gaps); case search; our server is never trusted; lab-result link planned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D329265-829D-70BC-AE10-8977A20DBFE3}"/>
              </a:ext>
            </a:extLst>
          </p:cNvPr>
          <p:cNvSpPr txBox="1"/>
          <p:nvPr/>
        </p:nvSpPr>
        <p:spPr>
          <a:xfrm>
            <a:off x="279400" y="4660900"/>
            <a:ext cx="734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800" i="1">
                <a:solidFill>
                  <a:srgbClr val="595959"/>
                </a:solidFill>
                <a:latin typeface="Arial" panose="020B0604020202020204" pitchFamily="34" charset="0"/>
              </a:rPr>
              <a:t>Every step above runs today in our Python prototype (colour on simulated photos). The Android app and hardware-backed keys are next.</a:t>
            </a:r>
            <a:endParaRPr lang="en-IN" sz="800" i="1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95C7E25-10C0-3289-CE67-7C77692EF232}"/>
              </a:ext>
            </a:extLst>
          </p:cNvPr>
          <p:cNvSpPr txBox="1"/>
          <p:nvPr/>
        </p:nvSpPr>
        <p:spPr>
          <a:xfrm>
            <a:off x="279400" y="4876800"/>
            <a:ext cx="734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IN" sz="900" b="1">
                <a:solidFill>
                  <a:srgbClr val="1F3864"/>
                </a:solidFill>
                <a:latin typeface="Arial" panose="020B0604020202020204" pitchFamily="34" charset="0"/>
              </a:rPr>
              <a:t>Trust: </a:t>
            </a:r>
            <a:r>
              <a:rPr lang="en-US" sz="900">
                <a:solidFill>
                  <a:srgbClr val="262626"/>
                </a:solidFill>
                <a:latin typeface="Arial" panose="020B0604020202020204" pitchFamily="34" charset="0"/>
              </a:rPr>
              <a:t>NCB signs the supervisor list; a supervisor's key (a Class 3 DSC in production) binds officer + phone + key; the phone key is designed to live in StrongBox/TEE (prototype: test keys).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IN" sz="900" b="1">
                <a:solidFill>
                  <a:srgbClr val="1F3864"/>
                </a:solidFill>
                <a:latin typeface="Arial" panose="020B0604020202020204" pitchFamily="34" charset="0"/>
              </a:rPr>
              <a:t>Technologies to be used: </a:t>
            </a:r>
            <a:r>
              <a:rPr lang="en-IN" sz="900">
                <a:solidFill>
                  <a:srgbClr val="262626"/>
                </a:solidFill>
                <a:latin typeface="Arial" panose="020B0604020202020204" pitchFamily="34" charset="0"/>
              </a:rPr>
              <a:t>Kotlin · CameraX/Camera2 RAW · OpenCV · Android Keystore + attestation · SQLCipher · RFC 8785 JSON · ECDSA P-256 · Spring Boot · PostgreSQL · S3. Prototype today: Python, OpenCV, SQLite.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900" b="1">
                <a:solidFill>
                  <a:srgbClr val="1F3864"/>
                </a:solidFill>
                <a:latin typeface="Arial" panose="020B0604020202020204" pitchFamily="34" charset="0"/>
              </a:rPr>
              <a:t>Deliberately not used: </a:t>
            </a:r>
            <a:r>
              <a:rPr lang="en-US" sz="900">
                <a:solidFill>
                  <a:srgbClr val="262626"/>
                </a:solidFill>
                <a:latin typeface="Arial" panose="020B0604020202020204" pitchFamily="34" charset="0"/>
              </a:rPr>
              <a:t>blockchain, cloud AI, a neural-network "drug detector" (a colour test cannot identify a drug; the court must be able to re-run the reading).</a:t>
            </a:r>
            <a:endParaRPr lang="en-IN" sz="9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89E5472-B5B1-EAC2-40FF-43E364773AC9}"/>
              </a:ext>
            </a:extLst>
          </p:cNvPr>
          <p:cNvSpPr txBox="1"/>
          <p:nvPr/>
        </p:nvSpPr>
        <p:spPr>
          <a:xfrm>
            <a:off x="7874000" y="1244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WORKING PROTOTYPE OUTPUT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5009BA1B-245E-BB4D-30E7-A40692038DB4}"/>
              </a:ext>
            </a:extLst>
          </p:cNvPr>
          <p:cNvSpPr/>
          <p:nvPr/>
        </p:nvSpPr>
        <p:spPr>
          <a:xfrm>
            <a:off x="11277600" y="12700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37E93F4-D54E-40ED-5A05-0806C53CB35C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7874000" y="1524000"/>
            <a:ext cx="1270000" cy="939800"/>
          </a:xfrm>
          <a:prstGeom prst="rect">
            <a:avLst/>
          </a:prstGeom>
          <a:ln w="9525">
            <a:solidFill>
              <a:srgbClr val="B4C7E7"/>
            </a:solidFill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B24C6841-DA80-359B-63B9-005DF6B79B53}"/>
              </a:ext>
            </a:extLst>
          </p:cNvPr>
          <p:cNvSpPr txBox="1"/>
          <p:nvPr/>
        </p:nvSpPr>
        <p:spPr>
          <a:xfrm>
            <a:off x="7848600" y="2489200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900" b="1">
                <a:solidFill>
                  <a:srgbClr val="C55A11"/>
                </a:solidFill>
                <a:latin typeface="Arial" panose="020B0604020202020204" pitchFamily="34" charset="0"/>
              </a:rPr>
              <a:t>POSITIVE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595959"/>
                </a:solidFill>
                <a:latin typeface="Arial" panose="020B0604020202020204" pitchFamily="34" charset="0"/>
              </a:rPr>
              <a:t>Test A: fits codeine, heroin, morphine</a:t>
            </a:r>
            <a:endParaRPr lang="en-IN" sz="8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D6C3A022-B438-AC27-9646-73D931B0189D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9245600" y="1524000"/>
            <a:ext cx="1270000" cy="939800"/>
          </a:xfrm>
          <a:prstGeom prst="rect">
            <a:avLst/>
          </a:prstGeom>
          <a:ln w="9525">
            <a:solidFill>
              <a:srgbClr val="B4C7E7"/>
            </a:solidFill>
          </a:ln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5B9930CE-51DC-5147-72B9-25FDB93EEF53}"/>
              </a:ext>
            </a:extLst>
          </p:cNvPr>
          <p:cNvSpPr txBox="1"/>
          <p:nvPr/>
        </p:nvSpPr>
        <p:spPr>
          <a:xfrm>
            <a:off x="9220200" y="2489200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900" b="1">
                <a:solidFill>
                  <a:srgbClr val="2E7D32"/>
                </a:solidFill>
                <a:latin typeface="Arial" panose="020B0604020202020204" pitchFamily="34" charset="0"/>
              </a:rPr>
              <a:t>NEGATIVE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595959"/>
                </a:solidFill>
                <a:latin typeface="Arial" panose="020B0604020202020204" pitchFamily="34" charset="0"/>
              </a:rPr>
              <a:t>Test A: no colour change vs blank</a:t>
            </a:r>
            <a:endParaRPr lang="en-IN" sz="8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8A955057-517A-D09F-586C-5B56AC33AE11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0617200" y="1524000"/>
            <a:ext cx="1270000" cy="939800"/>
          </a:xfrm>
          <a:prstGeom prst="rect">
            <a:avLst/>
          </a:prstGeom>
          <a:ln w="9525">
            <a:solidFill>
              <a:srgbClr val="B4C7E7"/>
            </a:solidFill>
          </a:ln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A263AC66-F2FB-0F02-3CA8-7C715F70A3E5}"/>
              </a:ext>
            </a:extLst>
          </p:cNvPr>
          <p:cNvSpPr txBox="1"/>
          <p:nvPr/>
        </p:nvSpPr>
        <p:spPr>
          <a:xfrm>
            <a:off x="10591800" y="2489200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900" b="1">
                <a:solidFill>
                  <a:srgbClr val="7F7F7F"/>
                </a:solidFill>
                <a:latin typeface="Arial" panose="020B0604020202020204" pitchFamily="34" charset="0"/>
              </a:rPr>
              <a:t>INCONCLUSIVE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595959"/>
                </a:solidFill>
                <a:latin typeface="Arial" panose="020B0604020202020204" pitchFamily="34" charset="0"/>
              </a:rPr>
              <a:t>Test C: kit chart not printed</a:t>
            </a:r>
            <a:endParaRPr lang="en-IN" sz="8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AE44057-04FD-2678-AB5F-D4D6D6464D79}"/>
              </a:ext>
            </a:extLst>
          </p:cNvPr>
          <p:cNvSpPr txBox="1"/>
          <p:nvPr/>
        </p:nvSpPr>
        <p:spPr>
          <a:xfrm>
            <a:off x="7874000" y="2971800"/>
            <a:ext cx="4013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850" i="1">
                <a:solidFill>
                  <a:srgbClr val="595959"/>
                </a:solidFill>
                <a:latin typeface="Arial" panose="020B0604020202020204" pitchFamily="34" charset="0"/>
              </a:rPr>
              <a:t>Real reference code on camera-model photos: finds the card, corrects the light, reads the well against the blank, decides, then signs and chains the record; the raid verifies offline.</a:t>
            </a:r>
            <a:endParaRPr lang="en-IN" sz="850" i="1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9CBEC64-B2C3-8D98-60F0-C02EC8A462FE}"/>
              </a:ext>
            </a:extLst>
          </p:cNvPr>
          <p:cNvSpPr txBox="1"/>
          <p:nvPr/>
        </p:nvSpPr>
        <p:spPr>
          <a:xfrm>
            <a:off x="7874000" y="3581400"/>
            <a:ext cx="4013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IMPLEMENTATION STATUS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D924A83-9BCD-855A-BAA9-CDAD9EF1FC40}"/>
              </a:ext>
            </a:extLst>
          </p:cNvPr>
          <p:cNvSpPr/>
          <p:nvPr/>
        </p:nvSpPr>
        <p:spPr>
          <a:xfrm>
            <a:off x="7874000" y="38608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B5053F7-21C4-EE0C-2C2B-CFE1A79018ED}"/>
              </a:ext>
            </a:extLst>
          </p:cNvPr>
          <p:cNvSpPr txBox="1"/>
          <p:nvPr/>
        </p:nvSpPr>
        <p:spPr>
          <a:xfrm>
            <a:off x="8737600" y="3835400"/>
            <a:ext cx="314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Python reference prototype + one-command demo, 65 automated test cases: github.com/Harshith029/fieldtest-recorder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0A0BEA18-13F9-4A35-28C0-7EBBA399FE2E}"/>
              </a:ext>
            </a:extLst>
          </p:cNvPr>
          <p:cNvSpPr/>
          <p:nvPr/>
        </p:nvSpPr>
        <p:spPr>
          <a:xfrm>
            <a:off x="7874000" y="43688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99A090E-0A91-67C9-0662-10198E031188}"/>
              </a:ext>
            </a:extLst>
          </p:cNvPr>
          <p:cNvSpPr txBox="1"/>
          <p:nvPr/>
        </p:nvSpPr>
        <p:spPr>
          <a:xfrm>
            <a:off x="8737600" y="4343400"/>
            <a:ext cx="314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Colour, liveness, night-light and amount experiments on simulated photos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863304CF-B8E6-4135-436E-D0B4C15E2354}"/>
              </a:ext>
            </a:extLst>
          </p:cNvPr>
          <p:cNvSpPr/>
          <p:nvPr/>
        </p:nvSpPr>
        <p:spPr>
          <a:xfrm>
            <a:off x="7874000" y="4876800"/>
            <a:ext cx="355600" cy="139700"/>
          </a:xfrm>
          <a:prstGeom prst="roundRect">
            <a:avLst>
              <a:gd name="adj" fmla="val 50000"/>
            </a:avLst>
          </a:prstGeom>
          <a:solidFill>
            <a:srgbClr val="7F7F7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NEXT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7A7BAD0-6664-7E15-0293-B93D238BFC55}"/>
              </a:ext>
            </a:extLst>
          </p:cNvPr>
          <p:cNvSpPr txBox="1"/>
          <p:nvPr/>
        </p:nvSpPr>
        <p:spPr>
          <a:xfrm>
            <a:off x="8737600" y="4851400"/>
            <a:ext cx="314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Android app; printed-card and real-reaction validation with NCB/CFSL chemists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0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  <a:endParaRPr lang="en-US" sz="30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/>
              <a:t>Darth CodersUNI</a:t>
            </a:r>
            <a:endParaRPr lang="en-IN" sz="11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EC18F1F-0851-67E4-D90E-4DA4C1551D0F}"/>
              </a:ext>
            </a:extLst>
          </p:cNvPr>
          <p:cNvSpPr/>
          <p:nvPr/>
        </p:nvSpPr>
        <p:spPr>
          <a:xfrm>
            <a:off x="279400" y="1219200"/>
            <a:ext cx="2794000" cy="121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242585-2AF3-519F-F9FB-600C1F1707CC}"/>
              </a:ext>
            </a:extLst>
          </p:cNvPr>
          <p:cNvSpPr txBox="1"/>
          <p:nvPr/>
        </p:nvSpPr>
        <p:spPr>
          <a:xfrm>
            <a:off x="406400" y="1295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2600" b="1">
                <a:solidFill>
                  <a:srgbClr val="0070C0"/>
                </a:solidFill>
                <a:latin typeface="Arial" panose="020B0604020202020204" pitchFamily="34" charset="0"/>
              </a:rPr>
              <a:t>18/18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AFAC2E-68EF-3DA3-8CFB-27286C43693D}"/>
              </a:ext>
            </a:extLst>
          </p:cNvPr>
          <p:cNvSpPr txBox="1"/>
          <p:nvPr/>
        </p:nvSpPr>
        <p:spPr>
          <a:xfrm>
            <a:off x="406400" y="1778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of our tampering attacks caught by the verifier, incl. insider-admin forgery and deleted records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2F55FEF-F432-3816-D48A-E5C574484FAE}"/>
              </a:ext>
            </a:extLst>
          </p:cNvPr>
          <p:cNvSpPr/>
          <p:nvPr/>
        </p:nvSpPr>
        <p:spPr>
          <a:xfrm>
            <a:off x="2159000" y="12954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25E2B43-F845-DCE4-7252-149434E0FFDA}"/>
              </a:ext>
            </a:extLst>
          </p:cNvPr>
          <p:cNvSpPr/>
          <p:nvPr/>
        </p:nvSpPr>
        <p:spPr>
          <a:xfrm>
            <a:off x="3200400" y="1219200"/>
            <a:ext cx="2794000" cy="121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433A0D-A55E-FA94-AFBF-E495F013A635}"/>
              </a:ext>
            </a:extLst>
          </p:cNvPr>
          <p:cNvSpPr txBox="1"/>
          <p:nvPr/>
        </p:nvSpPr>
        <p:spPr>
          <a:xfrm>
            <a:off x="3327400" y="1295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2600" b="1">
                <a:solidFill>
                  <a:srgbClr val="0070C0"/>
                </a:solidFill>
                <a:latin typeface="Arial" panose="020B0604020202020204" pitchFamily="34" charset="0"/>
              </a:rPr>
              <a:t>15/15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277E81-EB48-0419-234E-8FCD9BEE982E}"/>
              </a:ext>
            </a:extLst>
          </p:cNvPr>
          <p:cNvSpPr txBox="1"/>
          <p:nvPr/>
        </p:nvSpPr>
        <p:spPr>
          <a:xfrm>
            <a:off x="3327400" y="1778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sync and failure scenarios handled by the reference sync protocol, incl. an old-backup restore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CE55BAA-3777-B4AF-1A55-63BCB4B11335}"/>
              </a:ext>
            </a:extLst>
          </p:cNvPr>
          <p:cNvSpPr/>
          <p:nvPr/>
        </p:nvSpPr>
        <p:spPr>
          <a:xfrm>
            <a:off x="5080000" y="12954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E71A4EB-00AB-AA90-4503-CFC8D8E1FA5E}"/>
              </a:ext>
            </a:extLst>
          </p:cNvPr>
          <p:cNvSpPr/>
          <p:nvPr/>
        </p:nvSpPr>
        <p:spPr>
          <a:xfrm>
            <a:off x="6121400" y="1219200"/>
            <a:ext cx="2794000" cy="121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6703AD-A582-29FC-A216-70795E8E27B1}"/>
              </a:ext>
            </a:extLst>
          </p:cNvPr>
          <p:cNvSpPr txBox="1"/>
          <p:nvPr/>
        </p:nvSpPr>
        <p:spPr>
          <a:xfrm>
            <a:off x="6248400" y="1295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2600" b="1">
                <a:solidFill>
                  <a:srgbClr val="0070C0"/>
                </a:solidFill>
                <a:latin typeface="Arial" panose="020B0604020202020204" pitchFamily="34" charset="0"/>
              </a:rPr>
              <a:t>11.7% → 0%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C7604D-E3FE-2793-061E-6E9DEE562683}"/>
              </a:ext>
            </a:extLst>
          </p:cNvPr>
          <p:cNvSpPr txBox="1"/>
          <p:nvPr/>
        </p:nvSpPr>
        <p:spPr>
          <a:xfrm>
            <a:off x="6248400" y="1778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false positives as sample amount varies: our first single-point rule vs colour bands (published US colours)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A36116F-6877-E703-1C25-B298A6C95798}"/>
              </a:ext>
            </a:extLst>
          </p:cNvPr>
          <p:cNvSpPr/>
          <p:nvPr/>
        </p:nvSpPr>
        <p:spPr>
          <a:xfrm>
            <a:off x="8178800" y="12954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059AA34-D595-AACE-E56F-7E39A70A4B23}"/>
              </a:ext>
            </a:extLst>
          </p:cNvPr>
          <p:cNvSpPr/>
          <p:nvPr/>
        </p:nvSpPr>
        <p:spPr>
          <a:xfrm>
            <a:off x="9042400" y="1219200"/>
            <a:ext cx="2794000" cy="121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6CE8630-D64D-3080-2798-A1A339C72EE8}"/>
              </a:ext>
            </a:extLst>
          </p:cNvPr>
          <p:cNvSpPr txBox="1"/>
          <p:nvPr/>
        </p:nvSpPr>
        <p:spPr>
          <a:xfrm>
            <a:off x="9169400" y="1295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2600" b="1">
                <a:solidFill>
                  <a:srgbClr val="0070C0"/>
                </a:solidFill>
                <a:latin typeface="Arial" panose="020B0604020202020204" pitchFamily="34" charset="0"/>
              </a:rPr>
              <a:t>≤ 1%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27A46C-FB8E-D847-1979-9611CD014375}"/>
              </a:ext>
            </a:extLst>
          </p:cNvPr>
          <p:cNvSpPr txBox="1"/>
          <p:nvPr/>
        </p:nvSpPr>
        <p:spPr>
          <a:xfrm>
            <a:off x="9169400" y="1778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false-positive target for real-kit validation: 1,296 captures, 3 sample amounts, 95% confidence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1BCE118-7E6A-7EC4-F662-587617A0FD66}"/>
              </a:ext>
            </a:extLst>
          </p:cNvPr>
          <p:cNvSpPr/>
          <p:nvPr/>
        </p:nvSpPr>
        <p:spPr>
          <a:xfrm>
            <a:off x="11353800" y="1295400"/>
            <a:ext cx="355600" cy="139700"/>
          </a:xfrm>
          <a:prstGeom prst="roundRect">
            <a:avLst>
              <a:gd name="adj" fmla="val 50000"/>
            </a:avLst>
          </a:prstGeom>
          <a:solidFill>
            <a:srgbClr val="7F7F7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NEXT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4CDAC-F37F-42B0-9A75-CC5E6D11478C}"/>
              </a:ext>
            </a:extLst>
          </p:cNvPr>
          <p:cNvSpPr txBox="1"/>
          <p:nvPr/>
        </p:nvSpPr>
        <p:spPr>
          <a:xfrm>
            <a:off x="279400" y="25908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POTENTIAL CHALLENGES, RISKS AND STRATEGIES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CD44A3AE-243A-47AD-B8BE-5780D8AFD0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931555"/>
              </p:ext>
            </p:extLst>
          </p:nvPr>
        </p:nvGraphicFramePr>
        <p:xfrm>
          <a:off x="279400" y="2819400"/>
          <a:ext cx="7620000" cy="330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2677958420"/>
                    </a:ext>
                  </a:extLst>
                </a:gridCol>
                <a:gridCol w="5080000">
                  <a:extLst>
                    <a:ext uri="{9D8B030D-6E8A-4147-A177-3AD203B41FA5}">
                      <a16:colId xmlns:a16="http://schemas.microsoft.com/office/drawing/2014/main" val="3689495926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Challenge / risk</a:t>
                      </a:r>
                    </a:p>
                  </a:txBody>
                  <a:tcPr marL="76200" marR="76200" marT="76200" marB="762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Strategy</a:t>
                      </a:r>
                    </a:p>
                  </a:txBody>
                  <a:tcPr marL="76200" marR="76200" marT="76200" marB="762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199937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Real reaction colours differ from the printed chart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Validation by NCB/CFSL chemists under their licences: 1,296 captures at 3 sample amounts; we never handle narcotics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213502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Phones and light vary; glare; night raids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Reference card + RAW capture and a bad-light gate (prototype); say "inconclusive" rather than guess; flash/no-flash night mode (simulated, not yet integrated)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428099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Staged or swapped sample; contaminated blank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A blank that shows a reaction colour gives inconclusive, never negative (prototype). Planned: capture from before the drop, liveness check (simulated so far), package label in frame, s.105 video link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281276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Rooted phone, insider, deleted records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Supervisor-signed binding, panchnama anchor, untrusted server (prototype); hardware keys + attestation (designed; checker prototyped)</a:t>
                      </a:r>
                    </a:p>
                  </a:txBody>
                  <a:tcPr marL="76200" marR="76200" marT="76200" marB="762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390448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Access to SIMS / e-Sakshya not confirmed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File exports first; the engine is designed as an SDK that e-Sakshya could embed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3841313"/>
                  </a:ext>
                </a:extLst>
              </a:tr>
            </a:tbl>
          </a:graphicData>
        </a:graphic>
      </p:graphicFrame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4A137E20-5053-29CD-2945-C158188B96ED}"/>
              </a:ext>
            </a:extLst>
          </p:cNvPr>
          <p:cNvSpPr/>
          <p:nvPr/>
        </p:nvSpPr>
        <p:spPr>
          <a:xfrm>
            <a:off x="8102600" y="2590800"/>
            <a:ext cx="3810000" cy="3632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6277FC-EACC-19A9-5EDD-5505102A0FA7}"/>
              </a:ext>
            </a:extLst>
          </p:cNvPr>
          <p:cNvSpPr txBox="1"/>
          <p:nvPr/>
        </p:nvSpPr>
        <p:spPr>
          <a:xfrm>
            <a:off x="8255000" y="2692400"/>
            <a:ext cx="353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FEASIBILITY ANALYSIS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EFA665E-F61A-EC0D-F5EA-7C999087ECAD}"/>
              </a:ext>
            </a:extLst>
          </p:cNvPr>
          <p:cNvSpPr txBox="1"/>
          <p:nvPr/>
        </p:nvSpPr>
        <p:spPr>
          <a:xfrm>
            <a:off x="8255000" y="2971800"/>
            <a:ext cx="353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Bef>
                <a:spcPts val="0"/>
              </a:spcBef>
              <a:spcAft>
                <a:spcPts val="9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Existing kit, existing phones: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NCB already supplies the kit free; the additions are a printed colour card per kit and a few reagent drops for the blank well.</a:t>
            </a:r>
          </a:p>
          <a:p>
            <a:pPr marL="127000" indent="-127000">
              <a:spcBef>
                <a:spcPts val="0"/>
              </a:spcBef>
              <a:spcAft>
                <a:spcPts val="9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Small infrastructure (estimate):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one app server pair, PostgreSQL, 1–3 TB a year of storage on NIC or MeitY-empanelled cloud.</a:t>
            </a:r>
          </a:p>
          <a:p>
            <a:pPr marL="127000" indent="-127000">
              <a:spcBef>
                <a:spcPts val="0"/>
              </a:spcBef>
              <a:spcAft>
                <a:spcPts val="9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Government-owned by design: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NCB would hold the signing keys, the colour standard and the code; open formats, no per-device licence fees.</a:t>
            </a:r>
          </a:p>
          <a:p>
            <a:pPr marL="127000" indent="-127000">
              <a:spcBef>
                <a:spcPts val="0"/>
              </a:spcBef>
              <a:spcAft>
                <a:spcPts val="9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Pass criteria set in advance: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false positives at most 1%, proven at 95% confidence (at least 299 negative controls); "inconclusive" at most 15%.</a:t>
            </a:r>
          </a:p>
          <a:p>
            <a:pPr marL="127000" indent="-127000"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Clear status: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every number is labelled proven in code, simulated or next. No real phone photo or real reaction has been tested yet; that is the next stage.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2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  <a:endParaRPr lang="en-US" sz="32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/>
              <a:t>Darth CodersUNI</a:t>
            </a:r>
            <a:endParaRPr lang="en-IN" sz="11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E96027-D99A-06D8-7404-3904F5475534}"/>
              </a:ext>
            </a:extLst>
          </p:cNvPr>
          <p:cNvSpPr txBox="1"/>
          <p:nvPr/>
        </p:nvSpPr>
        <p:spPr>
          <a:xfrm>
            <a:off x="279400" y="1244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POTENTIAL IMPACT ON THE TARGET AUDIENCE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D2EB0FC-9217-09E9-8D62-E5E5E11FA425}"/>
              </a:ext>
            </a:extLst>
          </p:cNvPr>
          <p:cNvSpPr/>
          <p:nvPr/>
        </p:nvSpPr>
        <p:spPr>
          <a:xfrm>
            <a:off x="279400" y="1524000"/>
            <a:ext cx="457200" cy="457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FFFFFF"/>
                </a:solidFill>
                <a:latin typeface="Arial" panose="020B0604020202020204" pitchFamily="34" charset="0"/>
              </a:rPr>
              <a:t>SO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24EF13-E8C5-A05A-41EE-DB66D7F5D97B}"/>
              </a:ext>
            </a:extLst>
          </p:cNvPr>
          <p:cNvSpPr txBox="1"/>
          <p:nvPr/>
        </p:nvSpPr>
        <p:spPr>
          <a:xfrm>
            <a:off x="863600" y="14986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Seizing officer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A guided test and a signed record that shows good-faith action; planned: Field Test Memo and Form-1 item 5 filled in.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DA39D64-B954-6A04-CCA2-0A8F6B6404A1}"/>
              </a:ext>
            </a:extLst>
          </p:cNvPr>
          <p:cNvSpPr/>
          <p:nvPr/>
        </p:nvSpPr>
        <p:spPr>
          <a:xfrm>
            <a:off x="279400" y="2336800"/>
            <a:ext cx="457200" cy="457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FFFFFF"/>
                </a:solidFill>
                <a:latin typeface="Arial" panose="020B0604020202020204" pitchFamily="34" charset="0"/>
              </a:rPr>
              <a:t>IO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F9891F-1510-88E2-B03D-8A2993800F3D}"/>
              </a:ext>
            </a:extLst>
          </p:cNvPr>
          <p:cNvSpPr txBox="1"/>
          <p:nvPr/>
        </p:nvSpPr>
        <p:spPr>
          <a:xfrm>
            <a:off x="863600" y="23114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Investigating officer, prosecutor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Checkable records for remand and bail; planned: a Rule 10(2) grouping check and the lab result linked back.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C18111-D6B1-1ACF-7F32-0D9343E087A7}"/>
              </a:ext>
            </a:extLst>
          </p:cNvPr>
          <p:cNvSpPr/>
          <p:nvPr/>
        </p:nvSpPr>
        <p:spPr>
          <a:xfrm>
            <a:off x="279400" y="3149600"/>
            <a:ext cx="457200" cy="457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FFFFFF"/>
                </a:solidFill>
                <a:latin typeface="Arial" panose="020B0604020202020204" pitchFamily="34" charset="0"/>
              </a:rPr>
              <a:t>CT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2405D9-C41F-1BC2-B004-7709DD3FEFF8}"/>
              </a:ext>
            </a:extLst>
          </p:cNvPr>
          <p:cNvSpPr txBox="1"/>
          <p:nvPr/>
        </p:nvSpPr>
        <p:spPr>
          <a:xfrm>
            <a:off x="863600" y="31242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Courts, defence, the accused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Any expert can re-check the record offline; the quantity category is flagged as uncertain until the lab confirms.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A3326DD-61F4-158F-DA7E-69707DAE2808}"/>
              </a:ext>
            </a:extLst>
          </p:cNvPr>
          <p:cNvSpPr/>
          <p:nvPr/>
        </p:nvSpPr>
        <p:spPr>
          <a:xfrm>
            <a:off x="279400" y="3962400"/>
            <a:ext cx="457200" cy="457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FFFFFF"/>
                </a:solidFill>
                <a:latin typeface="Arial" panose="020B0604020202020204" pitchFamily="34" charset="0"/>
              </a:rPr>
              <a:t>HQ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37C1F9-76F3-F655-EB36-7968A3F282DA}"/>
              </a:ext>
            </a:extLst>
          </p:cNvPr>
          <p:cNvSpPr txBox="1"/>
          <p:nvPr/>
        </p:nvSpPr>
        <p:spPr>
          <a:xfrm>
            <a:off x="863600" y="39370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NCB headquarters and labs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Planned: field-vs-lab accuracy per kit batch and per test, from lab reports the IO already receives.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EA635B-DA5A-1C53-113E-D97E7F990D40}"/>
              </a:ext>
            </a:extLst>
          </p:cNvPr>
          <p:cNvSpPr txBox="1"/>
          <p:nvPr/>
        </p:nvSpPr>
        <p:spPr>
          <a:xfrm>
            <a:off x="5842000" y="1244600"/>
            <a:ext cx="607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WHAT CHANGES FOR ONE SEIZURE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72BF5A18-EAA2-5B55-B3CF-5269E63155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845936"/>
              </p:ext>
            </p:extLst>
          </p:nvPr>
        </p:nvGraphicFramePr>
        <p:xfrm>
          <a:off x="5842000" y="1498600"/>
          <a:ext cx="6070600" cy="330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67000">
                  <a:extLst>
                    <a:ext uri="{9D8B030D-6E8A-4147-A177-3AD203B41FA5}">
                      <a16:colId xmlns:a16="http://schemas.microsoft.com/office/drawing/2014/main" val="2682832351"/>
                    </a:ext>
                  </a:extLst>
                </a:gridCol>
                <a:gridCol w="3403600">
                  <a:extLst>
                    <a:ext uri="{9D8B030D-6E8A-4147-A177-3AD203B41FA5}">
                      <a16:colId xmlns:a16="http://schemas.microsoft.com/office/drawing/2014/main" val="4071813435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Today (paper)</a:t>
                      </a:r>
                    </a:p>
                  </a:txBody>
                  <a:tcPr marL="63500" marR="63500" marT="38100" marB="38100"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With FieldTest Recorder</a:t>
                      </a:r>
                    </a:p>
                  </a:txBody>
                  <a:tcPr marL="63500" marR="63500" marT="38100" marB="381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665695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Colour judged by eye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Measured against a signed colour standard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108621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"Dark brown" written in the panchnama</a:t>
                      </a:r>
                      <a:endParaRPr lang="en-IN" sz="950" b="0" i="0">
                        <a:solidFill>
                          <a:srgbClr val="595959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Photo + reading + every drug on the kit chart the colour fits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132338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No proof of time or place</a:t>
                      </a:r>
                      <a:endParaRPr lang="en-IN" sz="950" b="0" i="0">
                        <a:solidFill>
                          <a:srgbClr val="595959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Signed time, GNSS time, GPS and officer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3193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Records can be rewritten later</a:t>
                      </a:r>
                      <a:endParaRPr lang="en-IN" sz="950" b="0" i="0">
                        <a:solidFill>
                          <a:srgbClr val="595959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Deletions and re-runs are detectable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749783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Quantity category guessed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Flagged when it can't be told in the field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345161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No kit accuracy data</a:t>
                      </a: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Field result vs lab result, per kit batch (planned)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1393835"/>
                  </a:ext>
                </a:extLst>
              </a:tr>
            </a:tbl>
          </a:graphicData>
        </a:graphic>
      </p:graphicFrame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779D86C-BD40-D49C-0D9C-AE7CAB834078}"/>
              </a:ext>
            </a:extLst>
          </p:cNvPr>
          <p:cNvSpPr/>
          <p:nvPr/>
        </p:nvSpPr>
        <p:spPr>
          <a:xfrm>
            <a:off x="5842000" y="3606800"/>
            <a:ext cx="60706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4C83E0-BF16-8E06-69F4-6DFD68B000DF}"/>
              </a:ext>
            </a:extLst>
          </p:cNvPr>
          <p:cNvSpPr txBox="1"/>
          <p:nvPr/>
        </p:nvSpPr>
        <p:spPr>
          <a:xfrm>
            <a:off x="5994400" y="3708400"/>
            <a:ext cx="5765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Why a field report must not overstate: a real case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 b="1">
                <a:solidFill>
                  <a:srgbClr val="262626"/>
                </a:solidFill>
                <a:latin typeface="Arial" panose="020B0604020202020204" pitchFamily="34" charset="0"/>
              </a:rPr>
              <a:t>Anuraj v. State of Kerala (2024): </a:t>
            </a: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police alleged commercial-quantity MDMA; the lab found methamphetamine in intermediate quantity (MDMA 0.5 g / 10 g vs methamphetamine 2 g / 50 g). Our record states only what the kit's colour supports, lists every drug on the kit chart that the colour fits, and warns when they fall under different NDPS thresholds.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AA0421F-66FE-D722-CE57-71C0AA9A036D}"/>
              </a:ext>
            </a:extLst>
          </p:cNvPr>
          <p:cNvSpPr/>
          <p:nvPr/>
        </p:nvSpPr>
        <p:spPr>
          <a:xfrm>
            <a:off x="279400" y="4826000"/>
            <a:ext cx="11633200" cy="13716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B02895-5D61-A86F-65B9-F3EADA746911}"/>
              </a:ext>
            </a:extLst>
          </p:cNvPr>
          <p:cNvSpPr txBox="1"/>
          <p:nvPr/>
        </p:nvSpPr>
        <p:spPr>
          <a:xfrm>
            <a:off x="431800" y="5003800"/>
            <a:ext cx="271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Social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Fairer remand and bail decisions; fewer cases lost on procedure; honest officers protected.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9FDE37-82D1-E66B-53FA-AC6EFF1CA11C}"/>
              </a:ext>
            </a:extLst>
          </p:cNvPr>
          <p:cNvSpPr txBox="1"/>
          <p:nvPr/>
        </p:nvSpPr>
        <p:spPr>
          <a:xfrm>
            <a:off x="3327400" y="5003800"/>
            <a:ext cx="271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Economic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No new hardware; reuses the free NCB kit and officers' phones; small hosting cost.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03DB06-5FFE-7FD2-2CD8-D93715AEA45C}"/>
              </a:ext>
            </a:extLst>
          </p:cNvPr>
          <p:cNvSpPr txBox="1"/>
          <p:nvPr/>
        </p:nvSpPr>
        <p:spPr>
          <a:xfrm>
            <a:off x="6223000" y="5003800"/>
            <a:ext cx="271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Environmental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Paperless records; the only extra consumables are a printed card per kit and blank-well reagent drops.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F9FFD6-1A81-23CC-C593-2C4B7D33E14B}"/>
              </a:ext>
            </a:extLst>
          </p:cNvPr>
          <p:cNvSpPr txBox="1"/>
          <p:nvPr/>
        </p:nvSpPr>
        <p:spPr>
          <a:xfrm>
            <a:off x="9118600" y="5003800"/>
            <a:ext cx="271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Scale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1,15,236 NDPS cases in 2022 (MHA); each seized package can get a recorded field test.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0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  <a:endParaRPr lang="en-US" sz="30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/>
              <a:t>Darth CodersUNI</a:t>
            </a:r>
            <a:endParaRPr lang="en-IN" sz="1100" b="1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F48809A-BD24-38C2-D902-B97B1030F3BD}"/>
              </a:ext>
            </a:extLst>
          </p:cNvPr>
          <p:cNvSpPr txBox="1"/>
          <p:nvPr/>
        </p:nvSpPr>
        <p:spPr>
          <a:xfrm>
            <a:off x="279400" y="1270000"/>
            <a:ext cx="5664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SIH26231 problem statement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Narcotics Control Bureau, MHA; sih.gov.in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[2]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NCB Narcotic Drugs Detection Kit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NICFS, A Forensic Guide for Crime Investigators, ch. 8, Figs 8.12–8.16 (Tests A–E, flow charts)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[3]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NDPS (Seizure, Storage, Sampling and Disposal) Rules 2022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GSR 899(E): Rules 3, 5, 10(2), 13, 14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[4]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Sagar Parshuram Joshi v. State of Maharashtra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Bombay HC, 15 Jan 2021 (indiankanoon.org/doc/90970274)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[5]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Masibur Khan v. State</a:t>
            </a:r>
            <a:r>
              <a:rPr lang="en-IN" sz="1050">
                <a:solidFill>
                  <a:srgbClr val="595959"/>
                </a:solidFill>
                <a:latin typeface="Arial" panose="020B0604020202020204" pitchFamily="34" charset="0"/>
              </a:rPr>
              <a:t> — Delhi HC, 31 May 2023 (indiankanoon.org/doc/91398841)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[6]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Anuraj v. State of Kerala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Kerala HC, 2024: alleged MDMA found to be methamphetamine</a:t>
            </a:r>
            <a:endParaRPr lang="en-IN" sz="105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3451EF-9D34-F202-F35D-3EE951B457B9}"/>
              </a:ext>
            </a:extLst>
          </p:cNvPr>
          <p:cNvSpPr txBox="1"/>
          <p:nvPr/>
        </p:nvSpPr>
        <p:spPr>
          <a:xfrm>
            <a:off x="6121400" y="1270000"/>
            <a:ext cx="5664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[7]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NDPS small and commercial quantities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S.O. 1055(E), 19 Oct 2001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[8]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NCB Drug Law Enforcement Field Officers' Handbook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narcoticsindia.nic.in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[9]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BPR&amp;D SOP: audio-video recording under BNSS; BSA 2023 s.63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hash value in the electronic-record certificate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[10]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NIJ Standard-0604.01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Color Test Reagents/Kits for Preliminary Identification of Drugs of Abuse (US DoJ)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[11]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Android key attestation; RFC 8785 (JSON canonicalisation)</a:t>
            </a:r>
            <a:r>
              <a:rPr lang="en-IN" sz="1050">
                <a:solidFill>
                  <a:srgbClr val="595959"/>
                </a:solidFill>
                <a:latin typeface="Arial" panose="020B0604020202020204" pitchFamily="34" charset="0"/>
              </a:rPr>
              <a:t> — developer.android.com; rfc-editor.org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[12]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MHA Rajya Sabha USQ 1832 (11 Dec 2024)</a:t>
            </a:r>
            <a:r>
              <a:rPr lang="en-IN" sz="1050">
                <a:solidFill>
                  <a:srgbClr val="595959"/>
                </a:solidFill>
                <a:latin typeface="Arial" panose="020B0604020202020204" pitchFamily="34" charset="0"/>
              </a:rPr>
              <a:t> — NDPS case statistics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314D5B-3FF1-5F06-A08E-4BF3FFED9B21}"/>
              </a:ext>
            </a:extLst>
          </p:cNvPr>
          <p:cNvSpPr/>
          <p:nvPr/>
        </p:nvSpPr>
        <p:spPr>
          <a:xfrm>
            <a:off x="279400" y="4089400"/>
            <a:ext cx="11633200" cy="2108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D77E01-41AF-3EDC-8795-214A683E8C7F}"/>
              </a:ext>
            </a:extLst>
          </p:cNvPr>
          <p:cNvSpPr txBox="1"/>
          <p:nvPr/>
        </p:nvSpPr>
        <p:spPr>
          <a:xfrm>
            <a:off x="431800" y="4216400"/>
            <a:ext cx="1132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OUR CODE AND RESEARCH: </a:t>
            </a:r>
            <a:r>
              <a:rPr lang="en-IN" sz="1200" b="1">
                <a:solidFill>
                  <a:srgbClr val="0070C0"/>
                </a:solidFill>
                <a:latin typeface="Arial" panose="020B0604020202020204" pitchFamily="34" charset="0"/>
                <a:hlinkClick r:id="rId4"/>
              </a:rPr>
              <a:t>github.com/Harshith029/fieldtest-recorder</a:t>
            </a:r>
            <a:endParaRPr lang="en-IN" sz="1200" b="1">
              <a:solidFill>
                <a:srgbClr val="0070C0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A2F483-4714-27D4-30D5-0FFB3A38DCCD}"/>
              </a:ext>
            </a:extLst>
          </p:cNvPr>
          <p:cNvSpPr txBox="1"/>
          <p:nvPr/>
        </p:nvSpPr>
        <p:spPr>
          <a:xfrm>
            <a:off x="431800" y="4495800"/>
            <a:ext cx="1132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Bef>
                <a:spcPts val="0"/>
              </a:spcBef>
              <a:spcAft>
                <a:spcPts val="7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Working Python reference prototype with a one-command demo and 65 automated test cases: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record format and offline verifier, colour engine, NCB kit protocol, searchable log, sync protocol. Photos in the demo are simulated; the Android app must match its outputs.</a:t>
            </a:r>
          </a:p>
          <a:p>
            <a:pPr marL="127000" indent="-127000">
              <a:spcBef>
                <a:spcPts val="0"/>
              </a:spcBef>
              <a:spcAft>
                <a:spcPts val="7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17 experiments with 95% confidence intervals,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including 18 tampering attacks and 15 failure scenarios (real code) and colour, sample-amount, night-light and staged-sample tests (simulated photos).</a:t>
            </a:r>
          </a:p>
          <a:p>
            <a:pPr marL="127000" indent="-127000">
              <a:spcBef>
                <a:spcPts val="0"/>
              </a:spcBef>
              <a:spcAft>
                <a:spcPts val="7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Reviewed adversarially, claim by claim: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confirmed defects are either fixed and re-tested or listed openly in the repository's problem register.</a:t>
            </a:r>
          </a:p>
          <a:p>
            <a:pPr marL="127000" indent="-127000"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Safety and law: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our team never handles narcotics; colour tests use published colours, the kit chart and safe dyes. Real-kit validation is designed for NCB or CFSL chemists.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2192</Words>
  <Application>Microsoft Office PowerPoint</Application>
  <PresentationFormat>Widescreen</PresentationFormat>
  <Paragraphs>209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Consolas</vt:lpstr>
      <vt:lpstr>Garamond</vt:lpstr>
      <vt:lpstr>Times New Roman</vt:lpstr>
      <vt:lpstr>TradeGothic</vt:lpstr>
      <vt:lpstr>Office Theme</vt:lpstr>
      <vt:lpstr>SMART INDIA HACKATHON 2026</vt:lpstr>
      <vt:lpstr>FieldTest Recorder</vt:lpstr>
      <vt:lpstr>TECHNICAL APPROACH</vt:lpstr>
      <vt:lpstr>FEASIBILITY AND VIABILITY</vt:lpstr>
      <vt:lpstr>IMPACT AND BENEFITS</vt:lpstr>
      <vt:lpstr>RESEARCH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Harshith Pali</cp:lastModifiedBy>
  <cp:revision>149</cp:revision>
  <dcterms:created xsi:type="dcterms:W3CDTF">2013-12-12T18:46:50Z</dcterms:created>
  <dcterms:modified xsi:type="dcterms:W3CDTF">2026-09-30T11:03:35Z</dcterms:modified>
  <cp:category/>
</cp:coreProperties>
</file>