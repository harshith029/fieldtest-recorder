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Harshith029/fieldtest-record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FieldTest Recorder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588000" cy="3118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SIH26231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Digital Companion for Field Drug Testing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MedTech / BioTech / HealthTech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152041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Darth CodersUNI</a:t>
            </a:r>
            <a:endParaRPr lang="en-IN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4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FieldTest Recorder</a:t>
            </a:r>
            <a:endParaRPr lang="en-US" sz="34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E1323E-2F1A-3B7A-0DD6-233304EC9668}"/>
              </a:ext>
            </a:extLst>
          </p:cNvPr>
          <p:cNvSpPr txBox="1"/>
          <p:nvPr/>
        </p:nvSpPr>
        <p:spPr>
          <a:xfrm>
            <a:off x="1778000" y="812800"/>
            <a:ext cx="7937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0" i="1">
                <a:solidFill>
                  <a:srgbClr val="1F3864"/>
                </a:solidFill>
                <a:latin typeface="Arial" panose="020B0604020202020204" pitchFamily="34" charset="0"/>
              </a:rPr>
              <a:t>A guided, measured and signed field test for NCB's Narcotic Drugs Detection Kit</a:t>
            </a:r>
            <a:endParaRPr lang="en-IN" sz="1300" i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DC7CAA6-40D7-A909-93B8-B603C2C02B78}"/>
              </a:ext>
            </a:extLst>
          </p:cNvPr>
          <p:cNvSpPr/>
          <p:nvPr/>
        </p:nvSpPr>
        <p:spPr>
          <a:xfrm>
            <a:off x="279400" y="1219200"/>
            <a:ext cx="3327400" cy="502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ABFEDE-A646-3FC8-6194-4F364F5612FD}"/>
              </a:ext>
            </a:extLst>
          </p:cNvPr>
          <p:cNvSpPr txBox="1"/>
          <p:nvPr/>
        </p:nvSpPr>
        <p:spPr>
          <a:xfrm>
            <a:off x="431800" y="1346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THE PROBLEM IT ADDRESSES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673AC9-AE34-DFE6-1D19-9C70BC22C028}"/>
              </a:ext>
            </a:extLst>
          </p:cNvPr>
          <p:cNvSpPr txBox="1"/>
          <p:nvPr/>
        </p:nvSpPr>
        <p:spPr>
          <a:xfrm>
            <a:off x="431800" y="1651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Read by eye.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Officers match the kit's colour against a printed chart; nothing proves a test happened at a place and time (NCB, this problem statement).</a:t>
            </a:r>
          </a:p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No standard.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Bombay HC (2021): NCB "has not prescribed the standards"; field testing is "arbitrary", and a bare mention in the panchnama is not enough.</a:t>
            </a:r>
          </a:p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Wrong drug, wrong quantity. </a:t>
            </a:r>
            <a:r>
              <a:rPr lang="en-IN" sz="1100">
                <a:solidFill>
                  <a:srgbClr val="262626"/>
                </a:solidFill>
                <a:latin typeface="Arial" panose="020B0604020202020204" pitchFamily="34" charset="0"/>
              </a:rPr>
              <a:t>Kerala HC (2024, Anuraj): seized "MDMA" was methamphetamine, which changes the NDPS quantity category.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So: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disputed seizures, bail on procedure, and field results that cannot later be checked against the lab report.</a:t>
            </a:r>
            <a:endParaRPr lang="en-IN" sz="11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39658B-2655-80BB-B920-4C07D967E4A3}"/>
              </a:ext>
            </a:extLst>
          </p:cNvPr>
          <p:cNvSpPr txBox="1"/>
          <p:nvPr/>
        </p:nvSpPr>
        <p:spPr>
          <a:xfrm>
            <a:off x="3810000" y="12700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200" b="1">
                <a:solidFill>
                  <a:srgbClr val="1F3864"/>
                </a:solidFill>
                <a:latin typeface="Arial" panose="020B0604020202020204" pitchFamily="34" charset="0"/>
              </a:rPr>
              <a:t>PROPOSED SOLUTION (PHONE APP, OFFLINE)</a:t>
            </a:r>
            <a:endParaRPr lang="en-IN" sz="12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37E91DC-0FC3-2D64-655E-4DB3DB30FF77}"/>
              </a:ext>
            </a:extLst>
          </p:cNvPr>
          <p:cNvSpPr/>
          <p:nvPr/>
        </p:nvSpPr>
        <p:spPr>
          <a:xfrm>
            <a:off x="3810000" y="15748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872C9C-BB8F-F6AE-E945-0BB655F75310}"/>
              </a:ext>
            </a:extLst>
          </p:cNvPr>
          <p:cNvSpPr txBox="1"/>
          <p:nvPr/>
        </p:nvSpPr>
        <p:spPr>
          <a:xfrm>
            <a:off x="4241800" y="15621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Guide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NCB kit Tests A–E in the order of the kit's printed flow charts, with the drops and steps printed for each test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D640EC3-AA63-1D6B-4129-74940C694CE4}"/>
              </a:ext>
            </a:extLst>
          </p:cNvPr>
          <p:cNvCxnSpPr/>
          <p:nvPr/>
        </p:nvCxnSpPr>
        <p:spPr>
          <a:xfrm>
            <a:off x="3975100" y="19304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7D9B3C9-2C23-1589-7C27-5EDE20D01964}"/>
              </a:ext>
            </a:extLst>
          </p:cNvPr>
          <p:cNvSpPr/>
          <p:nvPr/>
        </p:nvSpPr>
        <p:spPr>
          <a:xfrm>
            <a:off x="3810000" y="23495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F427EF-CC2E-2EB6-4837-035DE094A7B8}"/>
              </a:ext>
            </a:extLst>
          </p:cNvPr>
          <p:cNvSpPr txBox="1"/>
          <p:nvPr/>
        </p:nvSpPr>
        <p:spPr>
          <a:xfrm>
            <a:off x="4241800" y="23368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Photo of the reaction on a reference colour card beside a reagent-only blank well (spot-plate tests first; tube holder for Tests B and E next)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FB0530-3C58-0048-1A35-7CF0515C9C09}"/>
              </a:ext>
            </a:extLst>
          </p:cNvPr>
          <p:cNvCxnSpPr/>
          <p:nvPr/>
        </p:nvCxnSpPr>
        <p:spPr>
          <a:xfrm>
            <a:off x="3975100" y="27051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4B28911-06EA-2D83-9033-8FA0CD2FB23F}"/>
              </a:ext>
            </a:extLst>
          </p:cNvPr>
          <p:cNvSpPr/>
          <p:nvPr/>
        </p:nvSpPr>
        <p:spPr>
          <a:xfrm>
            <a:off x="3810000" y="31242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FF1D36-ED09-C125-A1AE-827E4419B3BA}"/>
              </a:ext>
            </a:extLst>
          </p:cNvPr>
          <p:cNvSpPr txBox="1"/>
          <p:nvPr/>
        </p:nvSpPr>
        <p:spPr>
          <a:xfrm>
            <a:off x="4241800" y="31115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Read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Colour bands from the kit's printed ranges: positive / no colour change / inconclusive, plus every drug on the kit chart that the colour fits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B453F8F-5102-5F38-C3EA-79C01F704C85}"/>
              </a:ext>
            </a:extLst>
          </p:cNvPr>
          <p:cNvCxnSpPr/>
          <p:nvPr/>
        </p:nvCxnSpPr>
        <p:spPr>
          <a:xfrm>
            <a:off x="3975100" y="34798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0AA9D019-AEA7-E05C-2675-ECDF77439863}"/>
              </a:ext>
            </a:extLst>
          </p:cNvPr>
          <p:cNvSpPr/>
          <p:nvPr/>
        </p:nvSpPr>
        <p:spPr>
          <a:xfrm>
            <a:off x="3810000" y="38989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B7C7AC-A53D-5470-3829-F8F2637B6C6E}"/>
              </a:ext>
            </a:extLst>
          </p:cNvPr>
          <p:cNvSpPr txBox="1"/>
          <p:nvPr/>
        </p:nvSpPr>
        <p:spPr>
          <a:xfrm>
            <a:off x="4241800" y="38862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Sign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Time, GPS, officer and image hash in every record, signed and hash-chained (designed for the phone's secure hardware key)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7E76ACD-5DC4-68B9-DDDD-958771C04154}"/>
              </a:ext>
            </a:extLst>
          </p:cNvPr>
          <p:cNvCxnSpPr/>
          <p:nvPr/>
        </p:nvCxnSpPr>
        <p:spPr>
          <a:xfrm>
            <a:off x="3975100" y="42545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0D9940FE-FE7A-69DA-88FB-0BD1EF698430}"/>
              </a:ext>
            </a:extLst>
          </p:cNvPr>
          <p:cNvSpPr/>
          <p:nvPr/>
        </p:nvSpPr>
        <p:spPr>
          <a:xfrm>
            <a:off x="3810000" y="46736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513A1-AFCB-EE84-2CC1-377DFF2B331B}"/>
              </a:ext>
            </a:extLst>
          </p:cNvPr>
          <p:cNvSpPr txBox="1"/>
          <p:nvPr/>
        </p:nvSpPr>
        <p:spPr>
          <a:xfrm>
            <a:off x="4241800" y="46609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Anchor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A 14-character code written into the witness-signed panchnama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4F2962-8126-694F-A027-D200B3478D07}"/>
              </a:ext>
            </a:extLst>
          </p:cNvPr>
          <p:cNvCxnSpPr/>
          <p:nvPr/>
        </p:nvCxnSpPr>
        <p:spPr>
          <a:xfrm>
            <a:off x="3975100" y="50292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0DCB2A95-FA71-9DFB-ADE1-637EEEE6CB6C}"/>
              </a:ext>
            </a:extLst>
          </p:cNvPr>
          <p:cNvSpPr/>
          <p:nvPr/>
        </p:nvSpPr>
        <p:spPr>
          <a:xfrm>
            <a:off x="3810000" y="54483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752966-36FB-7F0A-802B-9383F833625B}"/>
              </a:ext>
            </a:extLst>
          </p:cNvPr>
          <p:cNvSpPr txBox="1"/>
          <p:nvPr/>
        </p:nvSpPr>
        <p:spPr>
          <a:xfrm>
            <a:off x="4241800" y="54356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Verify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Anyone can check the records offline with our verifier. Planned: Field Test Memo, Form-1 item 5 text, BSA s.63 data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CB3587-2442-6788-77B1-E2529FF0D2A3}"/>
              </a:ext>
            </a:extLst>
          </p:cNvPr>
          <p:cNvSpPr txBox="1"/>
          <p:nvPr/>
        </p:nvSpPr>
        <p:spPr>
          <a:xfrm>
            <a:off x="8229600" y="1270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INNOVATION AND UNIQUENESS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7FCA184-F52F-9369-D6A7-FACB23283F8A}"/>
              </a:ext>
            </a:extLst>
          </p:cNvPr>
          <p:cNvSpPr/>
          <p:nvPr/>
        </p:nvSpPr>
        <p:spPr>
          <a:xfrm>
            <a:off x="8229600" y="15748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B524B7-0EEB-AB65-FDB4-F9FB156DC2C6}"/>
              </a:ext>
            </a:extLst>
          </p:cNvPr>
          <p:cNvSpPr txBox="1"/>
          <p:nvPr/>
        </p:nvSpPr>
        <p:spPr>
          <a:xfrm>
            <a:off x="8356600" y="16764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Says only what the chemistry supports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Test E blue = "cocaine or methaqualone" until E3/E4 narrows it; warns when the NDPS quantity category can't be told in the field.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F781FD0-0228-A952-3492-7A2C9321710D}"/>
              </a:ext>
            </a:extLst>
          </p:cNvPr>
          <p:cNvSpPr/>
          <p:nvPr/>
        </p:nvSpPr>
        <p:spPr>
          <a:xfrm>
            <a:off x="8229600" y="27432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100788-6540-7635-8001-C0BD78054632}"/>
              </a:ext>
            </a:extLst>
          </p:cNvPr>
          <p:cNvSpPr txBox="1"/>
          <p:nvPr/>
        </p:nvSpPr>
        <p:spPr>
          <a:xfrm>
            <a:off x="8356600" y="28448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Designed for varying sample amounts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In simulation, colour bands + a blank well gave 0% false positives where our first single-point rule gave up to 11.7%. Real reactions: next.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6FE6D57-8028-26D9-25C2-B8F2C8FDC938}"/>
              </a:ext>
            </a:extLst>
          </p:cNvPr>
          <p:cNvSpPr/>
          <p:nvPr/>
        </p:nvSpPr>
        <p:spPr>
          <a:xfrm>
            <a:off x="11201400" y="28067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D4DBA91-E161-727D-62BB-A17234AD5E0A}"/>
              </a:ext>
            </a:extLst>
          </p:cNvPr>
          <p:cNvSpPr/>
          <p:nvPr/>
        </p:nvSpPr>
        <p:spPr>
          <a:xfrm>
            <a:off x="8229600" y="39116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2B175D-2115-9164-07B8-8A2E0D63D879}"/>
              </a:ext>
            </a:extLst>
          </p:cNvPr>
          <p:cNvSpPr txBox="1"/>
          <p:nvPr/>
        </p:nvSpPr>
        <p:spPr>
          <a:xfrm>
            <a:off x="8356600" y="40132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Proves completeness, not just integrity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Once the panchnama code is written, deleted or re-run tests are caught, and a server admin cannot forge a record (prototype, test keys).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09EBED9-C149-74FC-D09C-8153239A08A1}"/>
              </a:ext>
            </a:extLst>
          </p:cNvPr>
          <p:cNvSpPr/>
          <p:nvPr/>
        </p:nvSpPr>
        <p:spPr>
          <a:xfrm>
            <a:off x="11023600" y="39751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E5B8211-3DB0-2670-FAC3-6F27C20E707C}"/>
              </a:ext>
            </a:extLst>
          </p:cNvPr>
          <p:cNvSpPr/>
          <p:nvPr/>
        </p:nvSpPr>
        <p:spPr>
          <a:xfrm>
            <a:off x="8229600" y="50800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EFE3FF-AB4F-B954-509F-12B116CE089B}"/>
              </a:ext>
            </a:extLst>
          </p:cNvPr>
          <p:cNvSpPr txBox="1"/>
          <p:nvPr/>
        </p:nvSpPr>
        <p:spPr>
          <a:xfrm>
            <a:off x="8356600" y="51816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No new hardware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Existing NCB kit + officer's phone + a printed card. Designed to work offline and to be embeddable in apps such as e-Sakshya.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0B9BEDA-2D6E-811E-3D9B-26CDED4B94D8}"/>
              </a:ext>
            </a:extLst>
          </p:cNvPr>
          <p:cNvSpPr/>
          <p:nvPr/>
        </p:nvSpPr>
        <p:spPr>
          <a:xfrm>
            <a:off x="279400" y="1219200"/>
            <a:ext cx="3556000" cy="3403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0789C-6D5A-F631-0C5F-5DD86CC66E22}"/>
              </a:ext>
            </a:extLst>
          </p:cNvPr>
          <p:cNvSpPr txBox="1"/>
          <p:nvPr/>
        </p:nvSpPr>
        <p:spPr>
          <a:xfrm>
            <a:off x="431800" y="1320800"/>
            <a:ext cx="325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OFFICER'S PHONE APP (design, offline)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5400AD-ED01-2761-DB17-0B14D2A3D862}"/>
              </a:ext>
            </a:extLst>
          </p:cNvPr>
          <p:cNvSpPr/>
          <p:nvPr/>
        </p:nvSpPr>
        <p:spPr>
          <a:xfrm>
            <a:off x="431800" y="16256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95B35A-A766-74A7-5CE1-894E114AEBB4}"/>
              </a:ext>
            </a:extLst>
          </p:cNvPr>
          <p:cNvSpPr txBox="1"/>
          <p:nvPr/>
        </p:nvSpPr>
        <p:spPr>
          <a:xfrm>
            <a:off x="533400" y="16891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Guided NDDK protocol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signed file: steps, drops, flow charts (in prototype)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4C1EE6-FF57-2E66-07F0-D780A297C474}"/>
              </a:ext>
            </a:extLst>
          </p:cNvPr>
          <p:cNvSpPr/>
          <p:nvPr/>
        </p:nvSpPr>
        <p:spPr>
          <a:xfrm>
            <a:off x="431800" y="22098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C45D8E-23B5-4FBD-7E78-5C99CE79E778}"/>
              </a:ext>
            </a:extLst>
          </p:cNvPr>
          <p:cNvSpPr txBox="1"/>
          <p:nvPr/>
        </p:nvSpPr>
        <p:spPr>
          <a:xfrm>
            <a:off x="533400" y="22733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CameraX / Camera2 RAW; card found by ArUco markers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8F0251-8D11-F070-2D08-0763983FA9DB}"/>
              </a:ext>
            </a:extLst>
          </p:cNvPr>
          <p:cNvSpPr/>
          <p:nvPr/>
        </p:nvSpPr>
        <p:spPr>
          <a:xfrm>
            <a:off x="431800" y="27940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B2C0E-501B-A008-5AD2-2FB72682E280}"/>
              </a:ext>
            </a:extLst>
          </p:cNvPr>
          <p:cNvSpPr txBox="1"/>
          <p:nvPr/>
        </p:nvSpPr>
        <p:spPr>
          <a:xfrm>
            <a:off x="533400" y="28575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Colour engine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card correction, blank well, colour bands (in prototype)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4BDDA7-36FA-682C-F4FF-BB2F513790CF}"/>
              </a:ext>
            </a:extLst>
          </p:cNvPr>
          <p:cNvSpPr/>
          <p:nvPr/>
        </p:nvSpPr>
        <p:spPr>
          <a:xfrm>
            <a:off x="431800" y="33782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00517A-43EE-AC53-E5AA-2A6F1D42BF63}"/>
              </a:ext>
            </a:extLst>
          </p:cNvPr>
          <p:cNvSpPr txBox="1"/>
          <p:nvPr/>
        </p:nvSpPr>
        <p:spPr>
          <a:xfrm>
            <a:off x="533400" y="34417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Record core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ECDSA P-256 + SHA-256 chain; key in StrongBox/TEE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2DD7C8F-941E-A327-A65A-3C84C7C521F0}"/>
              </a:ext>
            </a:extLst>
          </p:cNvPr>
          <p:cNvSpPr/>
          <p:nvPr/>
        </p:nvSpPr>
        <p:spPr>
          <a:xfrm>
            <a:off x="431800" y="39624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5DE96-BA89-788F-3E4E-E21577C9E982}"/>
              </a:ext>
            </a:extLst>
          </p:cNvPr>
          <p:cNvSpPr txBox="1"/>
          <p:nvPr/>
        </p:nvSpPr>
        <p:spPr>
          <a:xfrm>
            <a:off x="533400" y="40259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Log + reports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searchable log (in prototype); memo, Form-1 (planned)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5D430A5-B799-DDEC-CB76-591C0BA96D78}"/>
              </a:ext>
            </a:extLst>
          </p:cNvPr>
          <p:cNvSpPr/>
          <p:nvPr/>
        </p:nvSpPr>
        <p:spPr>
          <a:xfrm>
            <a:off x="4368800" y="1219200"/>
            <a:ext cx="3251200" cy="3403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946A70-E22A-545B-7CDA-397D91ACD610}"/>
              </a:ext>
            </a:extLst>
          </p:cNvPr>
          <p:cNvSpPr txBox="1"/>
          <p:nvPr/>
        </p:nvSpPr>
        <p:spPr>
          <a:xfrm>
            <a:off x="4521200" y="13208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THIN SERVER (design): NIC / MeitY cloud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B595798-BF1D-6F31-7C11-C7AC6C48E74E}"/>
              </a:ext>
            </a:extLst>
          </p:cNvPr>
          <p:cNvSpPr/>
          <p:nvPr/>
        </p:nvSpPr>
        <p:spPr>
          <a:xfrm>
            <a:off x="4521200" y="16256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2604BF-BD58-9552-4E36-03A5B9767B5B}"/>
              </a:ext>
            </a:extLst>
          </p:cNvPr>
          <p:cNvSpPr txBox="1"/>
          <p:nvPr/>
        </p:nvSpPr>
        <p:spPr>
          <a:xfrm>
            <a:off x="4622800" y="16891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Enrolment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>
                <a:solidFill>
                  <a:srgbClr val="595959"/>
                </a:solidFill>
                <a:latin typeface="Arial" panose="020B0604020202020204" pitchFamily="34" charset="0"/>
              </a:rPr>
              <a:t>attestation + supervisor DSC (checker prototyped)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CF1267E-40DD-85EC-6B91-D622F2A9AEB8}"/>
              </a:ext>
            </a:extLst>
          </p:cNvPr>
          <p:cNvSpPr/>
          <p:nvPr/>
        </p:nvSpPr>
        <p:spPr>
          <a:xfrm>
            <a:off x="4521200" y="22098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85144D-FB2B-2343-3CF0-3CAC82DD6BF2}"/>
              </a:ext>
            </a:extLst>
          </p:cNvPr>
          <p:cNvSpPr txBox="1"/>
          <p:nvPr/>
        </p:nvSpPr>
        <p:spPr>
          <a:xfrm>
            <a:off x="4622800" y="22733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Sync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idempotent, fork/replay checks (protocol prototyped)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2C95DCE-93EA-E484-BE6C-D45E8F2AB34D}"/>
              </a:ext>
            </a:extLst>
          </p:cNvPr>
          <p:cNvSpPr/>
          <p:nvPr/>
        </p:nvSpPr>
        <p:spPr>
          <a:xfrm>
            <a:off x="4521200" y="27940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50C8C0-D323-1B60-075F-978655C6F80D}"/>
              </a:ext>
            </a:extLst>
          </p:cNvPr>
          <p:cNvSpPr txBox="1"/>
          <p:nvPr/>
        </p:nvSpPr>
        <p:spPr>
          <a:xfrm>
            <a:off x="4622800" y="28575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Storage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PostgreSQL + S3 write-once (prototype: SQLite)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052018C-D2CC-A892-7752-09845325520E}"/>
              </a:ext>
            </a:extLst>
          </p:cNvPr>
          <p:cNvSpPr/>
          <p:nvPr/>
        </p:nvSpPr>
        <p:spPr>
          <a:xfrm>
            <a:off x="4521200" y="33782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BA14EB-A040-E408-8895-1DCDA4854F17}"/>
              </a:ext>
            </a:extLst>
          </p:cNvPr>
          <p:cNvSpPr txBox="1"/>
          <p:nvPr/>
        </p:nvSpPr>
        <p:spPr>
          <a:xfrm>
            <a:off x="4622800" y="34417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Search + lab loop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case search (prototyped); lab-result link (planned)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816C4BB-0E8F-4A90-9CCC-3E1458485E92}"/>
              </a:ext>
            </a:extLst>
          </p:cNvPr>
          <p:cNvSpPr/>
          <p:nvPr/>
        </p:nvSpPr>
        <p:spPr>
          <a:xfrm>
            <a:off x="4521200" y="39624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09B644-2A7A-D15B-3049-7E1939EA8A53}"/>
              </a:ext>
            </a:extLst>
          </p:cNvPr>
          <p:cNvSpPr txBox="1"/>
          <p:nvPr/>
        </p:nvSpPr>
        <p:spPr>
          <a:xfrm>
            <a:off x="4622800" y="40259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Never trusted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records verify without the server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C0ABB2D-0B41-2222-AD7E-0A2014FA7D56}"/>
              </a:ext>
            </a:extLst>
          </p:cNvPr>
          <p:cNvCxnSpPr/>
          <p:nvPr/>
        </p:nvCxnSpPr>
        <p:spPr>
          <a:xfrm>
            <a:off x="3860800" y="2921000"/>
            <a:ext cx="4826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C76A013-24D4-71F3-1356-0A3D2CFF4742}"/>
              </a:ext>
            </a:extLst>
          </p:cNvPr>
          <p:cNvSpPr txBox="1"/>
          <p:nvPr/>
        </p:nvSpPr>
        <p:spPr>
          <a:xfrm>
            <a:off x="3784600" y="2590800"/>
            <a:ext cx="63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750" i="1">
                <a:solidFill>
                  <a:srgbClr val="595959"/>
                </a:solidFill>
                <a:latin typeface="Arial" panose="020B0604020202020204" pitchFamily="34" charset="0"/>
              </a:rPr>
              <a:t>sync when online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FE97FCB-A245-48C5-5C04-9CE4CDB1B9D1}"/>
              </a:ext>
            </a:extLst>
          </p:cNvPr>
          <p:cNvSpPr/>
          <p:nvPr/>
        </p:nvSpPr>
        <p:spPr>
          <a:xfrm>
            <a:off x="279400" y="4749800"/>
            <a:ext cx="73406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48B2EE-6760-3488-1392-FDD9C915B0A3}"/>
              </a:ext>
            </a:extLst>
          </p:cNvPr>
          <p:cNvSpPr txBox="1"/>
          <p:nvPr/>
        </p:nvSpPr>
        <p:spPr>
          <a:xfrm>
            <a:off x="431800" y="4838700"/>
            <a:ext cx="622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Trust without trusting us: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NCB signs the supervisor list; a supervisor's key (a Class 3 DSC in production) binds officer + phone + key; the phone signs and chains every test; every phone's chain head goes into the witness-signed panchnama. Our offline verifier checks all of it (prototype uses test keys).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841226B-A0FC-3EF0-55FF-23FC69B7922B}"/>
              </a:ext>
            </a:extLst>
          </p:cNvPr>
          <p:cNvSpPr/>
          <p:nvPr/>
        </p:nvSpPr>
        <p:spPr>
          <a:xfrm>
            <a:off x="6756400" y="48387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A573C2-C09E-4586-8F2C-249EDD9143E0}"/>
              </a:ext>
            </a:extLst>
          </p:cNvPr>
          <p:cNvSpPr txBox="1"/>
          <p:nvPr/>
        </p:nvSpPr>
        <p:spPr>
          <a:xfrm>
            <a:off x="279400" y="55880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Technologies to be used: </a:t>
            </a:r>
            <a:r>
              <a:rPr lang="en-IN" sz="950">
                <a:solidFill>
                  <a:srgbClr val="262626"/>
                </a:solidFill>
                <a:latin typeface="Arial" panose="020B0604020202020204" pitchFamily="34" charset="0"/>
              </a:rPr>
              <a:t>Kotlin · CameraX/Camera2 · OpenCV · Android Keystore + attestation · SQLCipher · RFC 8785 JSON · ECDSA P-256 · Spring Boot · PostgreSQL · S3. Prototype today: Python, OpenCV, SQLite.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Deliberately not used: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blockchain, cloud AI, a neural-network "drug detector" (a colour test cannot identify a drug; the court must be able to re-run the reading)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DBFB70-258C-8F53-D549-90DF342EA522}"/>
              </a:ext>
            </a:extLst>
          </p:cNvPr>
          <p:cNvSpPr txBox="1"/>
          <p:nvPr/>
        </p:nvSpPr>
        <p:spPr>
          <a:xfrm>
            <a:off x="7874000" y="1244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WORKING PROTOTYPE OUTPUT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A280CF5-342B-E4EB-3E9B-F080B47E42DE}"/>
              </a:ext>
            </a:extLst>
          </p:cNvPr>
          <p:cNvSpPr/>
          <p:nvPr/>
        </p:nvSpPr>
        <p:spPr>
          <a:xfrm>
            <a:off x="11277600" y="12700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1B5D70F-6BB3-A1AC-93B8-B0F13B6EA71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642D1B6-19B1-8434-ED7F-29910367F1F7}"/>
              </a:ext>
            </a:extLst>
          </p:cNvPr>
          <p:cNvSpPr txBox="1"/>
          <p:nvPr/>
        </p:nvSpPr>
        <p:spPr>
          <a:xfrm>
            <a:off x="78486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C55A11"/>
                </a:solidFill>
                <a:latin typeface="Arial" panose="020B0604020202020204" pitchFamily="34" charset="0"/>
              </a:rPr>
              <a:t>POSITIVE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A: fits codeine, heroin, morphine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CA6AC23A-7A37-78DF-419A-68CE3B310335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92456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86F51844-B50E-3B52-0D01-B6B16A1A5F93}"/>
              </a:ext>
            </a:extLst>
          </p:cNvPr>
          <p:cNvSpPr txBox="1"/>
          <p:nvPr/>
        </p:nvSpPr>
        <p:spPr>
          <a:xfrm>
            <a:off x="92202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2E7D32"/>
                </a:solidFill>
                <a:latin typeface="Arial" panose="020B0604020202020204" pitchFamily="34" charset="0"/>
              </a:rPr>
              <a:t>NEGATIVE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A: no colour change vs blank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05F3879-33FD-EFA5-6D15-A5667D907376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06172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3E76316-D758-8E46-B07C-B2DA6B49D6FD}"/>
              </a:ext>
            </a:extLst>
          </p:cNvPr>
          <p:cNvSpPr txBox="1"/>
          <p:nvPr/>
        </p:nvSpPr>
        <p:spPr>
          <a:xfrm>
            <a:off x="105918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7F7F7F"/>
                </a:solidFill>
                <a:latin typeface="Arial" panose="020B0604020202020204" pitchFamily="34" charset="0"/>
              </a:rPr>
              <a:t>INCONCLUSIVE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C: kit chart not printed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886F51-023D-DFB8-6B1C-60B4DE15372B}"/>
              </a:ext>
            </a:extLst>
          </p:cNvPr>
          <p:cNvSpPr txBox="1"/>
          <p:nvPr/>
        </p:nvSpPr>
        <p:spPr>
          <a:xfrm>
            <a:off x="7874000" y="29718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50" i="1">
                <a:solidFill>
                  <a:srgbClr val="595959"/>
                </a:solidFill>
                <a:latin typeface="Arial" panose="020B0604020202020204" pitchFamily="34" charset="0"/>
              </a:rPr>
              <a:t>Real reference code on camera-model photos: finds the card, corrects the light, reads the well against the blank, decides, then signs and chains the record; the raid verifies offline.</a:t>
            </a:r>
            <a:endParaRPr lang="en-IN" sz="8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0F092E-B5E3-4920-0A54-2C96B6058CA5}"/>
              </a:ext>
            </a:extLst>
          </p:cNvPr>
          <p:cNvSpPr txBox="1"/>
          <p:nvPr/>
        </p:nvSpPr>
        <p:spPr>
          <a:xfrm>
            <a:off x="7874000" y="35814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IMPLEMENTATION STATUS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137E857-A25F-FDA9-7861-286F5A383C8E}"/>
              </a:ext>
            </a:extLst>
          </p:cNvPr>
          <p:cNvSpPr/>
          <p:nvPr/>
        </p:nvSpPr>
        <p:spPr>
          <a:xfrm>
            <a:off x="7874000" y="38608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FFEE23-665A-C763-9D26-0626C7DE0D5D}"/>
              </a:ext>
            </a:extLst>
          </p:cNvPr>
          <p:cNvSpPr txBox="1"/>
          <p:nvPr/>
        </p:nvSpPr>
        <p:spPr>
          <a:xfrm>
            <a:off x="8737600" y="3835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Python reference prototype + one-command demo, 65 automated test cases: github.com/Harshith029/fieldtest-recorder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0147902-9FB8-33F1-3C49-83F23B841AB8}"/>
              </a:ext>
            </a:extLst>
          </p:cNvPr>
          <p:cNvSpPr/>
          <p:nvPr/>
        </p:nvSpPr>
        <p:spPr>
          <a:xfrm>
            <a:off x="7874000" y="43688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D0FB62-E5DA-83C3-A100-E2600B1E9185}"/>
              </a:ext>
            </a:extLst>
          </p:cNvPr>
          <p:cNvSpPr txBox="1"/>
          <p:nvPr/>
        </p:nvSpPr>
        <p:spPr>
          <a:xfrm>
            <a:off x="8737600" y="4343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Colour, liveness, night-light and amount experiments on simulated photos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377516-07E8-367B-5504-DDA362131AB4}"/>
              </a:ext>
            </a:extLst>
          </p:cNvPr>
          <p:cNvSpPr/>
          <p:nvPr/>
        </p:nvSpPr>
        <p:spPr>
          <a:xfrm>
            <a:off x="7874000" y="48768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07B42F6-C93F-4DF5-C906-F923E3A36267}"/>
              </a:ext>
            </a:extLst>
          </p:cNvPr>
          <p:cNvSpPr txBox="1"/>
          <p:nvPr/>
        </p:nvSpPr>
        <p:spPr>
          <a:xfrm>
            <a:off x="8737600" y="4851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Android app; printed-card and real-reaction validation with NCB/CFSL chemists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8191926-F881-FF5C-B42C-E3B9A508EB7A}"/>
              </a:ext>
            </a:extLst>
          </p:cNvPr>
          <p:cNvSpPr/>
          <p:nvPr/>
        </p:nvSpPr>
        <p:spPr>
          <a:xfrm>
            <a:off x="279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172E10-27AF-A2BA-7C06-252586EEB879}"/>
              </a:ext>
            </a:extLst>
          </p:cNvPr>
          <p:cNvSpPr txBox="1"/>
          <p:nvPr/>
        </p:nvSpPr>
        <p:spPr>
          <a:xfrm>
            <a:off x="406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18/18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B346DB-E131-0D63-3A50-0B6B9CC69B59}"/>
              </a:ext>
            </a:extLst>
          </p:cNvPr>
          <p:cNvSpPr txBox="1"/>
          <p:nvPr/>
        </p:nvSpPr>
        <p:spPr>
          <a:xfrm>
            <a:off x="406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of our tampering attacks caught by the verifier, incl. insider-admin forgery and deleted records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BC8D9FB-D988-B6D3-4341-35241FA0BCC9}"/>
              </a:ext>
            </a:extLst>
          </p:cNvPr>
          <p:cNvSpPr/>
          <p:nvPr/>
        </p:nvSpPr>
        <p:spPr>
          <a:xfrm>
            <a:off x="2159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365BD85-9FFC-6449-6866-DF692E33BB99}"/>
              </a:ext>
            </a:extLst>
          </p:cNvPr>
          <p:cNvSpPr/>
          <p:nvPr/>
        </p:nvSpPr>
        <p:spPr>
          <a:xfrm>
            <a:off x="3200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9898CA-532C-D746-E009-598341DEEE08}"/>
              </a:ext>
            </a:extLst>
          </p:cNvPr>
          <p:cNvSpPr txBox="1"/>
          <p:nvPr/>
        </p:nvSpPr>
        <p:spPr>
          <a:xfrm>
            <a:off x="3327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15/15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4B449C-F511-5243-ADAE-BCF9E9AF7CF6}"/>
              </a:ext>
            </a:extLst>
          </p:cNvPr>
          <p:cNvSpPr txBox="1"/>
          <p:nvPr/>
        </p:nvSpPr>
        <p:spPr>
          <a:xfrm>
            <a:off x="3327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sync and failure scenarios handled by the reference sync protocol, incl. an old-backup restore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BEEAE66-ADF2-138C-D5D6-78BDFCB3B1D5}"/>
              </a:ext>
            </a:extLst>
          </p:cNvPr>
          <p:cNvSpPr/>
          <p:nvPr/>
        </p:nvSpPr>
        <p:spPr>
          <a:xfrm>
            <a:off x="5080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E5B35FC-4DA9-FDC2-3807-5E940418755D}"/>
              </a:ext>
            </a:extLst>
          </p:cNvPr>
          <p:cNvSpPr/>
          <p:nvPr/>
        </p:nvSpPr>
        <p:spPr>
          <a:xfrm>
            <a:off x="6121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56DD93-7CB9-5A4E-1572-E8EBB76A3C2F}"/>
              </a:ext>
            </a:extLst>
          </p:cNvPr>
          <p:cNvSpPr txBox="1"/>
          <p:nvPr/>
        </p:nvSpPr>
        <p:spPr>
          <a:xfrm>
            <a:off x="6248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11.7% → 0%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ED29E4-2A34-E251-CDDD-3307D5B33085}"/>
              </a:ext>
            </a:extLst>
          </p:cNvPr>
          <p:cNvSpPr txBox="1"/>
          <p:nvPr/>
        </p:nvSpPr>
        <p:spPr>
          <a:xfrm>
            <a:off x="6248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false positives as sample amount varies: our first single-point rule vs colour bands (published US colours)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6DBC420-770B-6275-3EAD-6902F278EAC4}"/>
              </a:ext>
            </a:extLst>
          </p:cNvPr>
          <p:cNvSpPr/>
          <p:nvPr/>
        </p:nvSpPr>
        <p:spPr>
          <a:xfrm>
            <a:off x="8178800" y="12954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20ABB82-B24E-C83E-46B0-56F45395EE71}"/>
              </a:ext>
            </a:extLst>
          </p:cNvPr>
          <p:cNvSpPr/>
          <p:nvPr/>
        </p:nvSpPr>
        <p:spPr>
          <a:xfrm>
            <a:off x="9042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538151-F87E-AE39-0DD4-1997D97A172F}"/>
              </a:ext>
            </a:extLst>
          </p:cNvPr>
          <p:cNvSpPr txBox="1"/>
          <p:nvPr/>
        </p:nvSpPr>
        <p:spPr>
          <a:xfrm>
            <a:off x="9169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≤ 1%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CE46C2-B909-B650-264E-8C941F68D373}"/>
              </a:ext>
            </a:extLst>
          </p:cNvPr>
          <p:cNvSpPr txBox="1"/>
          <p:nvPr/>
        </p:nvSpPr>
        <p:spPr>
          <a:xfrm>
            <a:off x="9169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false-positive target for real-kit validation: 1,296 captures, 3 sample amounts, 95% confidence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021475D-FE8A-1B8D-A37F-33B8600AAC72}"/>
              </a:ext>
            </a:extLst>
          </p:cNvPr>
          <p:cNvSpPr/>
          <p:nvPr/>
        </p:nvSpPr>
        <p:spPr>
          <a:xfrm>
            <a:off x="11353800" y="12954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BDD45A-3D29-755F-6501-BD12A1A125F6}"/>
              </a:ext>
            </a:extLst>
          </p:cNvPr>
          <p:cNvSpPr txBox="1"/>
          <p:nvPr/>
        </p:nvSpPr>
        <p:spPr>
          <a:xfrm>
            <a:off x="279400" y="25908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POTENTIAL CHALLENGES, RISKS AND STRATEGIES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E862B822-D287-1A06-3564-0D7FD619A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599207"/>
              </p:ext>
            </p:extLst>
          </p:nvPr>
        </p:nvGraphicFramePr>
        <p:xfrm>
          <a:off x="279400" y="2819400"/>
          <a:ext cx="76200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1813775540"/>
                    </a:ext>
                  </a:extLst>
                </a:gridCol>
                <a:gridCol w="5080000">
                  <a:extLst>
                    <a:ext uri="{9D8B030D-6E8A-4147-A177-3AD203B41FA5}">
                      <a16:colId xmlns:a16="http://schemas.microsoft.com/office/drawing/2014/main" val="3104776906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Challenge / risk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Strategy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939326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reaction colours differ from the printed chart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Validation by NCB/CFSL chemists under their licences: 1,296 captures at 3 sample amounts; we never handle narcotics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572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Phones and light vary; glare; night raids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Reference card + RAW capture and a bad-light gate (prototype); say "inconclusive" rather than guess; flash/no-flash night mode (simulated, not yet integrated)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23223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Staged or swapped sample; contaminated blank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 blank that shows a reaction colour gives inconclusive, never negative (prototype). Planned: capture from before the drop, liveness check (simulated so far), package label in frame, s.105 video link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4905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Rooted phone, insider, deleted records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Supervisor-signed binding, panchnama anchor, untrusted server (prototype); hardware keys + attestation (designed; checker prototyped)</a:t>
                      </a: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592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Access to SIMS / e-Sakshya not confirmed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File exports first; the engine is designed as an SDK that e-Sakshya could embed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021236"/>
                  </a:ext>
                </a:extLst>
              </a:tr>
            </a:tbl>
          </a:graphicData>
        </a:graphic>
      </p:graphicFrame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5669916-6FC7-E490-C274-37ED6FC4A95B}"/>
              </a:ext>
            </a:extLst>
          </p:cNvPr>
          <p:cNvSpPr/>
          <p:nvPr/>
        </p:nvSpPr>
        <p:spPr>
          <a:xfrm>
            <a:off x="8102600" y="2590800"/>
            <a:ext cx="3810000" cy="3632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013E0B-1C48-8620-6948-6810C7696B81}"/>
              </a:ext>
            </a:extLst>
          </p:cNvPr>
          <p:cNvSpPr txBox="1"/>
          <p:nvPr/>
        </p:nvSpPr>
        <p:spPr>
          <a:xfrm>
            <a:off x="8255000" y="26924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FEASIBILITY ANALYSIS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6ECA6-0052-66AF-C62B-5C066C3306A6}"/>
              </a:ext>
            </a:extLst>
          </p:cNvPr>
          <p:cNvSpPr txBox="1"/>
          <p:nvPr/>
        </p:nvSpPr>
        <p:spPr>
          <a:xfrm>
            <a:off x="8255000" y="29718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Existing kit, existing phones: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already supplies the kit free; the additions are a printed colour card per kit and a few reagent drops for the blank well.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Small infrastructure (estimate):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one app server pair, PostgreSQL, 1–3 TB a year of storage on NIC or MeitY-empanelled cloud.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Government-owned by design: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would hold the signing keys, the colour standard and the code; open formats, no per-device licence fees.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Pass criteria set in advance: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false positives at most 1%, proven at 95% confidence (at least 299 negative controls); "inconclusive" at most 15%.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Clear status: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every number is labelled proven in code, simulated or next. No real phone photo or real reaction has been tested yet; that is the next stage.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524346-199F-E544-D6F0-A6B1274B1C29}"/>
              </a:ext>
            </a:extLst>
          </p:cNvPr>
          <p:cNvSpPr txBox="1"/>
          <p:nvPr/>
        </p:nvSpPr>
        <p:spPr>
          <a:xfrm>
            <a:off x="279400" y="1244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POTENTIAL IMPACT ON THE TARGET AUDIENCE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99B122A-EA5A-8B5B-F030-BBC4072730F8}"/>
              </a:ext>
            </a:extLst>
          </p:cNvPr>
          <p:cNvSpPr/>
          <p:nvPr/>
        </p:nvSpPr>
        <p:spPr>
          <a:xfrm>
            <a:off x="279400" y="15240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SO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4D997-3FC9-3BB1-F0A1-FDD0E96F8D60}"/>
              </a:ext>
            </a:extLst>
          </p:cNvPr>
          <p:cNvSpPr txBox="1"/>
          <p:nvPr/>
        </p:nvSpPr>
        <p:spPr>
          <a:xfrm>
            <a:off x="863600" y="1498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Seizing officer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 guided test and a signed record that shows good-faith action; planned: Field Test Memo and Form-1 item 5 filled in.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20485EA-EEA4-8FF0-0083-9A7D31297BEE}"/>
              </a:ext>
            </a:extLst>
          </p:cNvPr>
          <p:cNvSpPr/>
          <p:nvPr/>
        </p:nvSpPr>
        <p:spPr>
          <a:xfrm>
            <a:off x="279400" y="23368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IO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359F5B-0B36-2E8E-AB7B-94A2BFBC4DFA}"/>
              </a:ext>
            </a:extLst>
          </p:cNvPr>
          <p:cNvSpPr txBox="1"/>
          <p:nvPr/>
        </p:nvSpPr>
        <p:spPr>
          <a:xfrm>
            <a:off x="863600" y="23114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Investigating officer, prosecutor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Checkable records for remand and bail; planned: a Rule 10(2) grouping check and the lab result linked back.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547B49-4B0E-68DB-1B1D-0D0441516FAA}"/>
              </a:ext>
            </a:extLst>
          </p:cNvPr>
          <p:cNvSpPr/>
          <p:nvPr/>
        </p:nvSpPr>
        <p:spPr>
          <a:xfrm>
            <a:off x="279400" y="31496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5E5C29-07D8-75FA-B44D-6949384C071F}"/>
              </a:ext>
            </a:extLst>
          </p:cNvPr>
          <p:cNvSpPr txBox="1"/>
          <p:nvPr/>
        </p:nvSpPr>
        <p:spPr>
          <a:xfrm>
            <a:off x="863600" y="31242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Courts, defence, the accused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Any expert can re-check the record offline; the quantity category is flagged as uncertain until the lab confirms.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83DBCC4-2B58-60D0-491D-B550E2C40919}"/>
              </a:ext>
            </a:extLst>
          </p:cNvPr>
          <p:cNvSpPr/>
          <p:nvPr/>
        </p:nvSpPr>
        <p:spPr>
          <a:xfrm>
            <a:off x="279400" y="39624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HQ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52E39-C7DD-C341-AF32-A18BF7C01E0F}"/>
              </a:ext>
            </a:extLst>
          </p:cNvPr>
          <p:cNvSpPr txBox="1"/>
          <p:nvPr/>
        </p:nvSpPr>
        <p:spPr>
          <a:xfrm>
            <a:off x="863600" y="3937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NCB headquarters and labs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Planned: field-vs-lab accuracy per kit batch and per test, from lab reports the IO already receives.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C94AD7-F44F-9BC7-15E2-58BC2DFFFA97}"/>
              </a:ext>
            </a:extLst>
          </p:cNvPr>
          <p:cNvSpPr txBox="1"/>
          <p:nvPr/>
        </p:nvSpPr>
        <p:spPr>
          <a:xfrm>
            <a:off x="5842000" y="1244600"/>
            <a:ext cx="607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WHAT CHANGES FOR ONE SEIZURE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4C7F753B-C832-D6A0-E6A6-9556FEC15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467528"/>
              </p:ext>
            </p:extLst>
          </p:nvPr>
        </p:nvGraphicFramePr>
        <p:xfrm>
          <a:off x="5842000" y="1498600"/>
          <a:ext cx="60706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974579773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1796149958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Today (paper)</a:t>
                      </a:r>
                    </a:p>
                  </a:txBody>
                  <a:tcPr marL="63500" marR="63500" marT="38100" marB="38100"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With FieldTest Recorder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9766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Colour judged by eye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Measured against a signed colour standard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044167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"Dark brown" written in the panchnama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Photo + reading + every drug on the kit chart the colour fits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669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proof of time or place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Signed time, GNSS time, GPS and officer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76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Records can be rewritten later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Deletions and re-runs are detectable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95198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Quantity category guessed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Flagged when it can't be told in the field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65669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kit accuracy data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Field result vs lab result, per kit batch (planned)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5474870"/>
                  </a:ext>
                </a:extLst>
              </a:tr>
            </a:tbl>
          </a:graphicData>
        </a:graphic>
      </p:graphicFrame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1F94103-2A4F-B81D-AF04-11FDDF968EBC}"/>
              </a:ext>
            </a:extLst>
          </p:cNvPr>
          <p:cNvSpPr/>
          <p:nvPr/>
        </p:nvSpPr>
        <p:spPr>
          <a:xfrm>
            <a:off x="5842000" y="3606800"/>
            <a:ext cx="60706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0DB4D8-63A7-6B7B-9FE7-DC920D5AFBFA}"/>
              </a:ext>
            </a:extLst>
          </p:cNvPr>
          <p:cNvSpPr txBox="1"/>
          <p:nvPr/>
        </p:nvSpPr>
        <p:spPr>
          <a:xfrm>
            <a:off x="5994400" y="3708400"/>
            <a:ext cx="5765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Why a field report must not overstate: a real case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 (2024):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police alleged commercial-quantity MDMA; the lab found methamphetamine in intermediate quantity (MDMA 0.5 g / 10 g vs methamphetamine 2 g / 50 g). Our record states only what the kit's colour supports, lists every drug on the kit chart that the colour fits, and warns when they fall under different NDPS thresholds.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CA77142-9F0F-B41A-F57C-4EE37AAF4C30}"/>
              </a:ext>
            </a:extLst>
          </p:cNvPr>
          <p:cNvSpPr/>
          <p:nvPr/>
        </p:nvSpPr>
        <p:spPr>
          <a:xfrm>
            <a:off x="279400" y="4826000"/>
            <a:ext cx="11633200" cy="1371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AA290F-3731-F41D-20F2-F4C933AF46A1}"/>
              </a:ext>
            </a:extLst>
          </p:cNvPr>
          <p:cNvSpPr txBox="1"/>
          <p:nvPr/>
        </p:nvSpPr>
        <p:spPr>
          <a:xfrm>
            <a:off x="4318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Social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Fairer remand and bail decisions; fewer cases lost on procedure; honest officers protected.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3BE815-DFFB-D0E4-8673-5253EA470E74}"/>
              </a:ext>
            </a:extLst>
          </p:cNvPr>
          <p:cNvSpPr txBox="1"/>
          <p:nvPr/>
        </p:nvSpPr>
        <p:spPr>
          <a:xfrm>
            <a:off x="33274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Economic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No new hardware; reuses the free NCB kit and officers' phones; small hosting cost.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2083B2-56B6-201E-0FD5-AB62EDD75209}"/>
              </a:ext>
            </a:extLst>
          </p:cNvPr>
          <p:cNvSpPr txBox="1"/>
          <p:nvPr/>
        </p:nvSpPr>
        <p:spPr>
          <a:xfrm>
            <a:off x="62230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Environmental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Paperless records; the only extra consumables are a printed card per kit and blank-well reagent drops.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8A40B0-90B2-25FB-96B7-D4A90DE08DAC}"/>
              </a:ext>
            </a:extLst>
          </p:cNvPr>
          <p:cNvSpPr txBox="1"/>
          <p:nvPr/>
        </p:nvSpPr>
        <p:spPr>
          <a:xfrm>
            <a:off x="91186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Scale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1,15,236 NDPS cases in 2022 (MHA); each seized package can get a recorded field test.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5872CD-37EF-8231-99E9-45524E6831EE}"/>
              </a:ext>
            </a:extLst>
          </p:cNvPr>
          <p:cNvSpPr txBox="1"/>
          <p:nvPr/>
        </p:nvSpPr>
        <p:spPr>
          <a:xfrm>
            <a:off x="279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SIH26231 problem statement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 Control Bureau, MHA; sih.gov.in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[2]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Narcotic Drugs Detection Kit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NICFS, A Forensic Guide for Crime Investigators, ch. 8, Figs 8.12–8.16 (Tests A–E, flow charts)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[3]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(Seizure, Storage, Sampling and Disposal) Rules 2022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GSR 899(E): Rules 3, 5, 10(2), 13, 14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[4]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Sagar Parshuram Joshi v. State of Maharashtra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Bombay HC, 15 Jan 2021 (indiankanoon.org/doc/90970274)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[5]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Masibur Khan v. State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Delhi HC, 31 May 2023 (indiankanoon.org/doc/91398841)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[6]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Kerala HC, 2024: alleged MDMA found to be methamphetamine</a:t>
            </a:r>
            <a:endParaRPr lang="en-IN" sz="105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FCC899-18D3-9691-49D1-3BE47CCB0CA9}"/>
              </a:ext>
            </a:extLst>
          </p:cNvPr>
          <p:cNvSpPr txBox="1"/>
          <p:nvPr/>
        </p:nvSpPr>
        <p:spPr>
          <a:xfrm>
            <a:off x="6121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[7]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small and commercial quantities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S.O. 1055(E), 19 Oct 2001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[8]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Drug Law Enforcement Field Officers' Handbook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narcoticsindia.nic.in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[9]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BPR&amp;D SOP: audio-video recording under BNSS; BSA 2023 s.63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hash value in the electronic-record certificate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[10]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NIJ Standard-0604.01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Color Test Reagents/Kits for Preliminary Identification of Drugs of Abuse (US DoJ)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Android key attestation; RFC 8785 (JSON canonicalisation)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developer.android.com; rfc-editor.org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[12]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MHA Rajya Sabha USQ 1832 (11 Dec 2024)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NDPS case statistics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04DD7B-2F5F-16EB-DF66-77A35769E4BD}"/>
              </a:ext>
            </a:extLst>
          </p:cNvPr>
          <p:cNvSpPr/>
          <p:nvPr/>
        </p:nvSpPr>
        <p:spPr>
          <a:xfrm>
            <a:off x="279400" y="4089400"/>
            <a:ext cx="11633200" cy="2108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EA697-CCEC-93B5-8478-4EE66D18E3D2}"/>
              </a:ext>
            </a:extLst>
          </p:cNvPr>
          <p:cNvSpPr txBox="1"/>
          <p:nvPr/>
        </p:nvSpPr>
        <p:spPr>
          <a:xfrm>
            <a:off x="431800" y="42164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OUR CODE AND RESEARCH: </a:t>
            </a:r>
            <a:r>
              <a:rPr lang="en-IN" sz="1200" b="1">
                <a:solidFill>
                  <a:srgbClr val="0070C0"/>
                </a:solidFill>
                <a:latin typeface="Arial" panose="020B0604020202020204" pitchFamily="34" charset="0"/>
                <a:hlinkClick r:id="rId4"/>
              </a:rPr>
              <a:t>github.com/Harshith029/fieldtest-recorder</a:t>
            </a:r>
            <a:endParaRPr lang="en-IN" sz="1200" b="1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9BA8E4-3602-DD1D-F0C1-D08370025505}"/>
              </a:ext>
            </a:extLst>
          </p:cNvPr>
          <p:cNvSpPr txBox="1"/>
          <p:nvPr/>
        </p:nvSpPr>
        <p:spPr>
          <a:xfrm>
            <a:off x="431800" y="44958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Working Python reference prototype with a one-command demo and 65 automated test cases: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record format and offline verifier, colour engine, NCB kit protocol, searchable log, sync protocol. Photos in the demo are simulated; the Android app must match its outputs.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17 experiments with 95% confidence intervals,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including 18 tampering attacks and 15 failure scenarios (real code) and colour, sample-amount, night-light and staged-sample tests (simulated photos).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Reviewed adversarially, claim by claim: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confirmed defects are either fixed and re-tested or listed openly in the repository's problem register.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Safety and law: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our team never handles narcotics; colour tests use published colours, the kit chart and safe dyes. Real-kit validation is designed for NCB or CFSL chemists.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2119</Words>
  <Application>Microsoft Office PowerPoint</Application>
  <PresentationFormat>Widescreen</PresentationFormat>
  <Paragraphs>200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FieldTest Recorder</vt:lpstr>
      <vt:lpstr>TECHNICAL APPROACH</vt:lpstr>
      <vt:lpstr>FEASIBILITY AND VIABILITY</vt:lpstr>
      <vt:lpstr>IMPACT AND BENEFITS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Harshith Pali</cp:lastModifiedBy>
  <cp:revision>149</cp:revision>
  <dcterms:created xsi:type="dcterms:W3CDTF">2013-12-12T18:46:50Z</dcterms:created>
  <dcterms:modified xsi:type="dcterms:W3CDTF">2026-09-30T10:12:48Z</dcterms:modified>
  <cp:category/>
</cp:coreProperties>
</file>