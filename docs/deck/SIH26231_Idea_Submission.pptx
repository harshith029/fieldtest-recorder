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Harshith029/fieldtest-record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FieldTest Recorder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588000" cy="3118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SIH26231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Digital Companion for Field Drug Testing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MedTech / BioTech / HealthTech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152041</a:t>
            </a:r>
            <a:endParaRPr lang="en-US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1600" b="1"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60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Darth CodersUNI</a:t>
            </a:r>
            <a:endParaRPr lang="en-IN" sz="1600" dirty="0">
              <a:solidFill>
                <a:srgbClr val="1F386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4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FieldTest Recorder</a:t>
            </a:r>
            <a:endParaRPr lang="en-US" sz="34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110FAD-3AF0-0728-9AE0-5368A995BEB8}"/>
              </a:ext>
            </a:extLst>
          </p:cNvPr>
          <p:cNvSpPr txBox="1"/>
          <p:nvPr/>
        </p:nvSpPr>
        <p:spPr>
          <a:xfrm>
            <a:off x="1778000" y="812800"/>
            <a:ext cx="7937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0" i="1">
                <a:solidFill>
                  <a:srgbClr val="1F3864"/>
                </a:solidFill>
                <a:latin typeface="Arial" panose="020B0604020202020204" pitchFamily="34" charset="0"/>
              </a:rPr>
              <a:t>A guided, measured and signed field test for NCB's Narcotic Drugs Detection Kit</a:t>
            </a:r>
            <a:endParaRPr lang="en-IN" sz="1300" i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1E4C81A-67A5-EAA4-A7FE-3B01AC74ADB8}"/>
              </a:ext>
            </a:extLst>
          </p:cNvPr>
          <p:cNvSpPr/>
          <p:nvPr/>
        </p:nvSpPr>
        <p:spPr>
          <a:xfrm>
            <a:off x="279400" y="1219200"/>
            <a:ext cx="3327400" cy="502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C25CC3-4E32-D4C3-FFF6-8DC0A11AC911}"/>
              </a:ext>
            </a:extLst>
          </p:cNvPr>
          <p:cNvSpPr txBox="1"/>
          <p:nvPr/>
        </p:nvSpPr>
        <p:spPr>
          <a:xfrm>
            <a:off x="431800" y="1346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THE PROBLEM IT ADDRESSES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F117F0-AD0F-73A5-BA09-D9D62E51B793}"/>
              </a:ext>
            </a:extLst>
          </p:cNvPr>
          <p:cNvSpPr txBox="1"/>
          <p:nvPr/>
        </p:nvSpPr>
        <p:spPr>
          <a:xfrm>
            <a:off x="431800" y="1651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Read by eye.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Officers match the kit's colour against a printed chart; nothing proves a test happened at a place and time (NCB, this problem statement).</a:t>
            </a:r>
          </a:p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No standard.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Bombay HC (2021): NCB "has not prescribed the standards"; field testing is "arbitrary", and a bare mention in the panchnama is not enough.</a:t>
            </a:r>
          </a:p>
          <a:p>
            <a:pPr marL="127000" indent="-127000">
              <a:spcBef>
                <a:spcPts val="0"/>
              </a:spcBef>
              <a:spcAft>
                <a:spcPts val="12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Wrong drug, wrong quantity. </a:t>
            </a:r>
            <a:r>
              <a:rPr lang="en-IN" sz="1100">
                <a:solidFill>
                  <a:srgbClr val="262626"/>
                </a:solidFill>
                <a:latin typeface="Arial" panose="020B0604020202020204" pitchFamily="34" charset="0"/>
              </a:rPr>
              <a:t>Kerala HC (2024, Anuraj): seized "MDMA" was methamphetamine, which changes the NDPS quantity category.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100" b="1">
                <a:solidFill>
                  <a:srgbClr val="262626"/>
                </a:solidFill>
                <a:latin typeface="Arial" panose="020B0604020202020204" pitchFamily="34" charset="0"/>
              </a:rPr>
              <a:t>So: </a:t>
            </a:r>
            <a:r>
              <a:rPr lang="en-US" sz="1100">
                <a:solidFill>
                  <a:srgbClr val="262626"/>
                </a:solidFill>
                <a:latin typeface="Arial" panose="020B0604020202020204" pitchFamily="34" charset="0"/>
              </a:rPr>
              <a:t>disputed seizures, bail on procedure, and field results that cannot later be checked against the lab report.</a:t>
            </a:r>
            <a:endParaRPr lang="en-IN" sz="11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ADEDFA-3118-D5B6-4DC4-2CE429393BCE}"/>
              </a:ext>
            </a:extLst>
          </p:cNvPr>
          <p:cNvSpPr txBox="1"/>
          <p:nvPr/>
        </p:nvSpPr>
        <p:spPr>
          <a:xfrm>
            <a:off x="3810000" y="12700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200" b="1">
                <a:solidFill>
                  <a:srgbClr val="1F3864"/>
                </a:solidFill>
                <a:latin typeface="Arial" panose="020B0604020202020204" pitchFamily="34" charset="0"/>
              </a:rPr>
              <a:t>PROPOSED SOLUTION (PHONE APP, OFFLINE)</a:t>
            </a:r>
            <a:endParaRPr lang="en-IN" sz="12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105FF9-9CB9-770B-45A0-7A51A8F6C9B3}"/>
              </a:ext>
            </a:extLst>
          </p:cNvPr>
          <p:cNvSpPr/>
          <p:nvPr/>
        </p:nvSpPr>
        <p:spPr>
          <a:xfrm>
            <a:off x="3810000" y="15748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C322D7-D010-CC44-776D-A5E83C78C29E}"/>
              </a:ext>
            </a:extLst>
          </p:cNvPr>
          <p:cNvSpPr txBox="1"/>
          <p:nvPr/>
        </p:nvSpPr>
        <p:spPr>
          <a:xfrm>
            <a:off x="4241800" y="15621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Guide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NCB kit Tests A–E in the order of the kit's printed flow charts, with the drops and steps printed for each test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CAAF628-DC64-EC56-C9E2-94B69A4FC722}"/>
              </a:ext>
            </a:extLst>
          </p:cNvPr>
          <p:cNvCxnSpPr/>
          <p:nvPr/>
        </p:nvCxnSpPr>
        <p:spPr>
          <a:xfrm>
            <a:off x="3975100" y="19304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91D96589-488D-CDCD-C729-0398F4488ADA}"/>
              </a:ext>
            </a:extLst>
          </p:cNvPr>
          <p:cNvSpPr/>
          <p:nvPr/>
        </p:nvSpPr>
        <p:spPr>
          <a:xfrm>
            <a:off x="3810000" y="23495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C1A508-DC40-4C46-878E-21BB37418A0E}"/>
              </a:ext>
            </a:extLst>
          </p:cNvPr>
          <p:cNvSpPr txBox="1"/>
          <p:nvPr/>
        </p:nvSpPr>
        <p:spPr>
          <a:xfrm>
            <a:off x="4241800" y="23368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Photo of the reaction on a reference colour card beside a reagent-only blank well (spot-plate tests first; tube holder for Tests B and E next)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6B0451D-ED59-D662-C1D4-985FFAC3C71C}"/>
              </a:ext>
            </a:extLst>
          </p:cNvPr>
          <p:cNvCxnSpPr/>
          <p:nvPr/>
        </p:nvCxnSpPr>
        <p:spPr>
          <a:xfrm>
            <a:off x="3975100" y="27051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25B95CDC-C10A-867F-72FF-7D648F91CF8A}"/>
              </a:ext>
            </a:extLst>
          </p:cNvPr>
          <p:cNvSpPr/>
          <p:nvPr/>
        </p:nvSpPr>
        <p:spPr>
          <a:xfrm>
            <a:off x="3810000" y="31242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B4E567-5598-76BB-B006-A12A04614210}"/>
              </a:ext>
            </a:extLst>
          </p:cNvPr>
          <p:cNvSpPr txBox="1"/>
          <p:nvPr/>
        </p:nvSpPr>
        <p:spPr>
          <a:xfrm>
            <a:off x="4241800" y="31115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Read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Colour bands from the kit's printed ranges: positive / no colour change / inconclusive, plus every drug on the kit chart that the colour fits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4B0D03E-F6CF-4029-0355-5853D0647BE3}"/>
              </a:ext>
            </a:extLst>
          </p:cNvPr>
          <p:cNvCxnSpPr/>
          <p:nvPr/>
        </p:nvCxnSpPr>
        <p:spPr>
          <a:xfrm>
            <a:off x="3975100" y="34798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22EA5B67-372E-CA9F-0300-BF0FD7645DFB}"/>
              </a:ext>
            </a:extLst>
          </p:cNvPr>
          <p:cNvSpPr/>
          <p:nvPr/>
        </p:nvSpPr>
        <p:spPr>
          <a:xfrm>
            <a:off x="3810000" y="38989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05F6CD-72A2-14DB-1121-D83369E8AD95}"/>
              </a:ext>
            </a:extLst>
          </p:cNvPr>
          <p:cNvSpPr txBox="1"/>
          <p:nvPr/>
        </p:nvSpPr>
        <p:spPr>
          <a:xfrm>
            <a:off x="4241800" y="38862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Sign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Time, GPS, officer and image hash in every record, signed and hash-chained (designed for the phone's secure hardware key)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CDEA4A5-5771-7FF9-6C9D-549B68B697EA}"/>
              </a:ext>
            </a:extLst>
          </p:cNvPr>
          <p:cNvCxnSpPr/>
          <p:nvPr/>
        </p:nvCxnSpPr>
        <p:spPr>
          <a:xfrm>
            <a:off x="3975100" y="42545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AD66CB9A-E94F-8928-13CC-E1F2085BCB4B}"/>
              </a:ext>
            </a:extLst>
          </p:cNvPr>
          <p:cNvSpPr/>
          <p:nvPr/>
        </p:nvSpPr>
        <p:spPr>
          <a:xfrm>
            <a:off x="3810000" y="46736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395DCD-C1F2-B816-0C70-13F9C1B2B8A6}"/>
              </a:ext>
            </a:extLst>
          </p:cNvPr>
          <p:cNvSpPr txBox="1"/>
          <p:nvPr/>
        </p:nvSpPr>
        <p:spPr>
          <a:xfrm>
            <a:off x="4241800" y="46609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Anchor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A 14-character code written into the witness-signed panchnama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AD5FF33-78A9-C55D-542E-3DD636770268}"/>
              </a:ext>
            </a:extLst>
          </p:cNvPr>
          <p:cNvCxnSpPr/>
          <p:nvPr/>
        </p:nvCxnSpPr>
        <p:spPr>
          <a:xfrm>
            <a:off x="3975100" y="5029200"/>
            <a:ext cx="0" cy="393700"/>
          </a:xfrm>
          <a:prstGeom prst="line">
            <a:avLst/>
          </a:prstGeom>
          <a:ln w="19050">
            <a:solidFill>
              <a:srgbClr val="B4C7E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097A0E54-207B-AEF7-B78C-C3B7C9CDED0A}"/>
              </a:ext>
            </a:extLst>
          </p:cNvPr>
          <p:cNvSpPr/>
          <p:nvPr/>
        </p:nvSpPr>
        <p:spPr>
          <a:xfrm>
            <a:off x="3810000" y="5448300"/>
            <a:ext cx="330200" cy="330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200" b="1">
                <a:solidFill>
                  <a:srgbClr val="FFFFFF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B0C35A-9E45-63FF-FF6D-8759174B36C3}"/>
              </a:ext>
            </a:extLst>
          </p:cNvPr>
          <p:cNvSpPr txBox="1"/>
          <p:nvPr/>
        </p:nvSpPr>
        <p:spPr>
          <a:xfrm>
            <a:off x="4241800" y="5435600"/>
            <a:ext cx="375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50" b="1">
                <a:solidFill>
                  <a:srgbClr val="1F3864"/>
                </a:solidFill>
                <a:latin typeface="Arial" panose="020B0604020202020204" pitchFamily="34" charset="0"/>
              </a:rPr>
              <a:t>Verify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262626"/>
                </a:solidFill>
                <a:latin typeface="Arial" panose="020B0604020202020204" pitchFamily="34" charset="0"/>
              </a:rPr>
              <a:t>Anyone can check the records offline with our verifier. Planned: Field Test Memo, Form-1 item 5 text, BSA s.63 data</a:t>
            </a:r>
            <a:endParaRPr lang="en-IN" sz="10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CAAE12-1B42-8BF1-D11C-5A526A32788A}"/>
              </a:ext>
            </a:extLst>
          </p:cNvPr>
          <p:cNvSpPr txBox="1"/>
          <p:nvPr/>
        </p:nvSpPr>
        <p:spPr>
          <a:xfrm>
            <a:off x="8229600" y="1270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INNOVATION AND UNIQUENESS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8CE4B0E-79CB-579C-317F-F3ADD996336E}"/>
              </a:ext>
            </a:extLst>
          </p:cNvPr>
          <p:cNvSpPr/>
          <p:nvPr/>
        </p:nvSpPr>
        <p:spPr>
          <a:xfrm>
            <a:off x="8229600" y="15748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6EEEF3C-FA42-8AC6-6EDF-FF670FF9C549}"/>
              </a:ext>
            </a:extLst>
          </p:cNvPr>
          <p:cNvSpPr txBox="1"/>
          <p:nvPr/>
        </p:nvSpPr>
        <p:spPr>
          <a:xfrm>
            <a:off x="8356600" y="16764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Says only what the chemistry supports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Test E blue = "cocaine or methaqualone" until E3/E4 narrows it; warns when the NDPS quantity category can't be told in the field.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5906D0D-AB09-7F75-D98D-D4F5EA6A80E1}"/>
              </a:ext>
            </a:extLst>
          </p:cNvPr>
          <p:cNvSpPr/>
          <p:nvPr/>
        </p:nvSpPr>
        <p:spPr>
          <a:xfrm>
            <a:off x="8229600" y="27432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CEE13D-9489-8521-55C4-880BECD56436}"/>
              </a:ext>
            </a:extLst>
          </p:cNvPr>
          <p:cNvSpPr txBox="1"/>
          <p:nvPr/>
        </p:nvSpPr>
        <p:spPr>
          <a:xfrm>
            <a:off x="8356600" y="28448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Designed for varying sample amounts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In simulation, colour bands + a blank well gave 0% false positives where our first single-point rule gave up to 11.7%. Real reactions: next.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8954409-6050-A219-67D6-A4FB679C4D67}"/>
              </a:ext>
            </a:extLst>
          </p:cNvPr>
          <p:cNvSpPr/>
          <p:nvPr/>
        </p:nvSpPr>
        <p:spPr>
          <a:xfrm>
            <a:off x="11201400" y="28067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A30C785-E52C-B737-1FC1-2EE528E874A5}"/>
              </a:ext>
            </a:extLst>
          </p:cNvPr>
          <p:cNvSpPr/>
          <p:nvPr/>
        </p:nvSpPr>
        <p:spPr>
          <a:xfrm>
            <a:off x="8229600" y="39116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BE1568E-316A-646C-3D8A-94FB48B88992}"/>
              </a:ext>
            </a:extLst>
          </p:cNvPr>
          <p:cNvSpPr txBox="1"/>
          <p:nvPr/>
        </p:nvSpPr>
        <p:spPr>
          <a:xfrm>
            <a:off x="8356600" y="40132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Proves completeness, not just integrity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Once the panchnama code is written, deleted or re-run tests are caught, and a server admin cannot forge a record (prototype, test keys).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E891F55-9158-D3C5-37EA-72202649FA87}"/>
              </a:ext>
            </a:extLst>
          </p:cNvPr>
          <p:cNvSpPr/>
          <p:nvPr/>
        </p:nvSpPr>
        <p:spPr>
          <a:xfrm>
            <a:off x="11023600" y="39751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94961EA-7BE0-CCB5-FDB5-5F451DB2FB5F}"/>
              </a:ext>
            </a:extLst>
          </p:cNvPr>
          <p:cNvSpPr/>
          <p:nvPr/>
        </p:nvSpPr>
        <p:spPr>
          <a:xfrm>
            <a:off x="8229600" y="5080000"/>
            <a:ext cx="3683000" cy="10668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E83F22-C427-1F6E-B4FB-C4BECF7DB814}"/>
              </a:ext>
            </a:extLst>
          </p:cNvPr>
          <p:cNvSpPr txBox="1"/>
          <p:nvPr/>
        </p:nvSpPr>
        <p:spPr>
          <a:xfrm>
            <a:off x="8356600" y="5181600"/>
            <a:ext cx="345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No new hardware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Existing NCB kit + officer's phone + a printed card. Designed to work offline and to be embeddable in apps such as e-Sakshya.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5D3776-8411-C744-FE3D-DB3F06106BBD}"/>
              </a:ext>
            </a:extLst>
          </p:cNvPr>
          <p:cNvSpPr txBox="1"/>
          <p:nvPr/>
        </p:nvSpPr>
        <p:spPr>
          <a:xfrm>
            <a:off x="279400" y="11938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PROCESS FLOW: ONE PACKAGE, FROM SEIZURE TO COURT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F17CAA8-5A53-9489-4D31-2885C91F9961}"/>
              </a:ext>
            </a:extLst>
          </p:cNvPr>
          <p:cNvSpPr/>
          <p:nvPr/>
        </p:nvSpPr>
        <p:spPr>
          <a:xfrm>
            <a:off x="279400" y="1422400"/>
            <a:ext cx="7340600" cy="2057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29D529-957E-8A37-EFB7-0B2B243F64DC}"/>
              </a:ext>
            </a:extLst>
          </p:cNvPr>
          <p:cNvSpPr txBox="1"/>
          <p:nvPr/>
        </p:nvSpPr>
        <p:spPr>
          <a:xfrm>
            <a:off x="381000" y="1473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50" b="1">
                <a:solidFill>
                  <a:srgbClr val="0070C0"/>
                </a:solidFill>
                <a:latin typeface="Arial" panose="020B0604020202020204" pitchFamily="34" charset="0"/>
              </a:rPr>
              <a:t>OFFICER'S PHONE · WORKS OFFLINE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3F599BC-AAAF-C991-C1D4-4C303796C5EE}"/>
              </a:ext>
            </a:extLst>
          </p:cNvPr>
          <p:cNvSpPr/>
          <p:nvPr/>
        </p:nvSpPr>
        <p:spPr>
          <a:xfrm>
            <a:off x="279400" y="3581400"/>
            <a:ext cx="3606800" cy="1041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A45460-5FED-8BA3-EB07-5DE6E2E85576}"/>
              </a:ext>
            </a:extLst>
          </p:cNvPr>
          <p:cNvSpPr txBox="1"/>
          <p:nvPr/>
        </p:nvSpPr>
        <p:spPr>
          <a:xfrm>
            <a:off x="381000" y="3632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50" b="1">
                <a:solidFill>
                  <a:srgbClr val="0070C0"/>
                </a:solidFill>
                <a:latin typeface="Arial" panose="020B0604020202020204" pitchFamily="34" charset="0"/>
              </a:rPr>
              <a:t>ANYONE · OFFLINE VERIFIER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C76090B-D982-EF28-9131-ACD7B7A3D706}"/>
              </a:ext>
            </a:extLst>
          </p:cNvPr>
          <p:cNvSpPr/>
          <p:nvPr/>
        </p:nvSpPr>
        <p:spPr>
          <a:xfrm>
            <a:off x="4013200" y="3581400"/>
            <a:ext cx="3606800" cy="10414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F7043C-4F5D-882E-724D-9A72E7B76652}"/>
              </a:ext>
            </a:extLst>
          </p:cNvPr>
          <p:cNvSpPr txBox="1"/>
          <p:nvPr/>
        </p:nvSpPr>
        <p:spPr>
          <a:xfrm>
            <a:off x="4114800" y="3632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750" b="1">
                <a:solidFill>
                  <a:srgbClr val="0070C0"/>
                </a:solidFill>
                <a:latin typeface="Arial" panose="020B0604020202020204" pitchFamily="34" charset="0"/>
              </a:rPr>
              <a:t>NCB SERVER (NIC / MeitY CLOUD) · WHEN ONLINE</a:t>
            </a:r>
            <a:endParaRPr lang="en-IN" sz="750" b="1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924400-AA30-2FDB-A847-0A58E99B2BCE}"/>
              </a:ext>
            </a:extLst>
          </p:cNvPr>
          <p:cNvSpPr/>
          <p:nvPr/>
        </p:nvSpPr>
        <p:spPr>
          <a:xfrm>
            <a:off x="381000" y="1676400"/>
            <a:ext cx="13208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1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Pick the test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the kit's printed flow chart chooses Test A–E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0ACAC3B-0582-78B3-63AF-9730647AE76F}"/>
              </a:ext>
            </a:extLst>
          </p:cNvPr>
          <p:cNvSpPr/>
          <p:nvPr/>
        </p:nvSpPr>
        <p:spPr>
          <a:xfrm>
            <a:off x="1905000" y="1676400"/>
            <a:ext cx="14224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2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Capture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one photo: colour card + sample well + blank well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F176F1F-D650-9509-D17E-D7BBE7ACB3E6}"/>
              </a:ext>
            </a:extLst>
          </p:cNvPr>
          <p:cNvSpPr/>
          <p:nvPr/>
        </p:nvSpPr>
        <p:spPr>
          <a:xfrm>
            <a:off x="3530600" y="1676400"/>
            <a:ext cx="16002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3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Read the colour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correct the light, compare with the blank, match the kit's colour bands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4ACF164-5C6F-342B-525D-4586234078DB}"/>
              </a:ext>
            </a:extLst>
          </p:cNvPr>
          <p:cNvCxnSpPr/>
          <p:nvPr/>
        </p:nvCxnSpPr>
        <p:spPr>
          <a:xfrm>
            <a:off x="1701800" y="1968500"/>
            <a:ext cx="2032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855FE-7874-36D3-CE92-674272B6B6C1}"/>
              </a:ext>
            </a:extLst>
          </p:cNvPr>
          <p:cNvCxnSpPr/>
          <p:nvPr/>
        </p:nvCxnSpPr>
        <p:spPr>
          <a:xfrm>
            <a:off x="3327400" y="1968500"/>
            <a:ext cx="2032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E3BFFE-7EAE-67A3-F949-B81EE3E181A0}"/>
              </a:ext>
            </a:extLst>
          </p:cNvPr>
          <p:cNvCxnSpPr/>
          <p:nvPr/>
        </p:nvCxnSpPr>
        <p:spPr>
          <a:xfrm>
            <a:off x="5130800" y="1968500"/>
            <a:ext cx="1778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Diamond 19">
            <a:extLst>
              <a:ext uri="{FF2B5EF4-FFF2-40B4-BE49-F238E27FC236}">
                <a16:creationId xmlns:a16="http://schemas.microsoft.com/office/drawing/2014/main" id="{CB5F2520-62C6-5F39-E6B9-C6E8C4CD7012}"/>
              </a:ext>
            </a:extLst>
          </p:cNvPr>
          <p:cNvSpPr/>
          <p:nvPr/>
        </p:nvSpPr>
        <p:spPr>
          <a:xfrm>
            <a:off x="5308600" y="1625600"/>
            <a:ext cx="990600" cy="6858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Result?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83E71D9-5599-A814-85BA-CF6A377AC44D}"/>
              </a:ext>
            </a:extLst>
          </p:cNvPr>
          <p:cNvSpPr/>
          <p:nvPr/>
        </p:nvSpPr>
        <p:spPr>
          <a:xfrm>
            <a:off x="6477000" y="1498600"/>
            <a:ext cx="1092200" cy="3302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C55A11"/>
                </a:solidFill>
                <a:latin typeface="Arial" panose="020B0604020202020204" pitchFamily="34" charset="0"/>
              </a:rPr>
              <a:t>POSITIVE: drug list + NDPS warning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D818840-AFED-5858-180B-EB6C7CE06562}"/>
              </a:ext>
            </a:extLst>
          </p:cNvPr>
          <p:cNvCxnSpPr/>
          <p:nvPr/>
        </p:nvCxnSpPr>
        <p:spPr>
          <a:xfrm flipV="1">
            <a:off x="6299200" y="1663700"/>
            <a:ext cx="177800" cy="3048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C07D88D-B649-8C53-EE13-3FEBC9586BC0}"/>
              </a:ext>
            </a:extLst>
          </p:cNvPr>
          <p:cNvSpPr/>
          <p:nvPr/>
        </p:nvSpPr>
        <p:spPr>
          <a:xfrm>
            <a:off x="6477000" y="1879600"/>
            <a:ext cx="1092200" cy="203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9525">
            <a:solidFill>
              <a:srgbClr val="2E7D32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2E7D32"/>
                </a:solidFill>
                <a:latin typeface="Arial" panose="020B0604020202020204" pitchFamily="34" charset="0"/>
              </a:rPr>
              <a:t>NO COLOUR CHANGE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1B41757-D108-EF59-D36E-8FE92BE0D07A}"/>
              </a:ext>
            </a:extLst>
          </p:cNvPr>
          <p:cNvCxnSpPr/>
          <p:nvPr/>
        </p:nvCxnSpPr>
        <p:spPr>
          <a:xfrm>
            <a:off x="6299200" y="1968500"/>
            <a:ext cx="177800" cy="127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3BB37BA-0AC2-A717-077D-FB7F558A1C0A}"/>
              </a:ext>
            </a:extLst>
          </p:cNvPr>
          <p:cNvSpPr/>
          <p:nvPr/>
        </p:nvSpPr>
        <p:spPr>
          <a:xfrm>
            <a:off x="6477000" y="2133600"/>
            <a:ext cx="1092200" cy="203200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 w="9525">
            <a:solidFill>
              <a:srgbClr val="7F7F7F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0" rIns="38100" bIns="0" rtlCol="0" anchor="ctr"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700" b="1">
                <a:solidFill>
                  <a:srgbClr val="7F7F7F"/>
                </a:solidFill>
                <a:latin typeface="Arial" panose="020B0604020202020204" pitchFamily="34" charset="0"/>
              </a:rPr>
              <a:t>INCONCLUSIVE: retake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A2037B-B6B7-5A9C-3120-A912F2E994AF}"/>
              </a:ext>
            </a:extLst>
          </p:cNvPr>
          <p:cNvCxnSpPr/>
          <p:nvPr/>
        </p:nvCxnSpPr>
        <p:spPr>
          <a:xfrm>
            <a:off x="6299200" y="1968500"/>
            <a:ext cx="177800" cy="2667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FF072A3-28DD-16D9-1C31-AC8E729FB982}"/>
              </a:ext>
            </a:extLst>
          </p:cNvPr>
          <p:cNvCxnSpPr/>
          <p:nvPr/>
        </p:nvCxnSpPr>
        <p:spPr>
          <a:xfrm>
            <a:off x="5803900" y="2311400"/>
            <a:ext cx="0" cy="17780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DE06097-BBBD-64EB-1F31-F30A05445729}"/>
              </a:ext>
            </a:extLst>
          </p:cNvPr>
          <p:cNvCxnSpPr/>
          <p:nvPr/>
        </p:nvCxnSpPr>
        <p:spPr>
          <a:xfrm flipH="1">
            <a:off x="1041400" y="2489200"/>
            <a:ext cx="4762500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14AB969-34E7-54EC-F93D-701902806186}"/>
              </a:ext>
            </a:extLst>
          </p:cNvPr>
          <p:cNvCxnSpPr/>
          <p:nvPr/>
        </p:nvCxnSpPr>
        <p:spPr>
          <a:xfrm flipV="1">
            <a:off x="1041400" y="2273300"/>
            <a:ext cx="0" cy="2159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C68F81B-8DE5-26DD-0900-F5996DD77F54}"/>
              </a:ext>
            </a:extLst>
          </p:cNvPr>
          <p:cNvSpPr txBox="1"/>
          <p:nvPr/>
        </p:nvSpPr>
        <p:spPr>
          <a:xfrm>
            <a:off x="1219200" y="25146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750" i="1">
                <a:solidFill>
                  <a:srgbClr val="595959"/>
                </a:solidFill>
                <a:latin typeface="Arial" panose="020B0604020202020204" pitchFamily="34" charset="0"/>
              </a:rPr>
              <a:t>no colour change or inconclusive: next test, as the kit's flow chart says</a:t>
            </a:r>
            <a:endParaRPr lang="en-IN" sz="7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CE83182-CD40-48F3-BC64-C4FBA212DD6A}"/>
              </a:ext>
            </a:extLst>
          </p:cNvPr>
          <p:cNvCxnSpPr/>
          <p:nvPr/>
        </p:nvCxnSpPr>
        <p:spPr>
          <a:xfrm>
            <a:off x="7023100" y="2336800"/>
            <a:ext cx="0" cy="381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4BC4560-DC4D-89B0-3656-1E02A2016586}"/>
              </a:ext>
            </a:extLst>
          </p:cNvPr>
          <p:cNvSpPr txBox="1"/>
          <p:nvPr/>
        </p:nvSpPr>
        <p:spPr>
          <a:xfrm>
            <a:off x="7073900" y="2438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700" i="1">
                <a:solidFill>
                  <a:srgbClr val="595959"/>
                </a:solidFill>
                <a:latin typeface="Arial" panose="020B0604020202020204" pitchFamily="34" charset="0"/>
              </a:rPr>
              <a:t>every result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7DB1F25-660A-6862-85ED-C5E1F29987EC}"/>
              </a:ext>
            </a:extLst>
          </p:cNvPr>
          <p:cNvSpPr/>
          <p:nvPr/>
        </p:nvSpPr>
        <p:spPr>
          <a:xfrm>
            <a:off x="5588000" y="2717800"/>
            <a:ext cx="19812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4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Sign and chain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time, GNSS time, GPS, officer, image hash; signed, and linked to the last record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C01CE2-429C-729C-2835-326FC18B023B}"/>
              </a:ext>
            </a:extLst>
          </p:cNvPr>
          <p:cNvCxnSpPr/>
          <p:nvPr/>
        </p:nvCxnSpPr>
        <p:spPr>
          <a:xfrm flipH="1">
            <a:off x="5346700" y="3009900"/>
            <a:ext cx="241300" cy="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EB9ECA86-5BD2-64EA-B1CE-859CD972AC19}"/>
              </a:ext>
            </a:extLst>
          </p:cNvPr>
          <p:cNvSpPr/>
          <p:nvPr/>
        </p:nvSpPr>
        <p:spPr>
          <a:xfrm>
            <a:off x="2997200" y="2717800"/>
            <a:ext cx="2336800" cy="584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0070C0"/>
                </a:solidFill>
                <a:latin typeface="Arial" panose="020B0604020202020204" pitchFamily="34" charset="0"/>
              </a:rPr>
              <a:t>5  </a:t>
            </a: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Anchor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a 14-character code goes into the panchnama that the witnesses sign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87C6B0-985A-3D87-A448-29DB2E31CF9F}"/>
              </a:ext>
            </a:extLst>
          </p:cNvPr>
          <p:cNvSpPr txBox="1"/>
          <p:nvPr/>
        </p:nvSpPr>
        <p:spPr>
          <a:xfrm>
            <a:off x="381000" y="2768600"/>
            <a:ext cx="248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00" i="1">
                <a:solidFill>
                  <a:srgbClr val="595959"/>
                </a:solidFill>
                <a:latin typeface="Arial" panose="020B0604020202020204" pitchFamily="34" charset="0"/>
              </a:rPr>
              <a:t>Every capture is recorded, retakes and negatives too, so a test cannot be quietly dropped or re-run.</a:t>
            </a:r>
            <a:endParaRPr lang="en-IN" sz="80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A03169A-2EA8-2DD5-82FD-C9DEAAD6EE9B}"/>
              </a:ext>
            </a:extLst>
          </p:cNvPr>
          <p:cNvCxnSpPr/>
          <p:nvPr/>
        </p:nvCxnSpPr>
        <p:spPr>
          <a:xfrm>
            <a:off x="3556000" y="3302000"/>
            <a:ext cx="0" cy="508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C0E5C86-35BA-94E0-7B91-E8CC4EB966AB}"/>
              </a:ext>
            </a:extLst>
          </p:cNvPr>
          <p:cNvSpPr/>
          <p:nvPr/>
        </p:nvSpPr>
        <p:spPr>
          <a:xfrm>
            <a:off x="381000" y="3810000"/>
            <a:ext cx="34036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Verify, any time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a court expert, the defence or the lab re-checks signatures, the chain and the panchnama code: VERIFIED or tampering found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C7CBB13-7A00-19EB-25E4-105EC32D7867}"/>
              </a:ext>
            </a:extLst>
          </p:cNvPr>
          <p:cNvCxnSpPr/>
          <p:nvPr/>
        </p:nvCxnSpPr>
        <p:spPr>
          <a:xfrm>
            <a:off x="6578600" y="3302000"/>
            <a:ext cx="0" cy="508000"/>
          </a:xfrm>
          <a:prstGeom prst="line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16BF1495-281A-B31E-119F-C536BF4D0168}"/>
              </a:ext>
            </a:extLst>
          </p:cNvPr>
          <p:cNvSpPr/>
          <p:nvPr/>
        </p:nvSpPr>
        <p:spPr>
          <a:xfrm>
            <a:off x="4114800" y="3810000"/>
            <a:ext cx="34036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tIns="25400" rIns="50800" bIns="25400" rtlCol="0" anchor="ctr"/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950" b="1">
                <a:solidFill>
                  <a:srgbClr val="1F3864"/>
                </a:solidFill>
                <a:latin typeface="Arial" panose="020B0604020202020204" pitchFamily="34" charset="0"/>
              </a:rPr>
              <a:t>Sync and search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262626"/>
                </a:solidFill>
                <a:latin typeface="Arial" panose="020B0604020202020204" pitchFamily="34" charset="0"/>
              </a:rPr>
              <a:t>each record checked on arrival (forks, replays, gaps); case search; our server is never trusted; lab-result link planned</a:t>
            </a:r>
            <a:endParaRPr lang="en-IN" sz="8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DE7C73-0ADF-AE12-E8A2-116A9FBD20F2}"/>
              </a:ext>
            </a:extLst>
          </p:cNvPr>
          <p:cNvSpPr txBox="1"/>
          <p:nvPr/>
        </p:nvSpPr>
        <p:spPr>
          <a:xfrm>
            <a:off x="279400" y="46609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00" i="1">
                <a:solidFill>
                  <a:srgbClr val="595959"/>
                </a:solidFill>
                <a:latin typeface="Arial" panose="020B0604020202020204" pitchFamily="34" charset="0"/>
              </a:rPr>
              <a:t>Every step above runs today in our Python prototype (colour on simulated photos). The Android app and hardware-backed keys are next.</a:t>
            </a:r>
            <a:endParaRPr lang="en-IN" sz="80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5E0FAE-174B-8B38-8795-DA34BC72E1AC}"/>
              </a:ext>
            </a:extLst>
          </p:cNvPr>
          <p:cNvSpPr txBox="1"/>
          <p:nvPr/>
        </p:nvSpPr>
        <p:spPr>
          <a:xfrm>
            <a:off x="279400" y="4876800"/>
            <a:ext cx="734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Trust: </a:t>
            </a: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NCB signs the supervisor list; a supervisor's key (a Class 3 DSC in production) binds officer + phone + key; the phone key is designed to live in StrongBox/TEE (prototype: test keys).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Technologies to be used: </a:t>
            </a:r>
            <a:r>
              <a:rPr lang="en-IN" sz="900">
                <a:solidFill>
                  <a:srgbClr val="262626"/>
                </a:solidFill>
                <a:latin typeface="Arial" panose="020B0604020202020204" pitchFamily="34" charset="0"/>
              </a:rPr>
              <a:t>Kotlin · CameraX/Camera2 RAW · OpenCV · Android Keystore + attestation · SQLCipher · RFC 8785 JSON · ECDSA P-256 · Spring Boot · PostgreSQL · S3. Prototype today: Python, OpenCV, SQLite.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900" b="1">
                <a:solidFill>
                  <a:srgbClr val="1F3864"/>
                </a:solidFill>
                <a:latin typeface="Arial" panose="020B0604020202020204" pitchFamily="34" charset="0"/>
              </a:rPr>
              <a:t>Deliberately not used: </a:t>
            </a:r>
            <a:r>
              <a:rPr lang="en-US" sz="900">
                <a:solidFill>
                  <a:srgbClr val="262626"/>
                </a:solidFill>
                <a:latin typeface="Arial" panose="020B0604020202020204" pitchFamily="34" charset="0"/>
              </a:rPr>
              <a:t>blockchain, cloud AI, a neural-network "drug detector" (a colour test cannot identify a drug; the court must be able to re-run the reading).</a:t>
            </a:r>
            <a:endParaRPr lang="en-IN" sz="90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EDCF619-3A28-09A1-0280-A9244D0CBECD}"/>
              </a:ext>
            </a:extLst>
          </p:cNvPr>
          <p:cNvSpPr txBox="1"/>
          <p:nvPr/>
        </p:nvSpPr>
        <p:spPr>
          <a:xfrm>
            <a:off x="7874000" y="1244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WORKING PROTOTYPE OUTPUT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45B29B3-7D85-89F0-FDAC-12132C49CFC9}"/>
              </a:ext>
            </a:extLst>
          </p:cNvPr>
          <p:cNvSpPr/>
          <p:nvPr/>
        </p:nvSpPr>
        <p:spPr>
          <a:xfrm>
            <a:off x="11277600" y="12700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6F7FE708-87DE-BD0E-672A-9BC2E8D4F8F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72BFD35-AE3A-0F00-C147-94384BC2DB13}"/>
              </a:ext>
            </a:extLst>
          </p:cNvPr>
          <p:cNvSpPr txBox="1"/>
          <p:nvPr/>
        </p:nvSpPr>
        <p:spPr>
          <a:xfrm>
            <a:off x="78486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C55A11"/>
                </a:solidFill>
                <a:latin typeface="Arial" panose="020B0604020202020204" pitchFamily="34" charset="0"/>
              </a:rPr>
              <a:t>POSITIVE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A: fits codeine, heroin, morphine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E7F3C9CA-BF5F-88FA-C018-90B06735D88F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92456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3FFFC679-D3EC-76B2-CECF-B5AB3206A851}"/>
              </a:ext>
            </a:extLst>
          </p:cNvPr>
          <p:cNvSpPr txBox="1"/>
          <p:nvPr/>
        </p:nvSpPr>
        <p:spPr>
          <a:xfrm>
            <a:off x="92202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2E7D32"/>
                </a:solidFill>
                <a:latin typeface="Arial" panose="020B0604020202020204" pitchFamily="34" charset="0"/>
              </a:rPr>
              <a:t>NEGATIVE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A: no colour change vs blank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977957A5-30C7-DE70-2869-16B82A936460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0617200" y="1524000"/>
            <a:ext cx="1270000" cy="939800"/>
          </a:xfrm>
          <a:prstGeom prst="rect">
            <a:avLst/>
          </a:prstGeom>
          <a:ln w="9525">
            <a:solidFill>
              <a:srgbClr val="B4C7E7"/>
            </a:solidFill>
          </a:ln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EE45179-607F-9DA6-AAF6-B6F961B7CAFE}"/>
              </a:ext>
            </a:extLst>
          </p:cNvPr>
          <p:cNvSpPr txBox="1"/>
          <p:nvPr/>
        </p:nvSpPr>
        <p:spPr>
          <a:xfrm>
            <a:off x="10591800" y="24892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900" b="1">
                <a:solidFill>
                  <a:srgbClr val="7F7F7F"/>
                </a:solidFill>
                <a:latin typeface="Arial" panose="020B0604020202020204" pitchFamily="34" charset="0"/>
              </a:rPr>
              <a:t>INCONCLUSIVE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800">
                <a:solidFill>
                  <a:srgbClr val="595959"/>
                </a:solidFill>
                <a:latin typeface="Arial" panose="020B0604020202020204" pitchFamily="34" charset="0"/>
              </a:rPr>
              <a:t>Test C: kit chart not printed</a:t>
            </a:r>
            <a:endParaRPr lang="en-IN" sz="80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1722FB4-916D-DFD0-39E4-ADD81DC50032}"/>
              </a:ext>
            </a:extLst>
          </p:cNvPr>
          <p:cNvSpPr txBox="1"/>
          <p:nvPr/>
        </p:nvSpPr>
        <p:spPr>
          <a:xfrm>
            <a:off x="7874000" y="29718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850" i="1">
                <a:solidFill>
                  <a:srgbClr val="595959"/>
                </a:solidFill>
                <a:latin typeface="Arial" panose="020B0604020202020204" pitchFamily="34" charset="0"/>
              </a:rPr>
              <a:t>Real reference code on camera-model photos: finds the card, corrects the light, reads the well against the blank, decides, then signs and chains the record; the raid verifies offline.</a:t>
            </a:r>
            <a:endParaRPr lang="en-IN" sz="850" i="1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12AB3FC-755C-9380-0607-8FCED44BD230}"/>
              </a:ext>
            </a:extLst>
          </p:cNvPr>
          <p:cNvSpPr txBox="1"/>
          <p:nvPr/>
        </p:nvSpPr>
        <p:spPr>
          <a:xfrm>
            <a:off x="7874000" y="3581400"/>
            <a:ext cx="401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IMPLEMENTATION STATUS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49FF31CE-8458-7038-4C46-1D3FBF847D39}"/>
              </a:ext>
            </a:extLst>
          </p:cNvPr>
          <p:cNvSpPr/>
          <p:nvPr/>
        </p:nvSpPr>
        <p:spPr>
          <a:xfrm>
            <a:off x="7874000" y="38608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15854DC-B5E5-350C-008C-CF4E36832F9E}"/>
              </a:ext>
            </a:extLst>
          </p:cNvPr>
          <p:cNvSpPr txBox="1"/>
          <p:nvPr/>
        </p:nvSpPr>
        <p:spPr>
          <a:xfrm>
            <a:off x="8737600" y="3835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Python reference prototype + one-command demo, 65 automated test cases: github.com/Harshith029/fieldtest-recorder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763757A4-E4F8-EC79-9837-894BC739AAD8}"/>
              </a:ext>
            </a:extLst>
          </p:cNvPr>
          <p:cNvSpPr/>
          <p:nvPr/>
        </p:nvSpPr>
        <p:spPr>
          <a:xfrm>
            <a:off x="7874000" y="43688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9BC4EE-1D57-BFA9-BD74-AF4D90C30A33}"/>
              </a:ext>
            </a:extLst>
          </p:cNvPr>
          <p:cNvSpPr txBox="1"/>
          <p:nvPr/>
        </p:nvSpPr>
        <p:spPr>
          <a:xfrm>
            <a:off x="8737600" y="4343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Colour, liveness, night-light and amount experiments on simulated photos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C78C20F-E89B-CE0A-98DA-1C2CA76B063D}"/>
              </a:ext>
            </a:extLst>
          </p:cNvPr>
          <p:cNvSpPr/>
          <p:nvPr/>
        </p:nvSpPr>
        <p:spPr>
          <a:xfrm>
            <a:off x="7874000" y="48768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CD6938-B384-F57E-F9A9-4B71F67195C7}"/>
              </a:ext>
            </a:extLst>
          </p:cNvPr>
          <p:cNvSpPr txBox="1"/>
          <p:nvPr/>
        </p:nvSpPr>
        <p:spPr>
          <a:xfrm>
            <a:off x="8737600" y="4851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Android app; printed-card and real-reaction validation with NCB/CFSL chemists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E6DBECC-E964-B735-F8B4-BF36DDC8DA5B}"/>
              </a:ext>
            </a:extLst>
          </p:cNvPr>
          <p:cNvSpPr/>
          <p:nvPr/>
        </p:nvSpPr>
        <p:spPr>
          <a:xfrm>
            <a:off x="279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5985F7-B622-167D-5CE3-7DF7201A193C}"/>
              </a:ext>
            </a:extLst>
          </p:cNvPr>
          <p:cNvSpPr txBox="1"/>
          <p:nvPr/>
        </p:nvSpPr>
        <p:spPr>
          <a:xfrm>
            <a:off x="406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18/18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A646D-A76C-566A-1292-DEAFF85D36EC}"/>
              </a:ext>
            </a:extLst>
          </p:cNvPr>
          <p:cNvSpPr txBox="1"/>
          <p:nvPr/>
        </p:nvSpPr>
        <p:spPr>
          <a:xfrm>
            <a:off x="406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of our tampering attacks caught by the verifier, incl. insider-admin forgery and deleted records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36D0F00-A599-23B1-DAAA-D75FBBE4A6E4}"/>
              </a:ext>
            </a:extLst>
          </p:cNvPr>
          <p:cNvSpPr/>
          <p:nvPr/>
        </p:nvSpPr>
        <p:spPr>
          <a:xfrm>
            <a:off x="2159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08A5BC-F913-9B7D-FAFB-0F2337A4DFDD}"/>
              </a:ext>
            </a:extLst>
          </p:cNvPr>
          <p:cNvSpPr/>
          <p:nvPr/>
        </p:nvSpPr>
        <p:spPr>
          <a:xfrm>
            <a:off x="3200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831CE7-51C2-CD23-992D-E0252833C969}"/>
              </a:ext>
            </a:extLst>
          </p:cNvPr>
          <p:cNvSpPr txBox="1"/>
          <p:nvPr/>
        </p:nvSpPr>
        <p:spPr>
          <a:xfrm>
            <a:off x="3327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15/15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AEA8C5-0892-3B61-19B7-C8B6D95E9AF3}"/>
              </a:ext>
            </a:extLst>
          </p:cNvPr>
          <p:cNvSpPr txBox="1"/>
          <p:nvPr/>
        </p:nvSpPr>
        <p:spPr>
          <a:xfrm>
            <a:off x="3327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sync and failure scenarios handled by the reference sync protocol, incl. an old-backup restore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7977830-455E-0B34-0FCD-49A299498C90}"/>
              </a:ext>
            </a:extLst>
          </p:cNvPr>
          <p:cNvSpPr/>
          <p:nvPr/>
        </p:nvSpPr>
        <p:spPr>
          <a:xfrm>
            <a:off x="5080000" y="1295400"/>
            <a:ext cx="787400" cy="1397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PROVEN IN CODE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0AA317-B435-4FF6-BD1C-23E883814B82}"/>
              </a:ext>
            </a:extLst>
          </p:cNvPr>
          <p:cNvSpPr/>
          <p:nvPr/>
        </p:nvSpPr>
        <p:spPr>
          <a:xfrm>
            <a:off x="6121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B3944F-4DCE-90B5-9CC6-D5B123EC2E12}"/>
              </a:ext>
            </a:extLst>
          </p:cNvPr>
          <p:cNvSpPr txBox="1"/>
          <p:nvPr/>
        </p:nvSpPr>
        <p:spPr>
          <a:xfrm>
            <a:off x="6248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11.7% → 0%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364BB6-D150-7B03-4C90-F21CAA6169AF}"/>
              </a:ext>
            </a:extLst>
          </p:cNvPr>
          <p:cNvSpPr txBox="1"/>
          <p:nvPr/>
        </p:nvSpPr>
        <p:spPr>
          <a:xfrm>
            <a:off x="6248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false positives as sample amount varies: our first single-point rule vs colour bands (published US colours)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70076E-EBCE-85F6-9D4D-FA1FAD2D12FF}"/>
              </a:ext>
            </a:extLst>
          </p:cNvPr>
          <p:cNvSpPr/>
          <p:nvPr/>
        </p:nvSpPr>
        <p:spPr>
          <a:xfrm>
            <a:off x="8178800" y="1295400"/>
            <a:ext cx="609600" cy="139700"/>
          </a:xfrm>
          <a:prstGeom prst="roundRect">
            <a:avLst>
              <a:gd name="adj" fmla="val 50000"/>
            </a:avLst>
          </a:prstGeom>
          <a:solidFill>
            <a:srgbClr val="C55A11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SIMULATED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4003777-ABE1-44CB-9F08-2CBEB5B95E6F}"/>
              </a:ext>
            </a:extLst>
          </p:cNvPr>
          <p:cNvSpPr/>
          <p:nvPr/>
        </p:nvSpPr>
        <p:spPr>
          <a:xfrm>
            <a:off x="9042400" y="1219200"/>
            <a:ext cx="2794000" cy="1219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8B8ACF-5EC9-CABE-73C5-EC96C942A397}"/>
              </a:ext>
            </a:extLst>
          </p:cNvPr>
          <p:cNvSpPr txBox="1"/>
          <p:nvPr/>
        </p:nvSpPr>
        <p:spPr>
          <a:xfrm>
            <a:off x="9169400" y="1295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sz="2600" b="1">
                <a:solidFill>
                  <a:srgbClr val="0070C0"/>
                </a:solidFill>
                <a:latin typeface="Arial" panose="020B0604020202020204" pitchFamily="34" charset="0"/>
              </a:rPr>
              <a:t>≤ 1%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18E634-547A-FE9A-E6FB-FBB8D49ED02F}"/>
              </a:ext>
            </a:extLst>
          </p:cNvPr>
          <p:cNvSpPr txBox="1"/>
          <p:nvPr/>
        </p:nvSpPr>
        <p:spPr>
          <a:xfrm>
            <a:off x="9169400" y="1778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false-positive target for real-kit validation: 1,296 captures, 3 sample amounts, 95% confidence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D76F5A-933D-99B2-58C7-59207CED60DA}"/>
              </a:ext>
            </a:extLst>
          </p:cNvPr>
          <p:cNvSpPr/>
          <p:nvPr/>
        </p:nvSpPr>
        <p:spPr>
          <a:xfrm>
            <a:off x="11353800" y="1295400"/>
            <a:ext cx="355600" cy="139700"/>
          </a:xfrm>
          <a:prstGeom prst="roundRect">
            <a:avLst>
              <a:gd name="adj" fmla="val 50000"/>
            </a:avLst>
          </a:prstGeom>
          <a:solidFill>
            <a:srgbClr val="7F7F7F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650" b="1">
                <a:solidFill>
                  <a:srgbClr val="FFFFFF"/>
                </a:solidFill>
                <a:latin typeface="Arial" panose="020B0604020202020204" pitchFamily="34" charset="0"/>
              </a:rPr>
              <a:t>NEXT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20EEE9-A240-0F6F-F58E-07CB91D00227}"/>
              </a:ext>
            </a:extLst>
          </p:cNvPr>
          <p:cNvSpPr txBox="1"/>
          <p:nvPr/>
        </p:nvSpPr>
        <p:spPr>
          <a:xfrm>
            <a:off x="279400" y="25908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POTENTIAL CHALLENGES, RISKS AND STRATEGIES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29033978-CF68-C150-E8CB-C6721066F6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3139535"/>
              </p:ext>
            </p:extLst>
          </p:nvPr>
        </p:nvGraphicFramePr>
        <p:xfrm>
          <a:off x="279400" y="2819400"/>
          <a:ext cx="76200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853856836"/>
                    </a:ext>
                  </a:extLst>
                </a:gridCol>
                <a:gridCol w="5080000">
                  <a:extLst>
                    <a:ext uri="{9D8B030D-6E8A-4147-A177-3AD203B41FA5}">
                      <a16:colId xmlns:a16="http://schemas.microsoft.com/office/drawing/2014/main" val="211767766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Challenge / risk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Strategy</a:t>
                      </a:r>
                    </a:p>
                  </a:txBody>
                  <a:tcPr marL="76200" marR="76200" marT="76200" marB="762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32947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Real reaction colours differ from the printed chart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Validation by NCB/CFSL chemists under their licences: 1,296 captures at 3 sample amounts; we never handle narcotics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567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Phones and light vary; glare; night raids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Reference card + RAW capture and a bad-light gate (prototype); say "inconclusive" rather than guess; flash/no-flash night mode (simulated, not yet integrated)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2396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Staged or swapped sample; contaminated blank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 blank that shows a reaction colour gives inconclusive, never negative (prototype). Planned: capture from before the drop, liveness check (simulated so far), package label in frame, s.105 video link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89682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Rooted phone, insider, deleted records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Supervisor-signed binding, panchnama anchor, untrusted server (prototype); hardware keys + attestation (designed; checker prototyped)</a:t>
                      </a:r>
                    </a:p>
                  </a:txBody>
                  <a:tcPr marL="76200" marR="76200" marT="76200" marB="762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8342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Access to SIMS / e-Sakshya not confirmed</a:t>
                      </a:r>
                      <a:endParaRPr lang="en-IN" sz="100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1000" b="0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File exports first; the engine is designed as an SDK that e-Sakshya could embed</a:t>
                      </a:r>
                      <a:endParaRPr lang="en-IN" sz="1000" b="0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76200" marR="762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0165215"/>
                  </a:ext>
                </a:extLst>
              </a:tr>
            </a:tbl>
          </a:graphicData>
        </a:graphic>
      </p:graphicFrame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B1AD160-045A-422A-1EDE-4D48EC8D3ECA}"/>
              </a:ext>
            </a:extLst>
          </p:cNvPr>
          <p:cNvSpPr/>
          <p:nvPr/>
        </p:nvSpPr>
        <p:spPr>
          <a:xfrm>
            <a:off x="8102600" y="2590800"/>
            <a:ext cx="3810000" cy="3632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EFEDB1-1070-FAFE-45BB-F0CFA9053F56}"/>
              </a:ext>
            </a:extLst>
          </p:cNvPr>
          <p:cNvSpPr txBox="1"/>
          <p:nvPr/>
        </p:nvSpPr>
        <p:spPr>
          <a:xfrm>
            <a:off x="8255000" y="26924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FEASIBILITY ANALYSIS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29439E-375D-1062-6D2F-94D8925165F9}"/>
              </a:ext>
            </a:extLst>
          </p:cNvPr>
          <p:cNvSpPr txBox="1"/>
          <p:nvPr/>
        </p:nvSpPr>
        <p:spPr>
          <a:xfrm>
            <a:off x="8255000" y="2971800"/>
            <a:ext cx="353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Existing kit, existing phones: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already supplies the kit free; the additions are a printed colour card per kit and a few reagent drops for the blank well.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Small infrastructure (estimate):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one app server pair, PostgreSQL, 1–3 TB a year of storage on NIC or MeitY-empanelled cloud.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Government-owned by design: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NCB would hold the signing keys, the colour standard and the code; open formats, no per-device licence fees.</a:t>
            </a:r>
          </a:p>
          <a:p>
            <a:pPr marL="127000" indent="-127000">
              <a:spcBef>
                <a:spcPts val="0"/>
              </a:spcBef>
              <a:spcAft>
                <a:spcPts val="9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Pass criteria set in advance: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false positives at most 1%, proven at 95% confidence (at least 299 negative controls); "inconclusive" at most 15%.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Clear status: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every number is labelled proven in code, simulated or next. No real phone photo or real reaction has been tested yet; that is the next stage.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2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  <a:endParaRPr lang="en-US" sz="32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2E6CD9-44AB-0609-2462-3DD8EBFD6A36}"/>
              </a:ext>
            </a:extLst>
          </p:cNvPr>
          <p:cNvSpPr txBox="1"/>
          <p:nvPr/>
        </p:nvSpPr>
        <p:spPr>
          <a:xfrm>
            <a:off x="279400" y="1244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POTENTIAL IMPACT ON THE TARGET AUDIENCE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E26D960-CBA6-C398-A311-786D6F5AE8CE}"/>
              </a:ext>
            </a:extLst>
          </p:cNvPr>
          <p:cNvSpPr/>
          <p:nvPr/>
        </p:nvSpPr>
        <p:spPr>
          <a:xfrm>
            <a:off x="279400" y="15240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SO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A5CD8B-73D3-1F54-67EE-D21635C8B090}"/>
              </a:ext>
            </a:extLst>
          </p:cNvPr>
          <p:cNvSpPr txBox="1"/>
          <p:nvPr/>
        </p:nvSpPr>
        <p:spPr>
          <a:xfrm>
            <a:off x="863600" y="14986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Seizing officer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 guided test and a signed record that shows good-faith action; planned: Field Test Memo and Form-1 item 5 filled in.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870D3B4-5D52-565A-F216-7E49DC903E10}"/>
              </a:ext>
            </a:extLst>
          </p:cNvPr>
          <p:cNvSpPr/>
          <p:nvPr/>
        </p:nvSpPr>
        <p:spPr>
          <a:xfrm>
            <a:off x="279400" y="23368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IO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84CBDA-4742-9202-8DE5-E2B78754891F}"/>
              </a:ext>
            </a:extLst>
          </p:cNvPr>
          <p:cNvSpPr txBox="1"/>
          <p:nvPr/>
        </p:nvSpPr>
        <p:spPr>
          <a:xfrm>
            <a:off x="863600" y="23114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Investigating officer, prosecutor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Checkable records for remand and bail; planned: a Rule 10(2) grouping check and the lab result linked back.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EEB6FEA-1E36-28CC-18ED-54CF0554B075}"/>
              </a:ext>
            </a:extLst>
          </p:cNvPr>
          <p:cNvSpPr/>
          <p:nvPr/>
        </p:nvSpPr>
        <p:spPr>
          <a:xfrm>
            <a:off x="279400" y="31496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CT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D9A3D4-C8EF-43D3-EA7A-432537FF4820}"/>
              </a:ext>
            </a:extLst>
          </p:cNvPr>
          <p:cNvSpPr txBox="1"/>
          <p:nvPr/>
        </p:nvSpPr>
        <p:spPr>
          <a:xfrm>
            <a:off x="863600" y="31242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Courts, defence, the accused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Any expert can re-check the record offline; the quantity category is flagged as uncertain until the lab confirms.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A43F34C-15C3-912B-A9B8-08BC305B4C75}"/>
              </a:ext>
            </a:extLst>
          </p:cNvPr>
          <p:cNvSpPr/>
          <p:nvPr/>
        </p:nvSpPr>
        <p:spPr>
          <a:xfrm>
            <a:off x="279400" y="3962400"/>
            <a:ext cx="457200" cy="457200"/>
          </a:xfrm>
          <a:prstGeom prst="ellipse">
            <a:avLst/>
          </a:prstGeom>
          <a:solidFill>
            <a:srgbClr val="0070C0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IN" sz="1050" b="1">
                <a:solidFill>
                  <a:srgbClr val="FFFFFF"/>
                </a:solidFill>
                <a:latin typeface="Arial" panose="020B0604020202020204" pitchFamily="34" charset="0"/>
              </a:rPr>
              <a:t>HQ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6EC640-D7D0-4E49-4F27-F00047C1F8A6}"/>
              </a:ext>
            </a:extLst>
          </p:cNvPr>
          <p:cNvSpPr txBox="1"/>
          <p:nvPr/>
        </p:nvSpPr>
        <p:spPr>
          <a:xfrm>
            <a:off x="863600" y="3937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IN" sz="1100" b="1">
                <a:solidFill>
                  <a:srgbClr val="1F3864"/>
                </a:solidFill>
                <a:latin typeface="Arial" panose="020B0604020202020204" pitchFamily="34" charset="0"/>
              </a:rPr>
              <a:t>NCB headquarters and labs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Planned: field-vs-lab accuracy per kit batch and per test, from lab reports the IO already receives.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0D5C10-2D89-40C6-6D52-6524ABF01DAC}"/>
              </a:ext>
            </a:extLst>
          </p:cNvPr>
          <p:cNvSpPr txBox="1"/>
          <p:nvPr/>
        </p:nvSpPr>
        <p:spPr>
          <a:xfrm>
            <a:off x="5842000" y="1244600"/>
            <a:ext cx="6070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WHAT CHANGES FOR ONE SEIZURE</a:t>
            </a:r>
            <a:endParaRPr lang="en-IN" sz="1100" b="1">
              <a:solidFill>
                <a:srgbClr val="1F3864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26A4174-06D5-87D4-5811-C3938AA7E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092504"/>
              </p:ext>
            </p:extLst>
          </p:nvPr>
        </p:nvGraphicFramePr>
        <p:xfrm>
          <a:off x="5842000" y="1498600"/>
          <a:ext cx="6070600" cy="330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1897370188"/>
                    </a:ext>
                  </a:extLst>
                </a:gridCol>
                <a:gridCol w="3403600">
                  <a:extLst>
                    <a:ext uri="{9D8B030D-6E8A-4147-A177-3AD203B41FA5}">
                      <a16:colId xmlns:a16="http://schemas.microsoft.com/office/drawing/2014/main" val="4066275939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Today (paper)</a:t>
                      </a:r>
                    </a:p>
                  </a:txBody>
                  <a:tcPr marL="63500" marR="63500" marT="38100" marB="38100">
                    <a:solidFill>
                      <a:srgbClr val="7F7F7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1" i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With FieldTest Recorder</a:t>
                      </a:r>
                    </a:p>
                  </a:txBody>
                  <a:tcPr marL="63500" marR="63500" marT="38100" marB="38100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51123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Colour judged by eye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Measured against a signed colour standard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026831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"Dark brown" written in the panchnama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Photo + reading + every drug on the kit chart the colour fits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77750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proof of time or place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Signed time, GNSS time, GPS and officer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77325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Records can be rewritten later</a:t>
                      </a:r>
                      <a:endParaRPr lang="en-IN" sz="950" b="0" i="0">
                        <a:solidFill>
                          <a:srgbClr val="595959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Deletions and re-runs are detectable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638566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Quantity category guessed</a:t>
                      </a: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Flagged when it can't be told in the field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87455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IN" sz="950" b="0" i="0">
                          <a:solidFill>
                            <a:srgbClr val="595959"/>
                          </a:solidFill>
                          <a:latin typeface="Arial" panose="020B0604020202020204" pitchFamily="34" charset="0"/>
                        </a:rPr>
                        <a:t>No kit accuracy data</a:t>
                      </a: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950" b="1" i="0">
                          <a:solidFill>
                            <a:srgbClr val="262626"/>
                          </a:solidFill>
                          <a:latin typeface="Arial" panose="020B0604020202020204" pitchFamily="34" charset="0"/>
                        </a:rPr>
                        <a:t>Field result vs lab result, per kit batch (planned)</a:t>
                      </a:r>
                      <a:endParaRPr lang="en-IN" sz="950" b="1" i="0">
                        <a:solidFill>
                          <a:srgbClr val="262626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63500" marR="63500" marT="38100" marB="38100">
                    <a:solidFill>
                      <a:srgbClr val="EE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0187190"/>
                  </a:ext>
                </a:extLst>
              </a:tr>
            </a:tbl>
          </a:graphicData>
        </a:graphic>
      </p:graphicFrame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E25067-477A-FF05-9BAD-2EAAADE5F73A}"/>
              </a:ext>
            </a:extLst>
          </p:cNvPr>
          <p:cNvSpPr/>
          <p:nvPr/>
        </p:nvSpPr>
        <p:spPr>
          <a:xfrm>
            <a:off x="5842000" y="3606800"/>
            <a:ext cx="6070600" cy="1066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B4C7E7"/>
            </a:solidFill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37C575-C95A-5E71-B0E3-A8EF37FEDED5}"/>
              </a:ext>
            </a:extLst>
          </p:cNvPr>
          <p:cNvSpPr txBox="1"/>
          <p:nvPr/>
        </p:nvSpPr>
        <p:spPr>
          <a:xfrm>
            <a:off x="5994400" y="3708400"/>
            <a:ext cx="5765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100" b="1">
                <a:solidFill>
                  <a:srgbClr val="1F3864"/>
                </a:solidFill>
                <a:latin typeface="Arial" panose="020B0604020202020204" pitchFamily="34" charset="0"/>
              </a:rPr>
              <a:t>Why a field report must not overstate: a real case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9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 (2024): </a:t>
            </a:r>
            <a:r>
              <a:rPr lang="en-US" sz="950">
                <a:solidFill>
                  <a:srgbClr val="262626"/>
                </a:solidFill>
                <a:latin typeface="Arial" panose="020B0604020202020204" pitchFamily="34" charset="0"/>
              </a:rPr>
              <a:t>police alleged commercial-quantity MDMA; the lab found methamphetamine in intermediate quantity (MDMA 0.5 g / 10 g vs methamphetamine 2 g / 50 g). Our record states only what the kit's colour supports, lists every drug on the kit chart that the colour fits, and warns when they fall under different NDPS thresholds.</a:t>
            </a:r>
            <a:endParaRPr lang="en-IN" sz="9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6AA87B6-B22E-D994-A3DC-8748D910BA70}"/>
              </a:ext>
            </a:extLst>
          </p:cNvPr>
          <p:cNvSpPr/>
          <p:nvPr/>
        </p:nvSpPr>
        <p:spPr>
          <a:xfrm>
            <a:off x="279400" y="4826000"/>
            <a:ext cx="11633200" cy="13716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EF11CE-D36F-2901-5100-3A5CDBA6E802}"/>
              </a:ext>
            </a:extLst>
          </p:cNvPr>
          <p:cNvSpPr txBox="1"/>
          <p:nvPr/>
        </p:nvSpPr>
        <p:spPr>
          <a:xfrm>
            <a:off x="4318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Social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Fairer remand and bail decisions; fewer cases lost on procedure; honest officers protected.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E54742-E7AF-BDAC-D8B9-97A8FFF6E22F}"/>
              </a:ext>
            </a:extLst>
          </p:cNvPr>
          <p:cNvSpPr txBox="1"/>
          <p:nvPr/>
        </p:nvSpPr>
        <p:spPr>
          <a:xfrm>
            <a:off x="33274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Economic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No new hardware; reuses the free NCB kit and officers' phones; small hosting cost.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ACF9F1-5114-80D9-889D-47B8F2DFB824}"/>
              </a:ext>
            </a:extLst>
          </p:cNvPr>
          <p:cNvSpPr txBox="1"/>
          <p:nvPr/>
        </p:nvSpPr>
        <p:spPr>
          <a:xfrm>
            <a:off x="62230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Environmental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Paperless records; the only extra consumables are a printed card per kit and blank-well reagent drops.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BF9F41-4A67-3F4A-C832-7E4453BD74C6}"/>
              </a:ext>
            </a:extLst>
          </p:cNvPr>
          <p:cNvSpPr txBox="1"/>
          <p:nvPr/>
        </p:nvSpPr>
        <p:spPr>
          <a:xfrm>
            <a:off x="9118600" y="5003800"/>
            <a:ext cx="271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Scale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1,15,236 NDPS cases in 2022 (MHA); each seized package can get a recorded field test.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78000" y="101600"/>
            <a:ext cx="7937500" cy="787400"/>
          </a:xfrm>
        </p:spPr>
        <p:txBody>
          <a:bodyPr/>
          <a:lstStyle/>
          <a:p>
            <a:pPr eaLnBrk="1" hangingPunct="1"/>
            <a:r>
              <a:rPr lang="en-US" sz="30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  <a:endParaRPr lang="en-US" sz="30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/>
              <a:t>Darth CodersUNI</a:t>
            </a:r>
            <a:endParaRPr lang="en-IN" sz="1100" b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1E6F814-BEE8-48D7-9B03-EB9D55C9B87D}"/>
              </a:ext>
            </a:extLst>
          </p:cNvPr>
          <p:cNvSpPr txBox="1"/>
          <p:nvPr/>
        </p:nvSpPr>
        <p:spPr>
          <a:xfrm>
            <a:off x="279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SIH26231 problem statement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 Control Bureau, MHA; sih.gov.in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[2]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Narcotic Drugs Detection Kit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NICFS, A Forensic Guide for Crime Investigators, ch. 8, Figs 8.12–8.16 (Tests A–E, flow charts)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[3]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(Seizure, Storage, Sampling and Disposal) Rules 2022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GSR 899(E): Rules 3, 5, 10(2), 13, 14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[4]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Sagar Parshuram Joshi v. State of Maharashtra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Bombay HC, 15 Jan 2021 (indiankanoon.org/doc/90970274)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[5]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Masibur Khan v. State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Delhi HC, 31 May 2023 (indiankanoon.org/doc/91398841)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[6]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Anuraj v. State of Kerala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Kerala HC, 2024: alleged MDMA found to be methamphetamine</a:t>
            </a:r>
            <a:endParaRPr lang="en-IN" sz="1050">
              <a:solidFill>
                <a:srgbClr val="595959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31DFC-6527-FF40-AEAE-7A4B30E3556F}"/>
              </a:ext>
            </a:extLst>
          </p:cNvPr>
          <p:cNvSpPr txBox="1"/>
          <p:nvPr/>
        </p:nvSpPr>
        <p:spPr>
          <a:xfrm>
            <a:off x="6121400" y="1270000"/>
            <a:ext cx="5664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[7]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NDPS small and commercial quantities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S.O. 1055(E), 19 Oct 2001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[8]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NCB Drug Law Enforcement Field Officers' Handbook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narcoticsindia.nic.in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[9] </a:t>
            </a: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BPR&amp;D SOP: audio-video recording under BNSS; BSA 2023 s.63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hash value in the electronic-record certificate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[10]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NIJ Standard-0604.01</a:t>
            </a:r>
            <a:r>
              <a:rPr lang="en-US" sz="1050">
                <a:solidFill>
                  <a:srgbClr val="595959"/>
                </a:solidFill>
                <a:latin typeface="Arial" panose="020B0604020202020204" pitchFamily="34" charset="0"/>
              </a:rPr>
              <a:t> — Color Test Reagents/Kits for Preliminary Identification of Drugs of Abuse (US DoJ)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[11]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Android key attestation; RFC 8785 (JSON canonicalisation)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developer.android.com; rfc-editor.org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lang="en-IN" sz="1050" b="1">
                <a:solidFill>
                  <a:srgbClr val="0070C0"/>
                </a:solidFill>
                <a:latin typeface="Arial" panose="020B0604020202020204" pitchFamily="34" charset="0"/>
              </a:rPr>
              <a:t>[12] </a:t>
            </a: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MHA Rajya Sabha USQ 1832 (11 Dec 2024)</a:t>
            </a:r>
            <a:r>
              <a:rPr lang="en-IN" sz="1050">
                <a:solidFill>
                  <a:srgbClr val="595959"/>
                </a:solidFill>
                <a:latin typeface="Arial" panose="020B0604020202020204" pitchFamily="34" charset="0"/>
              </a:rPr>
              <a:t> — NDPS case statistics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C1E90B1-F8F0-7568-F630-6B8EB9425D4D}"/>
              </a:ext>
            </a:extLst>
          </p:cNvPr>
          <p:cNvSpPr/>
          <p:nvPr/>
        </p:nvSpPr>
        <p:spPr>
          <a:xfrm>
            <a:off x="279400" y="4089400"/>
            <a:ext cx="11633200" cy="21082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1DF09-869F-49C3-3DDB-8DC52AF3B761}"/>
              </a:ext>
            </a:extLst>
          </p:cNvPr>
          <p:cNvSpPr txBox="1"/>
          <p:nvPr/>
        </p:nvSpPr>
        <p:spPr>
          <a:xfrm>
            <a:off x="431800" y="42164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en-IN" sz="1200" b="1">
                <a:solidFill>
                  <a:srgbClr val="1F3864"/>
                </a:solidFill>
                <a:latin typeface="Arial" panose="020B0604020202020204" pitchFamily="34" charset="0"/>
              </a:rPr>
              <a:t>OUR CODE AND RESEARCH: </a:t>
            </a:r>
            <a:r>
              <a:rPr lang="en-IN" sz="1200" b="1">
                <a:solidFill>
                  <a:srgbClr val="0070C0"/>
                </a:solidFill>
                <a:latin typeface="Arial" panose="020B0604020202020204" pitchFamily="34" charset="0"/>
                <a:hlinkClick r:id="rId4"/>
              </a:rPr>
              <a:t>github.com/Harshith029/fieldtest-recorder</a:t>
            </a:r>
            <a:endParaRPr lang="en-IN" sz="1200" b="1">
              <a:solidFill>
                <a:srgbClr val="0070C0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C1736C-B9B1-CE34-D81F-40F33474C9B9}"/>
              </a:ext>
            </a:extLst>
          </p:cNvPr>
          <p:cNvSpPr txBox="1"/>
          <p:nvPr/>
        </p:nvSpPr>
        <p:spPr>
          <a:xfrm>
            <a:off x="431800" y="4495800"/>
            <a:ext cx="1132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Working Python reference prototype with a one-command demo and 65 automated test cases: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record format and offline verifier, colour engine, NCB kit protocol, searchable log, sync protocol. Photos in the demo are simulated; the Android app must match its outputs.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17 experiments with 95% confidence intervals,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including 18 tampering attacks and 15 failure scenarios (real code) and colour, sample-amount, night-light and staged-sample tests (simulated photos).</a:t>
            </a:r>
          </a:p>
          <a:p>
            <a:pPr marL="127000" indent="-127000">
              <a:spcBef>
                <a:spcPts val="0"/>
              </a:spcBef>
              <a:spcAft>
                <a:spcPts val="700"/>
              </a:spcAft>
              <a:buClr>
                <a:srgbClr val="0070C0"/>
              </a:buClr>
              <a:buFont typeface="+mj-lt"/>
              <a:buChar char="•"/>
            </a:pPr>
            <a:r>
              <a:rPr lang="en-US" sz="1050" b="1">
                <a:solidFill>
                  <a:srgbClr val="262626"/>
                </a:solidFill>
                <a:latin typeface="Arial" panose="020B0604020202020204" pitchFamily="34" charset="0"/>
              </a:rPr>
              <a:t>Reviewed adversarially, claim by claim: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confirmed defects are either fixed and re-tested or listed openly in the repository's problem register.</a:t>
            </a:r>
          </a:p>
          <a:p>
            <a:pPr marL="127000" indent="-127000"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Font typeface="+mj-lt"/>
              <a:buChar char="•"/>
            </a:pPr>
            <a:r>
              <a:rPr lang="en-IN" sz="1050" b="1">
                <a:solidFill>
                  <a:srgbClr val="262626"/>
                </a:solidFill>
                <a:latin typeface="Arial" panose="020B0604020202020204" pitchFamily="34" charset="0"/>
              </a:rPr>
              <a:t>Safety and law: </a:t>
            </a:r>
            <a:r>
              <a:rPr lang="en-US" sz="1050">
                <a:solidFill>
                  <a:srgbClr val="262626"/>
                </a:solidFill>
                <a:latin typeface="Arial" panose="020B0604020202020204" pitchFamily="34" charset="0"/>
              </a:rPr>
              <a:t>our team never handles narcotics; colour tests use published colours, the kit chart and safe dyes. Real-kit validation is designed for NCB or CFSL chemists.</a:t>
            </a:r>
            <a:endParaRPr lang="en-IN" sz="1050">
              <a:solidFill>
                <a:srgbClr val="26262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2202</Words>
  <Application>Microsoft Office PowerPoint</Application>
  <PresentationFormat>Widescreen</PresentationFormat>
  <Paragraphs>202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FieldTest Recorder</vt:lpstr>
      <vt:lpstr>TECHNICAL APPROACH</vt:lpstr>
      <vt:lpstr>FEASIBILITY AND VIABILITY</vt:lpstr>
      <vt:lpstr>IMPACT AND BENEFITS</vt:lpstr>
      <vt:lpstr>RESEARCH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Harshith Pali</cp:lastModifiedBy>
  <cp:revision>149</cp:revision>
  <dcterms:created xsi:type="dcterms:W3CDTF">2013-12-12T18:46:50Z</dcterms:created>
  <dcterms:modified xsi:type="dcterms:W3CDTF">2026-09-30T10:37:12Z</dcterms:modified>
  <cp:category/>
</cp:coreProperties>
</file>