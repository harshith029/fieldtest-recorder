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FieldTest Recorder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588000" cy="3118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SIH26231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Digital Companion for Field Drug Testing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MedTech / BioTech / HealthTech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[Team ID]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[Team Name]</a:t>
            </a:r>
            <a:endParaRPr lang="en-IN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4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FieldTest Recorder</a:t>
            </a:r>
            <a:endParaRPr lang="en-US" sz="34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D9EF85-B998-9777-DB02-CF9B93E9974B}"/>
              </a:ext>
            </a:extLst>
          </p:cNvPr>
          <p:cNvSpPr txBox="1"/>
          <p:nvPr/>
        </p:nvSpPr>
        <p:spPr>
          <a:xfrm>
            <a:off x="1778000" y="812800"/>
            <a:ext cx="7937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0" i="1">
                <a:solidFill>
                  <a:srgbClr val="1F3864"/>
                </a:solidFill>
                <a:latin typeface="Arial" panose="020B0604020202020204" pitchFamily="34" charset="0"/>
              </a:rPr>
              <a:t>A guided, measured and signed field test for NCB's Narcotic Drugs Detection Kit</a:t>
            </a:r>
            <a:endParaRPr lang="en-IN" sz="1300" i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41FAD9-6BA0-F835-FACF-EEBD7B4946E4}"/>
              </a:ext>
            </a:extLst>
          </p:cNvPr>
          <p:cNvSpPr/>
          <p:nvPr/>
        </p:nvSpPr>
        <p:spPr>
          <a:xfrm>
            <a:off x="279400" y="1219200"/>
            <a:ext cx="3327400" cy="502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E492B0-B9AD-05FE-FD68-E100FA679BE5}"/>
              </a:ext>
            </a:extLst>
          </p:cNvPr>
          <p:cNvSpPr txBox="1"/>
          <p:nvPr/>
        </p:nvSpPr>
        <p:spPr>
          <a:xfrm>
            <a:off x="431800" y="1346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THE GAP TODAY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1D8C3-F631-3FBF-919A-716F325D8F93}"/>
              </a:ext>
            </a:extLst>
          </p:cNvPr>
          <p:cNvSpPr txBox="1"/>
          <p:nvPr/>
        </p:nvSpPr>
        <p:spPr>
          <a:xfrm>
            <a:off x="431800" y="1651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Read by eye.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Officers match the kit's colour against a printed chart; nothing proves a test happened at a place and time (NCB, this problem statement).</a:t>
            </a:r>
          </a:p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No standard.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Bombay HC (2021): NCB "has not prescribed the standards"; field testing is "arbitrary", and a bare mention in the panchnama is not enough.</a:t>
            </a:r>
          </a:p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Wrong drug, wrong quantity. </a:t>
            </a:r>
            <a:r>
              <a:rPr lang="en-IN" sz="1100">
                <a:solidFill>
                  <a:srgbClr val="262626"/>
                </a:solidFill>
                <a:latin typeface="Arial" panose="020B0604020202020204" pitchFamily="34" charset="0"/>
              </a:rPr>
              <a:t>Kerala HC (2024, Anuraj): seized "MDMA" was methamphetamine, which changes the NDPS quantity category.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So: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disputed seizures, bail on procedure, and no data on how often field tests are wrong.</a:t>
            </a:r>
            <a:endParaRPr lang="en-IN" sz="11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45DFDD-D4A5-EF9B-6697-6A4C4077AF48}"/>
              </a:ext>
            </a:extLst>
          </p:cNvPr>
          <p:cNvSpPr txBox="1"/>
          <p:nvPr/>
        </p:nvSpPr>
        <p:spPr>
          <a:xfrm>
            <a:off x="3810000" y="12700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200" b="1">
                <a:solidFill>
                  <a:srgbClr val="1F3864"/>
                </a:solidFill>
                <a:latin typeface="Arial" panose="020B0604020202020204" pitchFamily="34" charset="0"/>
              </a:rPr>
              <a:t>HOW IT WORKS (OFFLINE, ON THE OFFICER'S PHONE)</a:t>
            </a:r>
            <a:endParaRPr lang="en-IN" sz="12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9587B8A-2B49-9861-97FD-47E1B2494E39}"/>
              </a:ext>
            </a:extLst>
          </p:cNvPr>
          <p:cNvSpPr/>
          <p:nvPr/>
        </p:nvSpPr>
        <p:spPr>
          <a:xfrm>
            <a:off x="3810000" y="15748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3B6228-60F1-E6CE-2B2A-CD1B5ACB8DB1}"/>
              </a:ext>
            </a:extLst>
          </p:cNvPr>
          <p:cNvSpPr txBox="1"/>
          <p:nvPr/>
        </p:nvSpPr>
        <p:spPr>
          <a:xfrm>
            <a:off x="4241800" y="15621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Guide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NCB kit Tests A–E in the printed flow-chart order: drops, wait time, which layer to read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2CC8047-1E1E-C327-C878-769DAB1A7295}"/>
              </a:ext>
            </a:extLst>
          </p:cNvPr>
          <p:cNvCxnSpPr/>
          <p:nvPr/>
        </p:nvCxnSpPr>
        <p:spPr>
          <a:xfrm>
            <a:off x="3975100" y="19304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2C7434E4-543B-79D3-5DF3-6FCFAAD4844A}"/>
              </a:ext>
            </a:extLst>
          </p:cNvPr>
          <p:cNvSpPr/>
          <p:nvPr/>
        </p:nvSpPr>
        <p:spPr>
          <a:xfrm>
            <a:off x="3810000" y="23495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7409F3-D732-4308-DBBE-A1EB15B9A44F}"/>
              </a:ext>
            </a:extLst>
          </p:cNvPr>
          <p:cNvSpPr txBox="1"/>
          <p:nvPr/>
        </p:nvSpPr>
        <p:spPr>
          <a:xfrm>
            <a:off x="4241800" y="23368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Photo of the reaction on a reference colour card, next to a reagent-only blank well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0022243-DE6E-9812-66B3-7C56D48249FF}"/>
              </a:ext>
            </a:extLst>
          </p:cNvPr>
          <p:cNvCxnSpPr/>
          <p:nvPr/>
        </p:nvCxnSpPr>
        <p:spPr>
          <a:xfrm>
            <a:off x="3975100" y="27051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DD207F1B-151C-E8FB-F8C7-66BA6756DB95}"/>
              </a:ext>
            </a:extLst>
          </p:cNvPr>
          <p:cNvSpPr/>
          <p:nvPr/>
        </p:nvSpPr>
        <p:spPr>
          <a:xfrm>
            <a:off x="3810000" y="31242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723FBB-89C1-90C0-E976-30A08D940ABD}"/>
              </a:ext>
            </a:extLst>
          </p:cNvPr>
          <p:cNvSpPr txBox="1"/>
          <p:nvPr/>
        </p:nvSpPr>
        <p:spPr>
          <a:xfrm>
            <a:off x="4241800" y="31115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Read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Colour bands from the kit's own ranges: positive / no colour change / inconclusive + every drug it fits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DC3CF53-24BE-DEBA-6337-EFECF8AD18CE}"/>
              </a:ext>
            </a:extLst>
          </p:cNvPr>
          <p:cNvCxnSpPr/>
          <p:nvPr/>
        </p:nvCxnSpPr>
        <p:spPr>
          <a:xfrm>
            <a:off x="3975100" y="34798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A3EBE2CD-011C-C09C-66CD-B0EF137E129C}"/>
              </a:ext>
            </a:extLst>
          </p:cNvPr>
          <p:cNvSpPr/>
          <p:nvPr/>
        </p:nvSpPr>
        <p:spPr>
          <a:xfrm>
            <a:off x="3810000" y="38989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1BC79C-2584-AF18-E677-F53AB4B7C8EF}"/>
              </a:ext>
            </a:extLst>
          </p:cNvPr>
          <p:cNvSpPr txBox="1"/>
          <p:nvPr/>
        </p:nvSpPr>
        <p:spPr>
          <a:xfrm>
            <a:off x="4241800" y="38862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Sign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Time, GPS, officer and image hash, signed in phone hardware and hash-chained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A1E6FCD-0F3F-5B66-3A63-1D39E034A5C0}"/>
              </a:ext>
            </a:extLst>
          </p:cNvPr>
          <p:cNvCxnSpPr/>
          <p:nvPr/>
        </p:nvCxnSpPr>
        <p:spPr>
          <a:xfrm>
            <a:off x="3975100" y="42545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33848648-82CB-5DC4-D4C1-0A8180C34F5A}"/>
              </a:ext>
            </a:extLst>
          </p:cNvPr>
          <p:cNvSpPr/>
          <p:nvPr/>
        </p:nvSpPr>
        <p:spPr>
          <a:xfrm>
            <a:off x="3810000" y="46736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B22157-EE2B-47F2-AD0A-15196FE08193}"/>
              </a:ext>
            </a:extLst>
          </p:cNvPr>
          <p:cNvSpPr txBox="1"/>
          <p:nvPr/>
        </p:nvSpPr>
        <p:spPr>
          <a:xfrm>
            <a:off x="4241800" y="46609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Anchor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A 14-character code written into the witness-signed panchnama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1425F1A-A66E-E89B-A432-8B79937019E6}"/>
              </a:ext>
            </a:extLst>
          </p:cNvPr>
          <p:cNvCxnSpPr/>
          <p:nvPr/>
        </p:nvCxnSpPr>
        <p:spPr>
          <a:xfrm>
            <a:off x="3975100" y="50292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2396C38B-5E00-C83A-4E88-587D1DA40EC1}"/>
              </a:ext>
            </a:extLst>
          </p:cNvPr>
          <p:cNvSpPr/>
          <p:nvPr/>
        </p:nvSpPr>
        <p:spPr>
          <a:xfrm>
            <a:off x="3810000" y="54483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FC8EC0-3849-2FC1-1FE6-5A1B8CB89356}"/>
              </a:ext>
            </a:extLst>
          </p:cNvPr>
          <p:cNvSpPr txBox="1"/>
          <p:nvPr/>
        </p:nvSpPr>
        <p:spPr>
          <a:xfrm>
            <a:off x="4241800" y="54356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Report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Field Test Memo, Form-1 item 5, BSA s.63 data; anyone can verify offline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304FB9-3910-11AC-C305-3750B270B2C3}"/>
              </a:ext>
            </a:extLst>
          </p:cNvPr>
          <p:cNvSpPr txBox="1"/>
          <p:nvPr/>
        </p:nvSpPr>
        <p:spPr>
          <a:xfrm>
            <a:off x="8229600" y="1270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WHAT IS NEW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CAA1437-CE8A-ED94-2551-670CA31548C8}"/>
              </a:ext>
            </a:extLst>
          </p:cNvPr>
          <p:cNvSpPr/>
          <p:nvPr/>
        </p:nvSpPr>
        <p:spPr>
          <a:xfrm>
            <a:off x="8229600" y="15748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4BC451-5A1F-8F07-1B19-DC6EAEB684F4}"/>
              </a:ext>
            </a:extLst>
          </p:cNvPr>
          <p:cNvSpPr txBox="1"/>
          <p:nvPr/>
        </p:nvSpPr>
        <p:spPr>
          <a:xfrm>
            <a:off x="8356600" y="16764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Says only what the chemistry supports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Test E blue = "cocaine or methaqualone" until E3/E4 narrows it; warns when the NDPS quantity category can't be told in the field.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E89D731-E3FE-8DBB-3BA0-6A3226426CDC}"/>
              </a:ext>
            </a:extLst>
          </p:cNvPr>
          <p:cNvSpPr/>
          <p:nvPr/>
        </p:nvSpPr>
        <p:spPr>
          <a:xfrm>
            <a:off x="8229600" y="27432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0A8199-A69C-B07F-7466-48F83DE8BD55}"/>
              </a:ext>
            </a:extLst>
          </p:cNvPr>
          <p:cNvSpPr txBox="1"/>
          <p:nvPr/>
        </p:nvSpPr>
        <p:spPr>
          <a:xfrm>
            <a:off x="8356600" y="28448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Holds up when the sample amount varies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Bands + blank well: 0% false positives where single-point colour matching gave up to 11.7%.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DB32B6E-8E30-CF87-9DF3-65A49AE6F7A0}"/>
              </a:ext>
            </a:extLst>
          </p:cNvPr>
          <p:cNvSpPr/>
          <p:nvPr/>
        </p:nvSpPr>
        <p:spPr>
          <a:xfrm>
            <a:off x="11201400" y="28067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DFF8FFB-1974-3908-53AC-1C912AB1E25F}"/>
              </a:ext>
            </a:extLst>
          </p:cNvPr>
          <p:cNvSpPr/>
          <p:nvPr/>
        </p:nvSpPr>
        <p:spPr>
          <a:xfrm>
            <a:off x="8229600" y="39116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677D6-1FE1-B9CA-2A82-2781C443498F}"/>
              </a:ext>
            </a:extLst>
          </p:cNvPr>
          <p:cNvSpPr txBox="1"/>
          <p:nvPr/>
        </p:nvSpPr>
        <p:spPr>
          <a:xfrm>
            <a:off x="8356600" y="40132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Proves completeness, not just integrity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Deleted or re-run tests are caught; not even our server admin can forge a record.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1BBDC61-6855-2705-1D0C-261BAF1FED95}"/>
              </a:ext>
            </a:extLst>
          </p:cNvPr>
          <p:cNvSpPr/>
          <p:nvPr/>
        </p:nvSpPr>
        <p:spPr>
          <a:xfrm>
            <a:off x="11023600" y="39751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A33B86A-9B88-FEE8-07FF-561422EA67EE}"/>
              </a:ext>
            </a:extLst>
          </p:cNvPr>
          <p:cNvSpPr/>
          <p:nvPr/>
        </p:nvSpPr>
        <p:spPr>
          <a:xfrm>
            <a:off x="8229600" y="50800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3004FB-1D2F-AA0C-9ED7-D7BCCFEEA045}"/>
              </a:ext>
            </a:extLst>
          </p:cNvPr>
          <p:cNvSpPr txBox="1"/>
          <p:nvPr/>
        </p:nvSpPr>
        <p:spPr>
          <a:xfrm>
            <a:off x="8356600" y="51816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No new hardware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Existing NCB kit + officer's phone + a printed card. Works offline; embeds in e-Sakshya as an SDK.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848F0C4-C48B-6CEA-2EB7-58C33EBB7A8B}"/>
              </a:ext>
            </a:extLst>
          </p:cNvPr>
          <p:cNvSpPr/>
          <p:nvPr/>
        </p:nvSpPr>
        <p:spPr>
          <a:xfrm>
            <a:off x="279400" y="1219200"/>
            <a:ext cx="3556000" cy="3403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3B974-5F72-FEA1-FF72-D353E92D9CDC}"/>
              </a:ext>
            </a:extLst>
          </p:cNvPr>
          <p:cNvSpPr txBox="1"/>
          <p:nvPr/>
        </p:nvSpPr>
        <p:spPr>
          <a:xfrm>
            <a:off x="431800" y="1320800"/>
            <a:ext cx="325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OFFICER'S PHONE (offline SDK)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E308B5C-FE0D-C649-AF8F-6C4DC9013CEC}"/>
              </a:ext>
            </a:extLst>
          </p:cNvPr>
          <p:cNvSpPr/>
          <p:nvPr/>
        </p:nvSpPr>
        <p:spPr>
          <a:xfrm>
            <a:off x="431800" y="16256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217ED-AB3B-091A-8FCD-587DD441ACE1}"/>
              </a:ext>
            </a:extLst>
          </p:cNvPr>
          <p:cNvSpPr txBox="1"/>
          <p:nvPr/>
        </p:nvSpPr>
        <p:spPr>
          <a:xfrm>
            <a:off x="533400" y="16891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Guided NDDK protocol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signed: steps, drops, read times, flow charts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C0FC88-647B-CDA2-4E4E-255EEAB4A335}"/>
              </a:ext>
            </a:extLst>
          </p:cNvPr>
          <p:cNvSpPr/>
          <p:nvPr/>
        </p:nvSpPr>
        <p:spPr>
          <a:xfrm>
            <a:off x="431800" y="22098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105CBA-F5AE-BBAE-A51F-A741C99C2FB8}"/>
              </a:ext>
            </a:extLst>
          </p:cNvPr>
          <p:cNvSpPr txBox="1"/>
          <p:nvPr/>
        </p:nvSpPr>
        <p:spPr>
          <a:xfrm>
            <a:off x="533400" y="22733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CameraX / Camera2 RAW, card located by ArUco markers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536C9D-F6DB-707E-0AB7-84DA6C6CD4B2}"/>
              </a:ext>
            </a:extLst>
          </p:cNvPr>
          <p:cNvSpPr/>
          <p:nvPr/>
        </p:nvSpPr>
        <p:spPr>
          <a:xfrm>
            <a:off x="431800" y="27940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087C5B-E987-AA05-DABC-CA1168AA4FAE}"/>
              </a:ext>
            </a:extLst>
          </p:cNvPr>
          <p:cNvSpPr txBox="1"/>
          <p:nvPr/>
        </p:nvSpPr>
        <p:spPr>
          <a:xfrm>
            <a:off x="533400" y="28575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Colour engine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card correction, blank well, CIELAB colour bands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DD720F8-93B1-DACD-4F97-DEF0556D376F}"/>
              </a:ext>
            </a:extLst>
          </p:cNvPr>
          <p:cNvSpPr/>
          <p:nvPr/>
        </p:nvSpPr>
        <p:spPr>
          <a:xfrm>
            <a:off x="431800" y="33782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C4AB56-10C3-019E-A197-0241E2EC73E3}"/>
              </a:ext>
            </a:extLst>
          </p:cNvPr>
          <p:cNvSpPr txBox="1"/>
          <p:nvPr/>
        </p:nvSpPr>
        <p:spPr>
          <a:xfrm>
            <a:off x="533400" y="34417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Record core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ECDSA P-256 in StrongBox/TEE, SHA-256 chain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AC359F3-3560-4EFC-89E4-46DB0154D7D1}"/>
              </a:ext>
            </a:extLst>
          </p:cNvPr>
          <p:cNvSpPr/>
          <p:nvPr/>
        </p:nvSpPr>
        <p:spPr>
          <a:xfrm>
            <a:off x="431800" y="3962400"/>
            <a:ext cx="32512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2D62E0-089D-99D5-6890-A3A79E532A9F}"/>
              </a:ext>
            </a:extLst>
          </p:cNvPr>
          <p:cNvSpPr txBox="1"/>
          <p:nvPr/>
        </p:nvSpPr>
        <p:spPr>
          <a:xfrm>
            <a:off x="533400" y="4025900"/>
            <a:ext cx="3073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Log + reports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searchable log, Field Test Memo, Form-1 item 5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6D35F6B-285B-D682-F48B-8FAD64A7AD1F}"/>
              </a:ext>
            </a:extLst>
          </p:cNvPr>
          <p:cNvSpPr/>
          <p:nvPr/>
        </p:nvSpPr>
        <p:spPr>
          <a:xfrm>
            <a:off x="4368800" y="1219200"/>
            <a:ext cx="3251200" cy="3403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4A8E91-39C2-6BE3-96C2-DCADBBEACC37}"/>
              </a:ext>
            </a:extLst>
          </p:cNvPr>
          <p:cNvSpPr txBox="1"/>
          <p:nvPr/>
        </p:nvSpPr>
        <p:spPr>
          <a:xfrm>
            <a:off x="4521200" y="13208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THIN SERVER: NIC / MeitY cloud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869B19E-FD38-AA85-7204-5543347FB6C8}"/>
              </a:ext>
            </a:extLst>
          </p:cNvPr>
          <p:cNvSpPr/>
          <p:nvPr/>
        </p:nvSpPr>
        <p:spPr>
          <a:xfrm>
            <a:off x="4521200" y="16256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C14049-4AC6-7A00-9CDA-8AFA8DA8E83B}"/>
              </a:ext>
            </a:extLst>
          </p:cNvPr>
          <p:cNvSpPr txBox="1"/>
          <p:nvPr/>
        </p:nvSpPr>
        <p:spPr>
          <a:xfrm>
            <a:off x="4622800" y="16891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Enrolment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Android key attestation + supervisor's DSC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A99C42A-CB90-B2FE-71CE-F305582ACDCD}"/>
              </a:ext>
            </a:extLst>
          </p:cNvPr>
          <p:cNvSpPr/>
          <p:nvPr/>
        </p:nvSpPr>
        <p:spPr>
          <a:xfrm>
            <a:off x="4521200" y="22098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20440D-D6D1-8F2B-1F27-FD3D2D898F08}"/>
              </a:ext>
            </a:extLst>
          </p:cNvPr>
          <p:cNvSpPr txBox="1"/>
          <p:nvPr/>
        </p:nvSpPr>
        <p:spPr>
          <a:xfrm>
            <a:off x="4622800" y="22733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Sync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idempotent, fork/replay checks, signed receipts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9F7D462-0039-992D-12CB-715BAAB41164}"/>
              </a:ext>
            </a:extLst>
          </p:cNvPr>
          <p:cNvSpPr/>
          <p:nvPr/>
        </p:nvSpPr>
        <p:spPr>
          <a:xfrm>
            <a:off x="4521200" y="27940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670673-5132-DFB8-35D8-4C7798A266D4}"/>
              </a:ext>
            </a:extLst>
          </p:cNvPr>
          <p:cNvSpPr txBox="1"/>
          <p:nvPr/>
        </p:nvSpPr>
        <p:spPr>
          <a:xfrm>
            <a:off x="4622800" y="28575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Storage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PostgreSQL + S3 write-once, durable checkpoints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B73D5151-CB7D-8CB5-3F53-3DFCFBD510C1}"/>
              </a:ext>
            </a:extLst>
          </p:cNvPr>
          <p:cNvSpPr/>
          <p:nvPr/>
        </p:nvSpPr>
        <p:spPr>
          <a:xfrm>
            <a:off x="4521200" y="33782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E0F224-33D8-CC6B-417A-51C2AAAA9046}"/>
              </a:ext>
            </a:extLst>
          </p:cNvPr>
          <p:cNvSpPr txBox="1"/>
          <p:nvPr/>
        </p:nvSpPr>
        <p:spPr>
          <a:xfrm>
            <a:off x="4622800" y="34417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Search + lab loop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case search; Rule 14 lab result vs field result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4F0D864-D54E-E7EB-4684-616EF6874B23}"/>
              </a:ext>
            </a:extLst>
          </p:cNvPr>
          <p:cNvSpPr/>
          <p:nvPr/>
        </p:nvSpPr>
        <p:spPr>
          <a:xfrm>
            <a:off x="4521200" y="3962400"/>
            <a:ext cx="29464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F31445-4FA7-BE53-DF4B-F5EB795930A4}"/>
              </a:ext>
            </a:extLst>
          </p:cNvPr>
          <p:cNvSpPr txBox="1"/>
          <p:nvPr/>
        </p:nvSpPr>
        <p:spPr>
          <a:xfrm>
            <a:off x="4622800" y="4025900"/>
            <a:ext cx="276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Never trusted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595959"/>
                </a:solidFill>
                <a:latin typeface="Arial" panose="020B0604020202020204" pitchFamily="34" charset="0"/>
              </a:rPr>
              <a:t>records verify without the server</a:t>
            </a:r>
            <a:endParaRPr lang="en-IN" sz="9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BE2E673-3796-01C1-90B1-FFFF22C9A009}"/>
              </a:ext>
            </a:extLst>
          </p:cNvPr>
          <p:cNvCxnSpPr/>
          <p:nvPr/>
        </p:nvCxnSpPr>
        <p:spPr>
          <a:xfrm>
            <a:off x="3860800" y="2921000"/>
            <a:ext cx="4826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625F59C-8DF2-49D3-9345-FDDAC9D18AA3}"/>
              </a:ext>
            </a:extLst>
          </p:cNvPr>
          <p:cNvSpPr txBox="1"/>
          <p:nvPr/>
        </p:nvSpPr>
        <p:spPr>
          <a:xfrm>
            <a:off x="3784600" y="2590800"/>
            <a:ext cx="63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750" i="1">
                <a:solidFill>
                  <a:srgbClr val="595959"/>
                </a:solidFill>
                <a:latin typeface="Arial" panose="020B0604020202020204" pitchFamily="34" charset="0"/>
              </a:rPr>
              <a:t>sync when online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9E1B24D-F4C4-65F7-C70F-0936A06ECC6D}"/>
              </a:ext>
            </a:extLst>
          </p:cNvPr>
          <p:cNvSpPr/>
          <p:nvPr/>
        </p:nvSpPr>
        <p:spPr>
          <a:xfrm>
            <a:off x="279400" y="4749800"/>
            <a:ext cx="73406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E7B65F-2E79-ACB9-B378-A884D55B5D57}"/>
              </a:ext>
            </a:extLst>
          </p:cNvPr>
          <p:cNvSpPr txBox="1"/>
          <p:nvPr/>
        </p:nvSpPr>
        <p:spPr>
          <a:xfrm>
            <a:off x="431800" y="4838700"/>
            <a:ext cx="622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Trust without trusting us: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NCB signs the supervisor list; a supervisor's DSC binds officer + phone + key; the phone signs and chains every test; the chain heads of every phone go into the witness-signed panchnama. An offline verifier (same record core) checks it all in court.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1F36FB-33B6-9154-0E85-F8E557906840}"/>
              </a:ext>
            </a:extLst>
          </p:cNvPr>
          <p:cNvSpPr/>
          <p:nvPr/>
        </p:nvSpPr>
        <p:spPr>
          <a:xfrm>
            <a:off x="6756400" y="48387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B96F44-6997-96E3-E48C-DFC54D35AD44}"/>
              </a:ext>
            </a:extLst>
          </p:cNvPr>
          <p:cNvSpPr txBox="1"/>
          <p:nvPr/>
        </p:nvSpPr>
        <p:spPr>
          <a:xfrm>
            <a:off x="279400" y="55880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Stack: </a:t>
            </a:r>
            <a:r>
              <a:rPr lang="en-IN" sz="950">
                <a:solidFill>
                  <a:srgbClr val="262626"/>
                </a:solidFill>
                <a:latin typeface="Arial" panose="020B0604020202020204" pitchFamily="34" charset="0"/>
              </a:rPr>
              <a:t>Kotlin · CameraX/Camera2 · OpenCV · Android Keystore + key attestation · SQLCipher · RFC 8785 JSON · ECDSA P-256 · Spring Boot · PostgreSQL · S3 object lock · Parichay / Class 3 DSC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Deliberately not used: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blockchain, cloud AI, a neural-network "drug detector" (a colour test cannot identify a drug; the court must be able to re-run the reading)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6B1CB21-5A86-192F-8221-237BBFDA3059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1244600"/>
            <a:ext cx="4013200" cy="28067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07E2FA53-3F0B-106F-8EE8-0BEF8873547C}"/>
              </a:ext>
            </a:extLst>
          </p:cNvPr>
          <p:cNvSpPr txBox="1"/>
          <p:nvPr/>
        </p:nvSpPr>
        <p:spPr>
          <a:xfrm>
            <a:off x="7874000" y="40894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50" i="1">
                <a:solidFill>
                  <a:srgbClr val="595959"/>
                </a:solidFill>
                <a:latin typeface="Arial" panose="020B0604020202020204" pitchFamily="34" charset="0"/>
              </a:rPr>
              <a:t>Reference card v2 (printable, 150 x 105 mm): 24 colour patches, 4 markers, SAMPLE and BLANK zones. The engine finds it in the print file.</a:t>
            </a:r>
            <a:endParaRPr lang="en-IN" sz="8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0532A4-0B2A-0A17-5D00-B4D9628E501B}"/>
              </a:ext>
            </a:extLst>
          </p:cNvPr>
          <p:cNvSpPr txBox="1"/>
          <p:nvPr/>
        </p:nvSpPr>
        <p:spPr>
          <a:xfrm>
            <a:off x="7874000" y="45212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BUILT SO FAR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E0DA124-BFF5-2AF2-083F-66805788DBBF}"/>
              </a:ext>
            </a:extLst>
          </p:cNvPr>
          <p:cNvSpPr/>
          <p:nvPr/>
        </p:nvSpPr>
        <p:spPr>
          <a:xfrm>
            <a:off x="7874000" y="48006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BEC77B-4FF7-7995-8BA3-87E7642CA39C}"/>
              </a:ext>
            </a:extLst>
          </p:cNvPr>
          <p:cNvSpPr txBox="1"/>
          <p:nvPr/>
        </p:nvSpPr>
        <p:spPr>
          <a:xfrm>
            <a:off x="8737600" y="47752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Reference implementation: record core, verifier, colour engine, NDDK protocol, sync server, search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8925D016-8496-F5B2-9E9E-EB7AF702B570}"/>
              </a:ext>
            </a:extLst>
          </p:cNvPr>
          <p:cNvSpPr/>
          <p:nvPr/>
        </p:nvSpPr>
        <p:spPr>
          <a:xfrm>
            <a:off x="7874000" y="52832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F7EF53-D61D-2BEE-D563-A23AB558D9FB}"/>
              </a:ext>
            </a:extLst>
          </p:cNvPr>
          <p:cNvSpPr txBox="1"/>
          <p:nvPr/>
        </p:nvSpPr>
        <p:spPr>
          <a:xfrm>
            <a:off x="8737600" y="52578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17 experiments with 95% intervals (colour, liveness, night light, amount)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CCCEC99D-3624-C2B8-3FC6-8CC559C0A4A1}"/>
              </a:ext>
            </a:extLst>
          </p:cNvPr>
          <p:cNvSpPr/>
          <p:nvPr/>
        </p:nvSpPr>
        <p:spPr>
          <a:xfrm>
            <a:off x="7874000" y="57658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087901-6D87-2953-91B8-838B135F21EA}"/>
              </a:ext>
            </a:extLst>
          </p:cNvPr>
          <p:cNvSpPr txBox="1"/>
          <p:nvPr/>
        </p:nvSpPr>
        <p:spPr>
          <a:xfrm>
            <a:off x="8737600" y="5740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Android app (Kotlin) on the same test vectors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644B15-B59E-0F84-6A3E-CC885AC7C292}"/>
              </a:ext>
            </a:extLst>
          </p:cNvPr>
          <p:cNvSpPr/>
          <p:nvPr/>
        </p:nvSpPr>
        <p:spPr>
          <a:xfrm>
            <a:off x="279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E3181-9DA0-4506-1D35-378E6C89AC47}"/>
              </a:ext>
            </a:extLst>
          </p:cNvPr>
          <p:cNvSpPr txBox="1"/>
          <p:nvPr/>
        </p:nvSpPr>
        <p:spPr>
          <a:xfrm>
            <a:off x="406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18/18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CF8780-C0A1-7F3A-D4D7-2D1FBC97FD64}"/>
              </a:ext>
            </a:extLst>
          </p:cNvPr>
          <p:cNvSpPr txBox="1"/>
          <p:nvPr/>
        </p:nvSpPr>
        <p:spPr>
          <a:xfrm>
            <a:off x="406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tampering attacks caught, incl. insider-admin forgery and deleted records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8027493-4DA1-FAF5-EA17-CE9CBEBE07DA}"/>
              </a:ext>
            </a:extLst>
          </p:cNvPr>
          <p:cNvSpPr/>
          <p:nvPr/>
        </p:nvSpPr>
        <p:spPr>
          <a:xfrm>
            <a:off x="2159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C1CEAE-9F49-24E0-C0E2-CF4E1435B0E5}"/>
              </a:ext>
            </a:extLst>
          </p:cNvPr>
          <p:cNvSpPr/>
          <p:nvPr/>
        </p:nvSpPr>
        <p:spPr>
          <a:xfrm>
            <a:off x="3200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A3D510-343E-81D9-0861-023AAFF7B637}"/>
              </a:ext>
            </a:extLst>
          </p:cNvPr>
          <p:cNvSpPr txBox="1"/>
          <p:nvPr/>
        </p:nvSpPr>
        <p:spPr>
          <a:xfrm>
            <a:off x="3327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15/15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FB5B6-71B0-BED1-729F-750300F539AC}"/>
              </a:ext>
            </a:extLst>
          </p:cNvPr>
          <p:cNvSpPr txBox="1"/>
          <p:nvPr/>
        </p:nvSpPr>
        <p:spPr>
          <a:xfrm>
            <a:off x="3327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sync and failure scenarios handled, incl. restore from an old backup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76E337-92DD-0699-E18D-D9E95EE80C82}"/>
              </a:ext>
            </a:extLst>
          </p:cNvPr>
          <p:cNvSpPr/>
          <p:nvPr/>
        </p:nvSpPr>
        <p:spPr>
          <a:xfrm>
            <a:off x="5080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1B371D3-44C9-B8A5-5306-7D6935DDB856}"/>
              </a:ext>
            </a:extLst>
          </p:cNvPr>
          <p:cNvSpPr/>
          <p:nvPr/>
        </p:nvSpPr>
        <p:spPr>
          <a:xfrm>
            <a:off x="6121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131001-DD7B-B5CB-F2EF-2A069CCBFE18}"/>
              </a:ext>
            </a:extLst>
          </p:cNvPr>
          <p:cNvSpPr txBox="1"/>
          <p:nvPr/>
        </p:nvSpPr>
        <p:spPr>
          <a:xfrm>
            <a:off x="6248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11.7% → 0%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05513A-3A09-8423-62EE-E378AABAF5D8}"/>
              </a:ext>
            </a:extLst>
          </p:cNvPr>
          <p:cNvSpPr txBox="1"/>
          <p:nvPr/>
        </p:nvSpPr>
        <p:spPr>
          <a:xfrm>
            <a:off x="6248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false positives when the sample amount varies (single-point rule vs colour bands)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DB10EB8-0F8B-4F1D-31C7-1E3733935486}"/>
              </a:ext>
            </a:extLst>
          </p:cNvPr>
          <p:cNvSpPr/>
          <p:nvPr/>
        </p:nvSpPr>
        <p:spPr>
          <a:xfrm>
            <a:off x="8178800" y="12954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A08FF76-1E09-DCB6-7BC5-20D39411A89E}"/>
              </a:ext>
            </a:extLst>
          </p:cNvPr>
          <p:cNvSpPr/>
          <p:nvPr/>
        </p:nvSpPr>
        <p:spPr>
          <a:xfrm>
            <a:off x="9042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485392-D423-D7C5-FCD4-C30BFB0F8E93}"/>
              </a:ext>
            </a:extLst>
          </p:cNvPr>
          <p:cNvSpPr txBox="1"/>
          <p:nvPr/>
        </p:nvSpPr>
        <p:spPr>
          <a:xfrm>
            <a:off x="9169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89%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58D3DE-9E95-3730-F7A3-63035D159789}"/>
              </a:ext>
            </a:extLst>
          </p:cNvPr>
          <p:cNvSpPr txBox="1"/>
          <p:nvPr/>
        </p:nvSpPr>
        <p:spPr>
          <a:xfrm>
            <a:off x="9169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NCB-kit chart outcomes read correctly, 1.7% wrong, rest inconclusive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2B76BEE-D320-2AC8-A704-9117F78F51F5}"/>
              </a:ext>
            </a:extLst>
          </p:cNvPr>
          <p:cNvSpPr/>
          <p:nvPr/>
        </p:nvSpPr>
        <p:spPr>
          <a:xfrm>
            <a:off x="11099800" y="12954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F33B19-3FD9-9551-B02D-88F85942BB8B}"/>
              </a:ext>
            </a:extLst>
          </p:cNvPr>
          <p:cNvSpPr txBox="1"/>
          <p:nvPr/>
        </p:nvSpPr>
        <p:spPr>
          <a:xfrm>
            <a:off x="279400" y="25908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CHALLENGES AND HOW WE HANDLE THEM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8CC4BA4E-F2C1-4D4D-D92F-58F289054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197700"/>
              </p:ext>
            </p:extLst>
          </p:nvPr>
        </p:nvGraphicFramePr>
        <p:xfrm>
          <a:off x="279400" y="2819400"/>
          <a:ext cx="76200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1629399582"/>
                    </a:ext>
                  </a:extLst>
                </a:gridCol>
                <a:gridCol w="5080000">
                  <a:extLst>
                    <a:ext uri="{9D8B030D-6E8A-4147-A177-3AD203B41FA5}">
                      <a16:colId xmlns:a16="http://schemas.microsoft.com/office/drawing/2014/main" val="29714681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Challenge / risk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Strategy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4219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reaction colours differ from the printed chart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Validation by NCB/CFSL chemists under their licences: 1,296 captures at 3 sample amounts; we never handle narcotics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62878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Phones and light vary; glare; night raids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Reference card + RAW capture; bad-light gate; flash/no-flash night mode; say "inconclusive" rather than guess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6079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Staged or swapped sample</a:t>
                      </a: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Capture starts before the reagent drop; liveness check; package label in frame; link to the s.105 video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67196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Rooted phone, insider, deleted records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Hardware keys + attestation; supervisor-signed binding; panchnama anchor; server never trusted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60637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Access to SIMS / e-Sakshya not confirmed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File exports first; the engine ships as an SDK e-Sakshya can embed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07854"/>
                  </a:ext>
                </a:extLst>
              </a:tr>
            </a:tbl>
          </a:graphicData>
        </a:graphic>
      </p:graphicFrame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AC26958-DB05-43DC-FBA3-B242F87B56DA}"/>
              </a:ext>
            </a:extLst>
          </p:cNvPr>
          <p:cNvSpPr/>
          <p:nvPr/>
        </p:nvSpPr>
        <p:spPr>
          <a:xfrm>
            <a:off x="8102600" y="2590800"/>
            <a:ext cx="3810000" cy="3632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F30ECA-CD81-7010-2A83-D21C9525BBAD}"/>
              </a:ext>
            </a:extLst>
          </p:cNvPr>
          <p:cNvSpPr txBox="1"/>
          <p:nvPr/>
        </p:nvSpPr>
        <p:spPr>
          <a:xfrm>
            <a:off x="8255000" y="26924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WHY IT IS VIABLE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222290-27E0-313A-E9B4-EAAB59C1A808}"/>
              </a:ext>
            </a:extLst>
          </p:cNvPr>
          <p:cNvSpPr txBox="1"/>
          <p:nvPr/>
        </p:nvSpPr>
        <p:spPr>
          <a:xfrm>
            <a:off x="8255000" y="29718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Existing kit, existing phones: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already supplies the kit free; the only addition is a printed colour card per kit.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Small infrastructure: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one app server pair, PostgreSQL, 1–3 TB a year of storage on NIC or MeitY-empanelled cloud.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Government-owned: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holds the signing keys, the colour standard and the code; open formats, no licences.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Pass criteria set in advance: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false positives at most 1%, proven at 95% confidence (at least 299 negative controls); "inconclusive" at most 15%.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Clear status: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every number here is labelled proven in code or simulated. Real-phone and real-kit numbers come next.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6697C00-2074-A499-3D03-45D1E57E2C6B}"/>
              </a:ext>
            </a:extLst>
          </p:cNvPr>
          <p:cNvSpPr txBox="1"/>
          <p:nvPr/>
        </p:nvSpPr>
        <p:spPr>
          <a:xfrm>
            <a:off x="279400" y="1244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WHO BENEFITS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B5DB50A-072F-4404-0FD3-2D188F605096}"/>
              </a:ext>
            </a:extLst>
          </p:cNvPr>
          <p:cNvSpPr/>
          <p:nvPr/>
        </p:nvSpPr>
        <p:spPr>
          <a:xfrm>
            <a:off x="279400" y="15240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SO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1704D-5775-2EF3-4865-15894D9F537B}"/>
              </a:ext>
            </a:extLst>
          </p:cNvPr>
          <p:cNvSpPr txBox="1"/>
          <p:nvPr/>
        </p:nvSpPr>
        <p:spPr>
          <a:xfrm>
            <a:off x="863600" y="1498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Seizing officer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 guided test, a Field Test Memo and Form-1 item 5 filled in, and a record that shows good-faith action.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3270EE-B343-60E9-5E4D-2B33A43A9B21}"/>
              </a:ext>
            </a:extLst>
          </p:cNvPr>
          <p:cNvSpPr/>
          <p:nvPr/>
        </p:nvSpPr>
        <p:spPr>
          <a:xfrm>
            <a:off x="279400" y="23368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IO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6B4B2-CC0D-E3DF-526B-FB3946D472AC}"/>
              </a:ext>
            </a:extLst>
          </p:cNvPr>
          <p:cNvSpPr txBox="1"/>
          <p:nvPr/>
        </p:nvSpPr>
        <p:spPr>
          <a:xfrm>
            <a:off x="863600" y="23114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Investigating officer, prosecutor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Checkable evidence for remand and bail; a Rule 10(2) grouping check before sampling; the lab result linked back.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92B9E7C-4780-5B50-1AEC-327188826061}"/>
              </a:ext>
            </a:extLst>
          </p:cNvPr>
          <p:cNvSpPr/>
          <p:nvPr/>
        </p:nvSpPr>
        <p:spPr>
          <a:xfrm>
            <a:off x="279400" y="31496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895F4E-9AF9-FFDC-4207-094AA670B03E}"/>
              </a:ext>
            </a:extLst>
          </p:cNvPr>
          <p:cNvSpPr txBox="1"/>
          <p:nvPr/>
        </p:nvSpPr>
        <p:spPr>
          <a:xfrm>
            <a:off x="863600" y="31242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Courts, defence, the accused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Any expert can re-check the record offline; the quantity category is flagged as uncertain until the lab confirms.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2684DE7-13B0-FAA9-3C18-452F79BD7A1A}"/>
              </a:ext>
            </a:extLst>
          </p:cNvPr>
          <p:cNvSpPr/>
          <p:nvPr/>
        </p:nvSpPr>
        <p:spPr>
          <a:xfrm>
            <a:off x="279400" y="39624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HQ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ED57D-8145-9D96-D1C8-7ABA1B978EEB}"/>
              </a:ext>
            </a:extLst>
          </p:cNvPr>
          <p:cNvSpPr txBox="1"/>
          <p:nvPr/>
        </p:nvSpPr>
        <p:spPr>
          <a:xfrm>
            <a:off x="863600" y="3937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NCB headquarters and labs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India's first field-vs-lab accuracy data, per kit batch and per test.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DA707D-B223-F691-3B6A-18A4C59A0E25}"/>
              </a:ext>
            </a:extLst>
          </p:cNvPr>
          <p:cNvSpPr txBox="1"/>
          <p:nvPr/>
        </p:nvSpPr>
        <p:spPr>
          <a:xfrm>
            <a:off x="5842000" y="1244600"/>
            <a:ext cx="607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WHAT CHANGES FOR ONE SEIZURE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1F073AC-9D1D-73E5-55B0-EA3AE3EF1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192591"/>
              </p:ext>
            </p:extLst>
          </p:nvPr>
        </p:nvGraphicFramePr>
        <p:xfrm>
          <a:off x="5842000" y="1498600"/>
          <a:ext cx="60706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273352361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2747444429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Today (paper)</a:t>
                      </a:r>
                    </a:p>
                  </a:txBody>
                  <a:tcPr marL="63500" marR="63500" marT="38100" marB="38100"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With FieldTest Recorder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2135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Colour judged by eye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Measured against a signed colour standard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2400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"Dark brown" written in the panchnama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Photo + reading + every drug the colour is consistent with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05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proof of time or place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Signed time, GNSS time, GPS and officer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5156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Records can be rewritten later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Deletions and re-runs are detectable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40585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Quantity category guessed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Flagged when it can't be told in the field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3619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kit accuracy data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Field result vs lab result, per kit batch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026117"/>
                  </a:ext>
                </a:extLst>
              </a:tr>
            </a:tbl>
          </a:graphicData>
        </a:graphic>
      </p:graphicFrame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B55F631-8A7B-02E8-63AB-E9BBA2D276C5}"/>
              </a:ext>
            </a:extLst>
          </p:cNvPr>
          <p:cNvSpPr/>
          <p:nvPr/>
        </p:nvSpPr>
        <p:spPr>
          <a:xfrm>
            <a:off x="5842000" y="3606800"/>
            <a:ext cx="60706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58F77C-424F-6034-665E-31C7C3F290DF}"/>
              </a:ext>
            </a:extLst>
          </p:cNvPr>
          <p:cNvSpPr txBox="1"/>
          <p:nvPr/>
        </p:nvSpPr>
        <p:spPr>
          <a:xfrm>
            <a:off x="5994400" y="3708400"/>
            <a:ext cx="5765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Why a field report must not overstate: a real case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 (2024):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police alleged commercial-quantity MDMA; the lab found methamphetamine in intermediate quantity (MDMA 0.5 g / 10 g vs methamphetamine 2 g / 50 g). Our record states only what the kit's colour supports, lists every drug that colour fits, and warns when they fall under different NDPS thresholds.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FCFC66C-48FC-0294-9F42-969DB1C21EA2}"/>
              </a:ext>
            </a:extLst>
          </p:cNvPr>
          <p:cNvSpPr/>
          <p:nvPr/>
        </p:nvSpPr>
        <p:spPr>
          <a:xfrm>
            <a:off x="279400" y="4826000"/>
            <a:ext cx="11633200" cy="1371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EA4CCA-EE61-8383-DD2E-F2734708FE91}"/>
              </a:ext>
            </a:extLst>
          </p:cNvPr>
          <p:cNvSpPr txBox="1"/>
          <p:nvPr/>
        </p:nvSpPr>
        <p:spPr>
          <a:xfrm>
            <a:off x="4318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Social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Fairer remand and bail decisions; fewer cases lost on procedure; honest officers protected.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57DC3B-DB10-5B63-3F8C-F0B433721155}"/>
              </a:ext>
            </a:extLst>
          </p:cNvPr>
          <p:cNvSpPr txBox="1"/>
          <p:nvPr/>
        </p:nvSpPr>
        <p:spPr>
          <a:xfrm>
            <a:off x="33274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Economic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No new hardware; reuses the free NCB kit and officers' phones; small hosting cost.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511953-4DA9-92C9-1321-134E9DAA532F}"/>
              </a:ext>
            </a:extLst>
          </p:cNvPr>
          <p:cNvSpPr txBox="1"/>
          <p:nvPr/>
        </p:nvSpPr>
        <p:spPr>
          <a:xfrm>
            <a:off x="62230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Environmental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Paperless records; no extra consumables beyond one printed card per kit.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ACB80D-0AF0-1CA5-ECD8-A14DE5A68083}"/>
              </a:ext>
            </a:extLst>
          </p:cNvPr>
          <p:cNvSpPr txBox="1"/>
          <p:nvPr/>
        </p:nvSpPr>
        <p:spPr>
          <a:xfrm>
            <a:off x="91186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Scale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1,15,236 NDPS cases in 2022 (MHA); every package in every case gets a field test.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/>
              <a:t>[Team Name]</a:t>
            </a:r>
            <a:endParaRPr lang="en-IN" sz="14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242B68F-2AA8-B452-0BD7-9F8A81BC520A}"/>
              </a:ext>
            </a:extLst>
          </p:cNvPr>
          <p:cNvSpPr txBox="1"/>
          <p:nvPr/>
        </p:nvSpPr>
        <p:spPr>
          <a:xfrm>
            <a:off x="279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SIH26231 problem statement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 Control Bureau, MHA; sih.gov.in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[2]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Narcotic Drugs Detection Kit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NICFS, A Forensic Guide for Crime Investigators, ch. 8, Figs 8.12–8.16 (Tests A–E, flow charts)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[3]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(Seizure, Storage, Sampling and Disposal) Rules 2022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GSR 899(E): Rules 3, 5, 10(2), 13, 14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[4]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Sagar Parshuram Joshi v. State of Maharashtra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Bombay HC, 15 Jan 2021 (indiankanoon.org/doc/90970274)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[5]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Masibur Khan v. State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Delhi HC, 31 May 2023 (indiankanoon.org/doc/91398841)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[6]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Kerala HC, 2024: alleged MDMA found to be methamphetamine</a:t>
            </a:r>
            <a:endParaRPr lang="en-IN" sz="105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41B68E-8052-C016-9644-12B3AB5896EA}"/>
              </a:ext>
            </a:extLst>
          </p:cNvPr>
          <p:cNvSpPr txBox="1"/>
          <p:nvPr/>
        </p:nvSpPr>
        <p:spPr>
          <a:xfrm>
            <a:off x="6121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[7]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small and commercial quantities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S.O. 1055(E), 19 Oct 2001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[8]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Drug Law Enforcement Field Officers' Handbook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narcoticsindia.nic.in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[9]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BPR&amp;D SOP: audio-video recording under BNSS; BSA 2023 s.63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hash value in the electronic-record certificate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[10]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NIJ Standard-0604.01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Color Test Reagents/Kits for Preliminary Identification of Drugs of Abuse (US DoJ)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Android key attestation; RFC 8785 (JSON canonicalisation)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developer.android.com; rfc-editor.org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[12]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MHA Rajya Sabha USQ 1832 (11 Dec 2024)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NDPS case statistics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FA8056-27CA-45B4-8121-C6A3F15D2EAC}"/>
              </a:ext>
            </a:extLst>
          </p:cNvPr>
          <p:cNvSpPr/>
          <p:nvPr/>
        </p:nvSpPr>
        <p:spPr>
          <a:xfrm>
            <a:off x="279400" y="4089400"/>
            <a:ext cx="11633200" cy="2108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E6FDE-D022-B214-BFD9-07518FA6C819}"/>
              </a:ext>
            </a:extLst>
          </p:cNvPr>
          <p:cNvSpPr txBox="1"/>
          <p:nvPr/>
        </p:nvSpPr>
        <p:spPr>
          <a:xfrm>
            <a:off x="431800" y="42164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200" b="1">
                <a:solidFill>
                  <a:srgbClr val="1F3864"/>
                </a:solidFill>
                <a:latin typeface="Arial" panose="020B0604020202020204" pitchFamily="34" charset="0"/>
              </a:rPr>
              <a:t>OUR OWN RESEARCH (AVAILABLE ON REQUEST)</a:t>
            </a:r>
            <a:endParaRPr lang="en-IN" sz="12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C1DAB2-8BCF-133F-E43D-F79026542F98}"/>
              </a:ext>
            </a:extLst>
          </p:cNvPr>
          <p:cNvSpPr txBox="1"/>
          <p:nvPr/>
        </p:nvSpPr>
        <p:spPr>
          <a:xfrm>
            <a:off x="431800" y="44958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Executable reference implementation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of the record format, verifier, colour engine, NCB kit protocol, searchable log and sync server; the Android app must match its outputs byte for byte.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17 experiments with 95% confidence intervals,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including 18 tampering attacks, 15 failure scenarios, sample-amount tests, night light and staged-sample detection.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An external review, re-checked claim by claim: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every confirmed defect was fixed and re-tested before this submission.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Safety and law: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our team never handles narcotics; colour tests use published colours, the kit chart and safe dyes. Real-kit validation is designed for NCB or CFSL chemists.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1874</Words>
  <Application>Microsoft Office PowerPoint</Application>
  <PresentationFormat>Widescreen</PresentationFormat>
  <Paragraphs>192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FieldTest Recorder</vt:lpstr>
      <vt:lpstr>TECHNICAL APPROACH</vt:lpstr>
      <vt:lpstr>FEASIBILITY AND VIABILITY</vt:lpstr>
      <vt:lpstr>IMPACT AND BENEFITS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Harshith Pali</cp:lastModifiedBy>
  <cp:revision>149</cp:revision>
  <dcterms:created xsi:type="dcterms:W3CDTF">2013-12-12T18:46:50Z</dcterms:created>
  <dcterms:modified xsi:type="dcterms:W3CDTF">2026-09-29T18:28:55Z</dcterms:modified>
  <cp:category/>
</cp:coreProperties>
</file>