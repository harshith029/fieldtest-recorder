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arshith029/fieldtest-record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FieldTest Recorder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588000" cy="311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60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SIH26231</a:t>
            </a:r>
            <a:endParaRPr lang="en-US" sz="1600" dirty="0">
              <a:solidFill>
                <a:srgbClr val="1F38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60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Companion for Field Drug Testing</a:t>
            </a:r>
            <a:endParaRPr lang="en-US" sz="1600" dirty="0">
              <a:solidFill>
                <a:srgbClr val="1F38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60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 / BioTech / HealthTech</a:t>
            </a:r>
            <a:endParaRPr lang="en-US" sz="1600" dirty="0">
              <a:solidFill>
                <a:srgbClr val="1F38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60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1600" dirty="0">
              <a:solidFill>
                <a:srgbClr val="1F38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60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[Team ID]</a:t>
            </a:r>
            <a:endParaRPr lang="en-US" sz="1600" dirty="0">
              <a:solidFill>
                <a:srgbClr val="1F38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60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[Team Name]</a:t>
            </a:r>
            <a:endParaRPr lang="en-IN" sz="1600" dirty="0">
              <a:solidFill>
                <a:srgbClr val="1F38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78000" y="101600"/>
            <a:ext cx="7937500" cy="787400"/>
          </a:xfrm>
        </p:spPr>
        <p:txBody>
          <a:bodyPr/>
          <a:lstStyle/>
          <a:p>
            <a:pPr eaLnBrk="1" hangingPunct="1"/>
            <a:r>
              <a:rPr lang="en-US" sz="3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FieldTest Recorder</a:t>
            </a:r>
            <a:endParaRPr lang="en-US" sz="3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[Team Name]</a:t>
            </a:r>
            <a:endParaRPr lang="en-IN" sz="1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044FD0-FA46-432C-162C-3FCCA8D59328}"/>
              </a:ext>
            </a:extLst>
          </p:cNvPr>
          <p:cNvSpPr txBox="1"/>
          <p:nvPr/>
        </p:nvSpPr>
        <p:spPr>
          <a:xfrm>
            <a:off x="1778000" y="812800"/>
            <a:ext cx="793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i="1">
                <a:solidFill>
                  <a:srgbClr val="1F3864"/>
                </a:solidFill>
                <a:latin typeface="Arial" panose="020B0604020202020204" pitchFamily="34" charset="0"/>
              </a:rPr>
              <a:t>A guided, measured and signed field test for NCB's Narcotic Drugs Detection Kit</a:t>
            </a:r>
            <a:endParaRPr lang="en-IN" sz="1300" i="1">
              <a:solidFill>
                <a:srgbClr val="1F3864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72E95A-E4AC-695C-6DF6-F25881421B83}"/>
              </a:ext>
            </a:extLst>
          </p:cNvPr>
          <p:cNvSpPr/>
          <p:nvPr/>
        </p:nvSpPr>
        <p:spPr>
          <a:xfrm>
            <a:off x="279400" y="1219200"/>
            <a:ext cx="3327400" cy="5029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ACDC5-4A6D-AE3C-45CA-AB8F196BB399}"/>
              </a:ext>
            </a:extLst>
          </p:cNvPr>
          <p:cNvSpPr txBox="1"/>
          <p:nvPr/>
        </p:nvSpPr>
        <p:spPr>
          <a:xfrm>
            <a:off x="431800" y="134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THE GAP TODAY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8140E-45C3-FF30-B31F-40B0A3EB116A}"/>
              </a:ext>
            </a:extLst>
          </p:cNvPr>
          <p:cNvSpPr txBox="1"/>
          <p:nvPr/>
        </p:nvSpPr>
        <p:spPr>
          <a:xfrm>
            <a:off x="431800" y="1651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100" b="1">
                <a:solidFill>
                  <a:srgbClr val="262626"/>
                </a:solidFill>
                <a:latin typeface="Arial" panose="020B0604020202020204" pitchFamily="34" charset="0"/>
              </a:rPr>
              <a:t>Read by eye. </a:t>
            </a:r>
            <a:r>
              <a:rPr lang="en-US" sz="1100">
                <a:solidFill>
                  <a:srgbClr val="262626"/>
                </a:solidFill>
                <a:latin typeface="Arial" panose="020B0604020202020204" pitchFamily="34" charset="0"/>
              </a:rPr>
              <a:t>Officers match the kit's colour against a printed chart; nothing proves a test happened at a place and time (NCB, this problem statement).</a:t>
            </a:r>
          </a:p>
          <a:p>
            <a:pPr marL="127000" indent="-127000"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100" b="1">
                <a:solidFill>
                  <a:srgbClr val="262626"/>
                </a:solidFill>
                <a:latin typeface="Arial" panose="020B0604020202020204" pitchFamily="34" charset="0"/>
              </a:rPr>
              <a:t>No standard. </a:t>
            </a:r>
            <a:r>
              <a:rPr lang="en-US" sz="1100">
                <a:solidFill>
                  <a:srgbClr val="262626"/>
                </a:solidFill>
                <a:latin typeface="Arial" panose="020B0604020202020204" pitchFamily="34" charset="0"/>
              </a:rPr>
              <a:t>Bombay HC (2021): NCB "has not prescribed the standards"; field testing is "arbitrary", and a bare mention in the panchnama is not enough.</a:t>
            </a:r>
          </a:p>
          <a:p>
            <a:pPr marL="127000" indent="-127000"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100" b="1">
                <a:solidFill>
                  <a:srgbClr val="262626"/>
                </a:solidFill>
                <a:latin typeface="Arial" panose="020B0604020202020204" pitchFamily="34" charset="0"/>
              </a:rPr>
              <a:t>Wrong drug, wrong quantity. </a:t>
            </a:r>
            <a:r>
              <a:rPr lang="en-IN" sz="1100">
                <a:solidFill>
                  <a:srgbClr val="262626"/>
                </a:solidFill>
                <a:latin typeface="Arial" panose="020B0604020202020204" pitchFamily="34" charset="0"/>
              </a:rPr>
              <a:t>Kerala HC (2024, Anuraj): seized "MDMA" was methamphetamine, which changes the NDPS quantity category.</a:t>
            </a:r>
          </a:p>
          <a:p>
            <a:pPr marL="127000" indent="-12700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100" b="1">
                <a:solidFill>
                  <a:srgbClr val="262626"/>
                </a:solidFill>
                <a:latin typeface="Arial" panose="020B0604020202020204" pitchFamily="34" charset="0"/>
              </a:rPr>
              <a:t>So: </a:t>
            </a:r>
            <a:r>
              <a:rPr lang="en-US" sz="1100">
                <a:solidFill>
                  <a:srgbClr val="262626"/>
                </a:solidFill>
                <a:latin typeface="Arial" panose="020B0604020202020204" pitchFamily="34" charset="0"/>
              </a:rPr>
              <a:t>disputed seizures, bail on procedure, and field results that cannot later be checked against the lab report.</a:t>
            </a:r>
            <a:endParaRPr lang="en-IN" sz="11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C689E-6299-C00E-F769-921AD259F881}"/>
              </a:ext>
            </a:extLst>
          </p:cNvPr>
          <p:cNvSpPr txBox="1"/>
          <p:nvPr/>
        </p:nvSpPr>
        <p:spPr>
          <a:xfrm>
            <a:off x="3810000" y="1270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1F3864"/>
                </a:solidFill>
                <a:latin typeface="Arial" panose="020B0604020202020204" pitchFamily="34" charset="0"/>
              </a:rPr>
              <a:t>HOW IT WILL WORK (PHONE, OFFLINE)</a:t>
            </a:r>
            <a:endParaRPr lang="en-IN" sz="1200" b="1">
              <a:solidFill>
                <a:srgbClr val="1F3864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9070AB-D431-55F7-7B46-7529CF5C8D7F}"/>
              </a:ext>
            </a:extLst>
          </p:cNvPr>
          <p:cNvSpPr/>
          <p:nvPr/>
        </p:nvSpPr>
        <p:spPr>
          <a:xfrm>
            <a:off x="3810000" y="1574800"/>
            <a:ext cx="330200" cy="330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C351E-79D6-5C34-83E0-92C3218259E9}"/>
              </a:ext>
            </a:extLst>
          </p:cNvPr>
          <p:cNvSpPr txBox="1"/>
          <p:nvPr/>
        </p:nvSpPr>
        <p:spPr>
          <a:xfrm>
            <a:off x="4241800" y="15621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50" b="1">
                <a:solidFill>
                  <a:srgbClr val="1F3864"/>
                </a:solidFill>
                <a:latin typeface="Arial" panose="020B0604020202020204" pitchFamily="34" charset="0"/>
              </a:rPr>
              <a:t>Guide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NCB kit Tests A–E in the order of the kit's printed flow charts, with the drops and steps printed for each test</a:t>
            </a:r>
            <a:endParaRPr lang="en-IN" sz="10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54921-EA15-08C6-4C7E-CBAE391A83B6}"/>
              </a:ext>
            </a:extLst>
          </p:cNvPr>
          <p:cNvCxnSpPr/>
          <p:nvPr/>
        </p:nvCxnSpPr>
        <p:spPr>
          <a:xfrm>
            <a:off x="3975100" y="1930400"/>
            <a:ext cx="0" cy="393700"/>
          </a:xfrm>
          <a:prstGeom prst="line">
            <a:avLst/>
          </a:prstGeom>
          <a:ln w="19050">
            <a:solidFill>
              <a:srgbClr val="B4C7E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94CB840-5C63-5A28-8DEF-94ED67634CBA}"/>
              </a:ext>
            </a:extLst>
          </p:cNvPr>
          <p:cNvSpPr/>
          <p:nvPr/>
        </p:nvSpPr>
        <p:spPr>
          <a:xfrm>
            <a:off x="3810000" y="2349500"/>
            <a:ext cx="330200" cy="330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451FB5-98B2-6C00-D03E-0A4316E70226}"/>
              </a:ext>
            </a:extLst>
          </p:cNvPr>
          <p:cNvSpPr txBox="1"/>
          <p:nvPr/>
        </p:nvSpPr>
        <p:spPr>
          <a:xfrm>
            <a:off x="4241800" y="23368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50" b="1">
                <a:solidFill>
                  <a:srgbClr val="1F3864"/>
                </a:solidFill>
                <a:latin typeface="Arial" panose="020B0604020202020204" pitchFamily="34" charset="0"/>
              </a:rPr>
              <a:t>Capture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Photo of the reaction on a reference colour card beside a reagent-only blank well (spot-plate tests first; tube holder for Tests B and E next)</a:t>
            </a:r>
            <a:endParaRPr lang="en-IN" sz="10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EF547-82F1-1CAD-C8B1-519632C1F9CF}"/>
              </a:ext>
            </a:extLst>
          </p:cNvPr>
          <p:cNvCxnSpPr/>
          <p:nvPr/>
        </p:nvCxnSpPr>
        <p:spPr>
          <a:xfrm>
            <a:off x="3975100" y="2705100"/>
            <a:ext cx="0" cy="393700"/>
          </a:xfrm>
          <a:prstGeom prst="line">
            <a:avLst/>
          </a:prstGeom>
          <a:ln w="19050">
            <a:solidFill>
              <a:srgbClr val="B4C7E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D9D6D64-CECD-6042-E955-C3C9631573C5}"/>
              </a:ext>
            </a:extLst>
          </p:cNvPr>
          <p:cNvSpPr/>
          <p:nvPr/>
        </p:nvSpPr>
        <p:spPr>
          <a:xfrm>
            <a:off x="3810000" y="3124200"/>
            <a:ext cx="330200" cy="330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C0860E-32F7-DB3C-0124-4DE719582F16}"/>
              </a:ext>
            </a:extLst>
          </p:cNvPr>
          <p:cNvSpPr txBox="1"/>
          <p:nvPr/>
        </p:nvSpPr>
        <p:spPr>
          <a:xfrm>
            <a:off x="4241800" y="31115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50" b="1">
                <a:solidFill>
                  <a:srgbClr val="1F3864"/>
                </a:solidFill>
                <a:latin typeface="Arial" panose="020B0604020202020204" pitchFamily="34" charset="0"/>
              </a:rPr>
              <a:t>Read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Colour bands from the kit's printed ranges: positive / no colour change / inconclusive, plus every drug on the kit chart that the colour fits</a:t>
            </a:r>
            <a:endParaRPr lang="en-IN" sz="10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6D8320-A5AF-18C0-5C3F-0F9400A67867}"/>
              </a:ext>
            </a:extLst>
          </p:cNvPr>
          <p:cNvCxnSpPr/>
          <p:nvPr/>
        </p:nvCxnSpPr>
        <p:spPr>
          <a:xfrm>
            <a:off x="3975100" y="3479800"/>
            <a:ext cx="0" cy="393700"/>
          </a:xfrm>
          <a:prstGeom prst="line">
            <a:avLst/>
          </a:prstGeom>
          <a:ln w="19050">
            <a:solidFill>
              <a:srgbClr val="B4C7E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852D340-0729-5E32-03C4-705BA811F69D}"/>
              </a:ext>
            </a:extLst>
          </p:cNvPr>
          <p:cNvSpPr/>
          <p:nvPr/>
        </p:nvSpPr>
        <p:spPr>
          <a:xfrm>
            <a:off x="3810000" y="3898900"/>
            <a:ext cx="330200" cy="330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B91B92-8D11-D643-D9A9-DB79A642713C}"/>
              </a:ext>
            </a:extLst>
          </p:cNvPr>
          <p:cNvSpPr txBox="1"/>
          <p:nvPr/>
        </p:nvSpPr>
        <p:spPr>
          <a:xfrm>
            <a:off x="4241800" y="38862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50" b="1">
                <a:solidFill>
                  <a:srgbClr val="1F3864"/>
                </a:solidFill>
                <a:latin typeface="Arial" panose="020B0604020202020204" pitchFamily="34" charset="0"/>
              </a:rPr>
              <a:t>Sign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Time, GPS, officer and image hash in every record, signed and hash-chained (designed for the phone's secure hardware key)</a:t>
            </a:r>
            <a:endParaRPr lang="en-IN" sz="10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7A5969-6C46-3E92-A8CC-3720BD256BCC}"/>
              </a:ext>
            </a:extLst>
          </p:cNvPr>
          <p:cNvCxnSpPr/>
          <p:nvPr/>
        </p:nvCxnSpPr>
        <p:spPr>
          <a:xfrm>
            <a:off x="3975100" y="4254500"/>
            <a:ext cx="0" cy="393700"/>
          </a:xfrm>
          <a:prstGeom prst="line">
            <a:avLst/>
          </a:prstGeom>
          <a:ln w="19050">
            <a:solidFill>
              <a:srgbClr val="B4C7E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D6A4795-DA47-712D-321B-46402171016B}"/>
              </a:ext>
            </a:extLst>
          </p:cNvPr>
          <p:cNvSpPr/>
          <p:nvPr/>
        </p:nvSpPr>
        <p:spPr>
          <a:xfrm>
            <a:off x="3810000" y="4673600"/>
            <a:ext cx="330200" cy="330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3FD9F7-D42C-604D-0D08-AA4C55570F17}"/>
              </a:ext>
            </a:extLst>
          </p:cNvPr>
          <p:cNvSpPr txBox="1"/>
          <p:nvPr/>
        </p:nvSpPr>
        <p:spPr>
          <a:xfrm>
            <a:off x="4241800" y="46609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50" b="1">
                <a:solidFill>
                  <a:srgbClr val="1F3864"/>
                </a:solidFill>
                <a:latin typeface="Arial" panose="020B0604020202020204" pitchFamily="34" charset="0"/>
              </a:rPr>
              <a:t>Anchor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A 14-character code written into the witness-signed panchnama</a:t>
            </a:r>
            <a:endParaRPr lang="en-IN" sz="10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6B997A-9EEF-C8EE-D098-7FAD77F7C539}"/>
              </a:ext>
            </a:extLst>
          </p:cNvPr>
          <p:cNvCxnSpPr/>
          <p:nvPr/>
        </p:nvCxnSpPr>
        <p:spPr>
          <a:xfrm>
            <a:off x="3975100" y="5029200"/>
            <a:ext cx="0" cy="393700"/>
          </a:xfrm>
          <a:prstGeom prst="line">
            <a:avLst/>
          </a:prstGeom>
          <a:ln w="19050">
            <a:solidFill>
              <a:srgbClr val="B4C7E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54627DA-041B-E886-F189-7AE16B4BC877}"/>
              </a:ext>
            </a:extLst>
          </p:cNvPr>
          <p:cNvSpPr/>
          <p:nvPr/>
        </p:nvSpPr>
        <p:spPr>
          <a:xfrm>
            <a:off x="3810000" y="5448300"/>
            <a:ext cx="330200" cy="330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09868C-2DA6-5BB0-07DE-EF86B5F18572}"/>
              </a:ext>
            </a:extLst>
          </p:cNvPr>
          <p:cNvSpPr txBox="1"/>
          <p:nvPr/>
        </p:nvSpPr>
        <p:spPr>
          <a:xfrm>
            <a:off x="4241800" y="54356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50" b="1">
                <a:solidFill>
                  <a:srgbClr val="1F3864"/>
                </a:solidFill>
                <a:latin typeface="Arial" panose="020B0604020202020204" pitchFamily="34" charset="0"/>
              </a:rPr>
              <a:t>Verify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Anyone can check the records offline with our verifier. Planned: Field Test Memo, Form-1 item 5 text, BSA s.63 data</a:t>
            </a:r>
            <a:endParaRPr lang="en-IN" sz="100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F5404-412B-BBE8-B8E5-5254D7BF0183}"/>
              </a:ext>
            </a:extLst>
          </p:cNvPr>
          <p:cNvSpPr txBox="1"/>
          <p:nvPr/>
        </p:nvSpPr>
        <p:spPr>
          <a:xfrm>
            <a:off x="8229600" y="12700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WHAT IS NEW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4FD0406-634D-57A0-3377-FEE09EBB21BF}"/>
              </a:ext>
            </a:extLst>
          </p:cNvPr>
          <p:cNvSpPr/>
          <p:nvPr/>
        </p:nvSpPr>
        <p:spPr>
          <a:xfrm>
            <a:off x="8229600" y="1574800"/>
            <a:ext cx="3683000" cy="10668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0E6FD6-4FD4-3F05-ED36-BC4DD14A0C73}"/>
              </a:ext>
            </a:extLst>
          </p:cNvPr>
          <p:cNvSpPr txBox="1"/>
          <p:nvPr/>
        </p:nvSpPr>
        <p:spPr>
          <a:xfrm>
            <a:off x="8356600" y="16764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Says only what the chemistry supports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Test E blue = "cocaine or methaqualone" until E3/E4 narrows it; warns when the NDPS quantity category can't be told in the field.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0BB615B-15DE-C8B5-AE25-4D5CBA4A5C81}"/>
              </a:ext>
            </a:extLst>
          </p:cNvPr>
          <p:cNvSpPr/>
          <p:nvPr/>
        </p:nvSpPr>
        <p:spPr>
          <a:xfrm>
            <a:off x="8229600" y="2743200"/>
            <a:ext cx="3683000" cy="10668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3E56DC-E9F5-40BA-D9B9-2A36A4EE2AE3}"/>
              </a:ext>
            </a:extLst>
          </p:cNvPr>
          <p:cNvSpPr txBox="1"/>
          <p:nvPr/>
        </p:nvSpPr>
        <p:spPr>
          <a:xfrm>
            <a:off x="8356600" y="28448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Designed for varying sample amounts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In simulation, colour bands + a blank well gave 0% false positives where our first single-point rule gave up to 11.7%. Real reactions: next.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E94B2F-79C5-D1F0-804C-900FF1455697}"/>
              </a:ext>
            </a:extLst>
          </p:cNvPr>
          <p:cNvSpPr/>
          <p:nvPr/>
        </p:nvSpPr>
        <p:spPr>
          <a:xfrm>
            <a:off x="11201400" y="2806700"/>
            <a:ext cx="609600" cy="139700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SIMULATED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9D9F83-3202-1E1C-49C3-B7D38D9180FD}"/>
              </a:ext>
            </a:extLst>
          </p:cNvPr>
          <p:cNvSpPr/>
          <p:nvPr/>
        </p:nvSpPr>
        <p:spPr>
          <a:xfrm>
            <a:off x="8229600" y="3911600"/>
            <a:ext cx="3683000" cy="10668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2E624F-05F4-2D6F-F909-982235EB8A58}"/>
              </a:ext>
            </a:extLst>
          </p:cNvPr>
          <p:cNvSpPr txBox="1"/>
          <p:nvPr/>
        </p:nvSpPr>
        <p:spPr>
          <a:xfrm>
            <a:off x="8356600" y="40132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Proves completeness, not just integrity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Once the panchnama code is written, deleted or re-run tests are caught, and a server admin cannot forge a record (prototype, test keys).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A9B9E2A-8294-99EA-C0A3-5F31251FCEDA}"/>
              </a:ext>
            </a:extLst>
          </p:cNvPr>
          <p:cNvSpPr/>
          <p:nvPr/>
        </p:nvSpPr>
        <p:spPr>
          <a:xfrm>
            <a:off x="11023600" y="3975100"/>
            <a:ext cx="787400" cy="1397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PROVEN IN CODE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3E4662-9D8A-BC75-8C6A-AFF711F6C9A2}"/>
              </a:ext>
            </a:extLst>
          </p:cNvPr>
          <p:cNvSpPr/>
          <p:nvPr/>
        </p:nvSpPr>
        <p:spPr>
          <a:xfrm>
            <a:off x="8229600" y="5080000"/>
            <a:ext cx="3683000" cy="10668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3AFCB0-211A-8057-A193-5B7396CA4C79}"/>
              </a:ext>
            </a:extLst>
          </p:cNvPr>
          <p:cNvSpPr txBox="1"/>
          <p:nvPr/>
        </p:nvSpPr>
        <p:spPr>
          <a:xfrm>
            <a:off x="8356600" y="5181600"/>
            <a:ext cx="345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No new hardware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Existing NCB kit + officer's phone + a printed card. Designed to work offline and to be embeddable in apps such as e-Sakshya.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101600"/>
            <a:ext cx="7937500" cy="787400"/>
          </a:xfrm>
        </p:spPr>
        <p:txBody>
          <a:bodyPr/>
          <a:lstStyle/>
          <a:p>
            <a:pPr eaLnBrk="1" hangingPunct="1"/>
            <a:r>
              <a:rPr lang="en-US" sz="32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[Team Name]</a:t>
            </a:r>
            <a:endParaRPr lang="en-IN" sz="14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B638E4-EF20-8DCF-7750-CFD316C50DE2}"/>
              </a:ext>
            </a:extLst>
          </p:cNvPr>
          <p:cNvSpPr/>
          <p:nvPr/>
        </p:nvSpPr>
        <p:spPr>
          <a:xfrm>
            <a:off x="279400" y="1219200"/>
            <a:ext cx="3556000" cy="34036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8AE4A-4E2E-CDD7-D7C9-FA8E8F3345D0}"/>
              </a:ext>
            </a:extLst>
          </p:cNvPr>
          <p:cNvSpPr txBox="1"/>
          <p:nvPr/>
        </p:nvSpPr>
        <p:spPr>
          <a:xfrm>
            <a:off x="431800" y="13208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OFFICER'S PHONE APP (design, offline)</a:t>
            </a:r>
            <a:endParaRPr lang="en-IN" sz="1100" b="1">
              <a:solidFill>
                <a:srgbClr val="1F386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D2C7E0-6C68-32FB-C327-483952118603}"/>
              </a:ext>
            </a:extLst>
          </p:cNvPr>
          <p:cNvSpPr/>
          <p:nvPr/>
        </p:nvSpPr>
        <p:spPr>
          <a:xfrm>
            <a:off x="431800" y="1625600"/>
            <a:ext cx="3251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59DDC-3463-8470-FDCD-CC7725955F7F}"/>
              </a:ext>
            </a:extLst>
          </p:cNvPr>
          <p:cNvSpPr txBox="1"/>
          <p:nvPr/>
        </p:nvSpPr>
        <p:spPr>
          <a:xfrm>
            <a:off x="533400" y="1689100"/>
            <a:ext cx="3073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Guided NDDK protocol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signed file: steps, drops, flow charts (in prototype)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26C7F6-C976-A2A6-1358-0E0EFAAFD492}"/>
              </a:ext>
            </a:extLst>
          </p:cNvPr>
          <p:cNvSpPr/>
          <p:nvPr/>
        </p:nvSpPr>
        <p:spPr>
          <a:xfrm>
            <a:off x="431800" y="2209800"/>
            <a:ext cx="3251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C60BE-CA88-3ED5-79F9-9C4634092E8C}"/>
              </a:ext>
            </a:extLst>
          </p:cNvPr>
          <p:cNvSpPr txBox="1"/>
          <p:nvPr/>
        </p:nvSpPr>
        <p:spPr>
          <a:xfrm>
            <a:off x="533400" y="2273300"/>
            <a:ext cx="3073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Capture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CameraX / Camera2 RAW; card found by ArUco markers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60964A-5DDA-83B4-1A88-C59E322B4EEE}"/>
              </a:ext>
            </a:extLst>
          </p:cNvPr>
          <p:cNvSpPr/>
          <p:nvPr/>
        </p:nvSpPr>
        <p:spPr>
          <a:xfrm>
            <a:off x="431800" y="2794000"/>
            <a:ext cx="3251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6F0DF0-3DF7-70C3-CBD3-1DC6781100B4}"/>
              </a:ext>
            </a:extLst>
          </p:cNvPr>
          <p:cNvSpPr txBox="1"/>
          <p:nvPr/>
        </p:nvSpPr>
        <p:spPr>
          <a:xfrm>
            <a:off x="533400" y="2857500"/>
            <a:ext cx="3073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Colour engine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card correction, blank well, colour bands (in prototype)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A3D926-171C-CF5E-86C4-E394CEE18E63}"/>
              </a:ext>
            </a:extLst>
          </p:cNvPr>
          <p:cNvSpPr/>
          <p:nvPr/>
        </p:nvSpPr>
        <p:spPr>
          <a:xfrm>
            <a:off x="431800" y="3378200"/>
            <a:ext cx="3251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0A0CE5-97AF-A482-CE44-088D0E6F2FA1}"/>
              </a:ext>
            </a:extLst>
          </p:cNvPr>
          <p:cNvSpPr txBox="1"/>
          <p:nvPr/>
        </p:nvSpPr>
        <p:spPr>
          <a:xfrm>
            <a:off x="533400" y="3441700"/>
            <a:ext cx="3073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Record core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ECDSA P-256 + SHA-256 chain; key in StrongBox/TEE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AD4CD6-D018-F67E-4C1C-050E5E57B83E}"/>
              </a:ext>
            </a:extLst>
          </p:cNvPr>
          <p:cNvSpPr/>
          <p:nvPr/>
        </p:nvSpPr>
        <p:spPr>
          <a:xfrm>
            <a:off x="431800" y="3962400"/>
            <a:ext cx="3251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D1BE6E-588D-7390-BD5A-6C49C0D51106}"/>
              </a:ext>
            </a:extLst>
          </p:cNvPr>
          <p:cNvSpPr txBox="1"/>
          <p:nvPr/>
        </p:nvSpPr>
        <p:spPr>
          <a:xfrm>
            <a:off x="533400" y="4025900"/>
            <a:ext cx="3073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Log + reports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searchable log (in prototype); memo, Form-1 (planned)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1F4C02-830A-A890-F73D-676804AA3727}"/>
              </a:ext>
            </a:extLst>
          </p:cNvPr>
          <p:cNvSpPr/>
          <p:nvPr/>
        </p:nvSpPr>
        <p:spPr>
          <a:xfrm>
            <a:off x="4368800" y="1219200"/>
            <a:ext cx="3251200" cy="34036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BE55F-7070-F178-3FD6-B7C6AAD634C5}"/>
              </a:ext>
            </a:extLst>
          </p:cNvPr>
          <p:cNvSpPr txBox="1"/>
          <p:nvPr/>
        </p:nvSpPr>
        <p:spPr>
          <a:xfrm>
            <a:off x="4521200" y="13208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THIN SERVER (design): NIC / MeitY cloud</a:t>
            </a:r>
            <a:endParaRPr lang="en-IN" sz="1100" b="1">
              <a:solidFill>
                <a:srgbClr val="1F3864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CC4016-62DC-7E97-4670-DF326A8FAD63}"/>
              </a:ext>
            </a:extLst>
          </p:cNvPr>
          <p:cNvSpPr/>
          <p:nvPr/>
        </p:nvSpPr>
        <p:spPr>
          <a:xfrm>
            <a:off x="4521200" y="1625600"/>
            <a:ext cx="29464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C1087B-1066-DEB3-9CB3-FEC116B5EE85}"/>
              </a:ext>
            </a:extLst>
          </p:cNvPr>
          <p:cNvSpPr txBox="1"/>
          <p:nvPr/>
        </p:nvSpPr>
        <p:spPr>
          <a:xfrm>
            <a:off x="4622800" y="1689100"/>
            <a:ext cx="276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Enrolment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595959"/>
                </a:solidFill>
                <a:latin typeface="Arial" panose="020B0604020202020204" pitchFamily="34" charset="0"/>
              </a:rPr>
              <a:t>attestation + supervisor DSC (checker prototyped)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167E2A-91D5-3ADE-C522-C51503150593}"/>
              </a:ext>
            </a:extLst>
          </p:cNvPr>
          <p:cNvSpPr/>
          <p:nvPr/>
        </p:nvSpPr>
        <p:spPr>
          <a:xfrm>
            <a:off x="4521200" y="2209800"/>
            <a:ext cx="29464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E15F68-F172-D146-E642-5A3F3B046B1B}"/>
              </a:ext>
            </a:extLst>
          </p:cNvPr>
          <p:cNvSpPr txBox="1"/>
          <p:nvPr/>
        </p:nvSpPr>
        <p:spPr>
          <a:xfrm>
            <a:off x="4622800" y="2273300"/>
            <a:ext cx="276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Sync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idempotent, fork/replay checks (protocol prototyped)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CAFFFB-96B8-E1DF-B482-959178DF3958}"/>
              </a:ext>
            </a:extLst>
          </p:cNvPr>
          <p:cNvSpPr/>
          <p:nvPr/>
        </p:nvSpPr>
        <p:spPr>
          <a:xfrm>
            <a:off x="4521200" y="2794000"/>
            <a:ext cx="29464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E8AF96-6220-BF34-9CEF-A951F8C1884A}"/>
              </a:ext>
            </a:extLst>
          </p:cNvPr>
          <p:cNvSpPr txBox="1"/>
          <p:nvPr/>
        </p:nvSpPr>
        <p:spPr>
          <a:xfrm>
            <a:off x="4622800" y="2857500"/>
            <a:ext cx="276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Storage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PostgreSQL + S3 write-once (prototype: SQLite)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9C9FBBE-E397-2EA7-78BE-D9D5DF9BEAF5}"/>
              </a:ext>
            </a:extLst>
          </p:cNvPr>
          <p:cNvSpPr/>
          <p:nvPr/>
        </p:nvSpPr>
        <p:spPr>
          <a:xfrm>
            <a:off x="4521200" y="3378200"/>
            <a:ext cx="29464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4DE85-3857-DD6E-B3A0-49CAF5DB2B92}"/>
              </a:ext>
            </a:extLst>
          </p:cNvPr>
          <p:cNvSpPr txBox="1"/>
          <p:nvPr/>
        </p:nvSpPr>
        <p:spPr>
          <a:xfrm>
            <a:off x="4622800" y="3441700"/>
            <a:ext cx="276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Search + lab 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case search (prototyped); lab-result link (planned)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73DED0-48EC-7CA2-0802-9150FC7F9189}"/>
              </a:ext>
            </a:extLst>
          </p:cNvPr>
          <p:cNvSpPr/>
          <p:nvPr/>
        </p:nvSpPr>
        <p:spPr>
          <a:xfrm>
            <a:off x="4521200" y="3962400"/>
            <a:ext cx="29464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1F4C1F-3574-2948-386E-4430247EBA65}"/>
              </a:ext>
            </a:extLst>
          </p:cNvPr>
          <p:cNvSpPr txBox="1"/>
          <p:nvPr/>
        </p:nvSpPr>
        <p:spPr>
          <a:xfrm>
            <a:off x="4622800" y="4025900"/>
            <a:ext cx="276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Never trusted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595959"/>
                </a:solidFill>
                <a:latin typeface="Arial" panose="020B0604020202020204" pitchFamily="34" charset="0"/>
              </a:rPr>
              <a:t>records verify without the server</a:t>
            </a:r>
            <a:endParaRPr lang="en-IN" sz="90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A5BBFE-732D-C1B5-C779-7EF3D575F368}"/>
              </a:ext>
            </a:extLst>
          </p:cNvPr>
          <p:cNvCxnSpPr/>
          <p:nvPr/>
        </p:nvCxnSpPr>
        <p:spPr>
          <a:xfrm>
            <a:off x="3860800" y="2921000"/>
            <a:ext cx="482600" cy="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8276F54-65D9-DF0B-6A81-9CF018D4728F}"/>
              </a:ext>
            </a:extLst>
          </p:cNvPr>
          <p:cNvSpPr txBox="1"/>
          <p:nvPr/>
        </p:nvSpPr>
        <p:spPr>
          <a:xfrm>
            <a:off x="3784600" y="25908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750" i="1">
                <a:solidFill>
                  <a:srgbClr val="595959"/>
                </a:solidFill>
                <a:latin typeface="Arial" panose="020B0604020202020204" pitchFamily="34" charset="0"/>
              </a:rPr>
              <a:t>sync when online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26CA5A5-2CAE-81C3-0093-36573AC1D2E6}"/>
              </a:ext>
            </a:extLst>
          </p:cNvPr>
          <p:cNvSpPr/>
          <p:nvPr/>
        </p:nvSpPr>
        <p:spPr>
          <a:xfrm>
            <a:off x="279400" y="4749800"/>
            <a:ext cx="734060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B6811D-3F72-33C0-CDE3-A0044373C25E}"/>
              </a:ext>
            </a:extLst>
          </p:cNvPr>
          <p:cNvSpPr txBox="1"/>
          <p:nvPr/>
        </p:nvSpPr>
        <p:spPr>
          <a:xfrm>
            <a:off x="431800" y="48387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1F3864"/>
                </a:solidFill>
                <a:latin typeface="Arial" panose="020B0604020202020204" pitchFamily="34" charset="0"/>
              </a:rPr>
              <a:t>Trust without trusting us: </a:t>
            </a: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NCB signs the supervisor list; a supervisor's key (a Class 3 DSC in production) binds officer + phone + key; the phone signs and chains every test; every phone's chain head goes into the witness-signed panchnama. Our offline verifier checks all of it (prototype uses test keys).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056D584-5AE0-39D6-4F6E-5E29876223DB}"/>
              </a:ext>
            </a:extLst>
          </p:cNvPr>
          <p:cNvSpPr/>
          <p:nvPr/>
        </p:nvSpPr>
        <p:spPr>
          <a:xfrm>
            <a:off x="6756400" y="4838700"/>
            <a:ext cx="787400" cy="1397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PROVEN IN CODE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A94A97-8A1B-8B7F-9FED-0A09E850C8DC}"/>
              </a:ext>
            </a:extLst>
          </p:cNvPr>
          <p:cNvSpPr txBox="1"/>
          <p:nvPr/>
        </p:nvSpPr>
        <p:spPr>
          <a:xfrm>
            <a:off x="279400" y="5588000"/>
            <a:ext cx="734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1F3864"/>
                </a:solidFill>
                <a:latin typeface="Arial" panose="020B0604020202020204" pitchFamily="34" charset="0"/>
              </a:rPr>
              <a:t>Planned stack: </a:t>
            </a:r>
            <a:r>
              <a:rPr lang="en-IN" sz="950">
                <a:solidFill>
                  <a:srgbClr val="262626"/>
                </a:solidFill>
                <a:latin typeface="Arial" panose="020B0604020202020204" pitchFamily="34" charset="0"/>
              </a:rPr>
              <a:t>Kotlin · CameraX/Camera2 · OpenCV · Android Keystore + attestation · SQLCipher · RFC 8785 JSON · ECDSA P-256 · Spring Boot · PostgreSQL · S3. Prototype today: Python, OpenCV, SQLite.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1F3864"/>
                </a:solidFill>
                <a:latin typeface="Arial" panose="020B0604020202020204" pitchFamily="34" charset="0"/>
              </a:rPr>
              <a:t>Deliberately not used: </a:t>
            </a: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blockchain, cloud AI, a neural-network "drug detector" (a colour test cannot identify a drug; the court must be able to re-run the reading)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A262DAA-8197-2D6A-5E1D-FEB0F915F1C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1244600"/>
            <a:ext cx="4013200" cy="2806700"/>
          </a:xfrm>
          <a:prstGeom prst="rect">
            <a:avLst/>
          </a:prstGeom>
          <a:ln w="9525">
            <a:solidFill>
              <a:srgbClr val="B4C7E7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0938612-B6CA-E3A9-4275-DA4FFB839E9A}"/>
              </a:ext>
            </a:extLst>
          </p:cNvPr>
          <p:cNvSpPr txBox="1"/>
          <p:nvPr/>
        </p:nvSpPr>
        <p:spPr>
          <a:xfrm>
            <a:off x="7874000" y="4089400"/>
            <a:ext cx="401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 i="1">
                <a:solidFill>
                  <a:srgbClr val="595959"/>
                </a:solidFill>
                <a:latin typeface="Arial" panose="020B0604020202020204" pitchFamily="34" charset="0"/>
              </a:rPr>
              <a:t>Reference card v2 (printable, 150 x 105 mm). Tested on the print file; photos of real prints on real phones come next.</a:t>
            </a:r>
            <a:endParaRPr lang="en-IN" sz="850" i="1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F2A993-4AC0-E1C5-D9FD-427CFBA879D5}"/>
              </a:ext>
            </a:extLst>
          </p:cNvPr>
          <p:cNvSpPr txBox="1"/>
          <p:nvPr/>
        </p:nvSpPr>
        <p:spPr>
          <a:xfrm>
            <a:off x="7874000" y="4521200"/>
            <a:ext cx="401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BUILT SO FAR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9C6B30-4397-C5FF-1E4C-AEB1D52098B6}"/>
              </a:ext>
            </a:extLst>
          </p:cNvPr>
          <p:cNvSpPr/>
          <p:nvPr/>
        </p:nvSpPr>
        <p:spPr>
          <a:xfrm>
            <a:off x="7874000" y="4800600"/>
            <a:ext cx="787400" cy="1397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PROVEN IN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CFDF3A-76D5-A8B1-1E17-357270FA9513}"/>
              </a:ext>
            </a:extLst>
          </p:cNvPr>
          <p:cNvSpPr txBox="1"/>
          <p:nvPr/>
        </p:nvSpPr>
        <p:spPr>
          <a:xfrm>
            <a:off x="8737600" y="47752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Python reference prototype + one-command demo, 47 tests: github.com/Harshith029/fieldtest-recorder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64E24C1-3FD9-A9BA-F895-64F9EBDE80C6}"/>
              </a:ext>
            </a:extLst>
          </p:cNvPr>
          <p:cNvSpPr/>
          <p:nvPr/>
        </p:nvSpPr>
        <p:spPr>
          <a:xfrm>
            <a:off x="7874000" y="5283200"/>
            <a:ext cx="609600" cy="139700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SIMULATED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9A12C7-7EDD-2D29-94C5-AA7C0A10C19E}"/>
              </a:ext>
            </a:extLst>
          </p:cNvPr>
          <p:cNvSpPr txBox="1"/>
          <p:nvPr/>
        </p:nvSpPr>
        <p:spPr>
          <a:xfrm>
            <a:off x="8737600" y="5257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Colour, liveness, night-light and amount experiments on simulated photos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76D007D-C0C5-9668-E766-1624C3BC4909}"/>
              </a:ext>
            </a:extLst>
          </p:cNvPr>
          <p:cNvSpPr/>
          <p:nvPr/>
        </p:nvSpPr>
        <p:spPr>
          <a:xfrm>
            <a:off x="7874000" y="5765800"/>
            <a:ext cx="355600" cy="13970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NEXT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105F91-AAB1-35F2-740A-14A25972F8BE}"/>
              </a:ext>
            </a:extLst>
          </p:cNvPr>
          <p:cNvSpPr txBox="1"/>
          <p:nvPr/>
        </p:nvSpPr>
        <p:spPr>
          <a:xfrm>
            <a:off x="8737600" y="57404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Android app; real-phone and real-reaction validation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101600"/>
            <a:ext cx="7937500" cy="787400"/>
          </a:xfrm>
        </p:spPr>
        <p:txBody>
          <a:bodyPr/>
          <a:lstStyle/>
          <a:p>
            <a:pPr eaLnBrk="1" hangingPunct="1"/>
            <a:r>
              <a:rPr lang="en-US" sz="30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[Team Name]</a:t>
            </a:r>
            <a:endParaRPr lang="en-IN" sz="1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F84EA6-4107-E65B-1949-DE5857E81A7D}"/>
              </a:ext>
            </a:extLst>
          </p:cNvPr>
          <p:cNvSpPr/>
          <p:nvPr/>
        </p:nvSpPr>
        <p:spPr>
          <a:xfrm>
            <a:off x="279400" y="1219200"/>
            <a:ext cx="2794000" cy="1219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8ADCA-1190-98F3-AE4E-E97DF899B3FC}"/>
              </a:ext>
            </a:extLst>
          </p:cNvPr>
          <p:cNvSpPr txBox="1"/>
          <p:nvPr/>
        </p:nvSpPr>
        <p:spPr>
          <a:xfrm>
            <a:off x="406400" y="1295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>
                <a:solidFill>
                  <a:srgbClr val="0070C0"/>
                </a:solidFill>
                <a:latin typeface="Arial" panose="020B0604020202020204" pitchFamily="34" charset="0"/>
              </a:rPr>
              <a:t>18/18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F55FB-3F12-32D6-E38A-63543516A5AB}"/>
              </a:ext>
            </a:extLst>
          </p:cNvPr>
          <p:cNvSpPr txBox="1"/>
          <p:nvPr/>
        </p:nvSpPr>
        <p:spPr>
          <a:xfrm>
            <a:off x="406400" y="177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of our tampering attacks caught by the verifier, incl. insider-admin forgery and deleted records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5F90B6-02FD-5700-F12C-9A6B29740D1C}"/>
              </a:ext>
            </a:extLst>
          </p:cNvPr>
          <p:cNvSpPr/>
          <p:nvPr/>
        </p:nvSpPr>
        <p:spPr>
          <a:xfrm>
            <a:off x="2159000" y="1295400"/>
            <a:ext cx="787400" cy="1397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PROVEN IN CODE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7CEB56-447E-F0A4-ED41-7670D8648CC4}"/>
              </a:ext>
            </a:extLst>
          </p:cNvPr>
          <p:cNvSpPr/>
          <p:nvPr/>
        </p:nvSpPr>
        <p:spPr>
          <a:xfrm>
            <a:off x="3200400" y="1219200"/>
            <a:ext cx="2794000" cy="1219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DD666-7551-1921-4F6C-0A48F044C193}"/>
              </a:ext>
            </a:extLst>
          </p:cNvPr>
          <p:cNvSpPr txBox="1"/>
          <p:nvPr/>
        </p:nvSpPr>
        <p:spPr>
          <a:xfrm>
            <a:off x="3327400" y="1295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>
                <a:solidFill>
                  <a:srgbClr val="0070C0"/>
                </a:solidFill>
                <a:latin typeface="Arial" panose="020B0604020202020204" pitchFamily="34" charset="0"/>
              </a:rPr>
              <a:t>15/15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3BAB0-B7DC-EB30-2E16-8AA273136322}"/>
              </a:ext>
            </a:extLst>
          </p:cNvPr>
          <p:cNvSpPr txBox="1"/>
          <p:nvPr/>
        </p:nvSpPr>
        <p:spPr>
          <a:xfrm>
            <a:off x="3327400" y="177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sync and failure scenarios handled by the reference sync protocol, incl. an old-backup restore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907FD4-5245-C9D2-3EB6-204F2FFFD921}"/>
              </a:ext>
            </a:extLst>
          </p:cNvPr>
          <p:cNvSpPr/>
          <p:nvPr/>
        </p:nvSpPr>
        <p:spPr>
          <a:xfrm>
            <a:off x="5080000" y="1295400"/>
            <a:ext cx="787400" cy="1397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PROVEN IN CODE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C6A85D-B99A-FE35-4DD2-F4834E72A37B}"/>
              </a:ext>
            </a:extLst>
          </p:cNvPr>
          <p:cNvSpPr/>
          <p:nvPr/>
        </p:nvSpPr>
        <p:spPr>
          <a:xfrm>
            <a:off x="6121400" y="1219200"/>
            <a:ext cx="2794000" cy="1219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755C2-8CFC-4450-009E-DC2AA037F7EC}"/>
              </a:ext>
            </a:extLst>
          </p:cNvPr>
          <p:cNvSpPr txBox="1"/>
          <p:nvPr/>
        </p:nvSpPr>
        <p:spPr>
          <a:xfrm>
            <a:off x="6248400" y="1295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>
                <a:solidFill>
                  <a:srgbClr val="0070C0"/>
                </a:solidFill>
                <a:latin typeface="Arial" panose="020B0604020202020204" pitchFamily="34" charset="0"/>
              </a:rPr>
              <a:t>11.7% → 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CD674F-A7A6-DFAF-A554-D2BC3EB11624}"/>
              </a:ext>
            </a:extLst>
          </p:cNvPr>
          <p:cNvSpPr txBox="1"/>
          <p:nvPr/>
        </p:nvSpPr>
        <p:spPr>
          <a:xfrm>
            <a:off x="6248400" y="177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false positives as sample amount varies: our first single-point rule vs colour bands (published US colours)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DCFEBC-D3A1-964E-FFA2-7190E5CC70B5}"/>
              </a:ext>
            </a:extLst>
          </p:cNvPr>
          <p:cNvSpPr/>
          <p:nvPr/>
        </p:nvSpPr>
        <p:spPr>
          <a:xfrm>
            <a:off x="8178800" y="1295400"/>
            <a:ext cx="609600" cy="139700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SIMULATED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63642E-6566-6894-BC29-8A54FAB2A201}"/>
              </a:ext>
            </a:extLst>
          </p:cNvPr>
          <p:cNvSpPr/>
          <p:nvPr/>
        </p:nvSpPr>
        <p:spPr>
          <a:xfrm>
            <a:off x="9042400" y="1219200"/>
            <a:ext cx="2794000" cy="1219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B7F10-4E08-ABAA-719E-3619856B622D}"/>
              </a:ext>
            </a:extLst>
          </p:cNvPr>
          <p:cNvSpPr txBox="1"/>
          <p:nvPr/>
        </p:nvSpPr>
        <p:spPr>
          <a:xfrm>
            <a:off x="9169400" y="1295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>
                <a:solidFill>
                  <a:srgbClr val="0070C0"/>
                </a:solidFill>
                <a:latin typeface="Arial" panose="020B0604020202020204" pitchFamily="34" charset="0"/>
              </a:rPr>
              <a:t>≤ 1%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ABAC3D-7A78-8228-B9C7-BF5ACE45A12B}"/>
              </a:ext>
            </a:extLst>
          </p:cNvPr>
          <p:cNvSpPr txBox="1"/>
          <p:nvPr/>
        </p:nvSpPr>
        <p:spPr>
          <a:xfrm>
            <a:off x="9169400" y="177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false-positive target for real-kit validation: 1,296 captures, 3 sample amounts, 95% confidence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ECCE67-FC73-0618-DCC8-B838C6C83FAF}"/>
              </a:ext>
            </a:extLst>
          </p:cNvPr>
          <p:cNvSpPr/>
          <p:nvPr/>
        </p:nvSpPr>
        <p:spPr>
          <a:xfrm>
            <a:off x="11353800" y="1295400"/>
            <a:ext cx="355600" cy="13970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650" b="1">
                <a:solidFill>
                  <a:srgbClr val="FFFFFF"/>
                </a:solidFill>
                <a:latin typeface="Arial" panose="020B0604020202020204" pitchFamily="34" charset="0"/>
              </a:rPr>
              <a:t>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A40919-FC8E-5CE4-2675-FFC8BE1CAA47}"/>
              </a:ext>
            </a:extLst>
          </p:cNvPr>
          <p:cNvSpPr txBox="1"/>
          <p:nvPr/>
        </p:nvSpPr>
        <p:spPr>
          <a:xfrm>
            <a:off x="279400" y="2590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CHALLENGES AND HOW WE HANDLE THEM</a:t>
            </a:r>
            <a:endParaRPr lang="en-IN" sz="1100" b="1">
              <a:solidFill>
                <a:srgbClr val="1F386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14C0EE7-B1FA-30BF-ED7F-D6B5F0AB9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664214"/>
              </p:ext>
            </p:extLst>
          </p:nvPr>
        </p:nvGraphicFramePr>
        <p:xfrm>
          <a:off x="279400" y="2819400"/>
          <a:ext cx="7620000" cy="3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824592745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118498344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Challenge / risk</a:t>
                      </a:r>
                    </a:p>
                  </a:txBody>
                  <a:tcPr marL="76200" marR="76200" marT="76200" marB="762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76200" marR="76200" marT="76200" marB="762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33675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Real reaction colours differ from the printed chart</a:t>
                      </a:r>
                      <a:endParaRPr lang="en-IN" sz="100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Validation by NCB/CFSL chemists under their licences: 1,296 captures at 3 sample amounts; we never handle narcotics</a:t>
                      </a:r>
                      <a:endParaRPr lang="en-IN" sz="1000" b="0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7562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Phones and light vary; glare; night raids</a:t>
                      </a:r>
                      <a:endParaRPr lang="en-IN" sz="100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Reference card + RAW capture and a bad-light gate (prototype); say "inconclusive" rather than guess; flash/no-flash night mode (simulated, not yet integrated)</a:t>
                      </a:r>
                      <a:endParaRPr lang="en-IN" sz="1000" b="0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0045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00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Staged or swapped sample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Planned: capture from before the reagent drop, liveness check (simulated so far), package label in frame, link to the s.105 video</a:t>
                      </a:r>
                      <a:endParaRPr lang="en-IN" sz="1000" b="0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38687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Rooted phone, insider, deleted records</a:t>
                      </a:r>
                      <a:endParaRPr lang="en-IN" sz="100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000" b="0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Supervisor-signed binding, panchnama anchor, untrusted server (prototype); hardware keys + attestation (designed; checker prototyped)</a:t>
                      </a:r>
                    </a:p>
                  </a:txBody>
                  <a:tcPr marL="76200" marR="76200" marT="76200" marB="76200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1153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Access to SIMS / e-Sakshya not confirmed</a:t>
                      </a:r>
                      <a:endParaRPr lang="en-IN" sz="100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File exports first; the engine is designed as an SDK that e-Sakshya could embed</a:t>
                      </a:r>
                      <a:endParaRPr lang="en-IN" sz="1000" b="0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753108"/>
                  </a:ext>
                </a:extLst>
              </a:tr>
            </a:tbl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E829A5-10A4-87FE-FF31-66B1FAE7CC83}"/>
              </a:ext>
            </a:extLst>
          </p:cNvPr>
          <p:cNvSpPr/>
          <p:nvPr/>
        </p:nvSpPr>
        <p:spPr>
          <a:xfrm>
            <a:off x="8102600" y="2590800"/>
            <a:ext cx="3810000" cy="3632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D5B817-9A91-94EB-CC53-F989B06496E1}"/>
              </a:ext>
            </a:extLst>
          </p:cNvPr>
          <p:cNvSpPr txBox="1"/>
          <p:nvPr/>
        </p:nvSpPr>
        <p:spPr>
          <a:xfrm>
            <a:off x="8255000" y="2692400"/>
            <a:ext cx="353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WHY IT IS VIABLE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35EF74-4CC0-7BBF-0614-94984987144B}"/>
              </a:ext>
            </a:extLst>
          </p:cNvPr>
          <p:cNvSpPr txBox="1"/>
          <p:nvPr/>
        </p:nvSpPr>
        <p:spPr>
          <a:xfrm>
            <a:off x="8255000" y="2971800"/>
            <a:ext cx="353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90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Existing kit, existing phones: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NCB already supplies the kit free; the additions are a printed colour card per kit and a few reagent drops for the blank well.</a:t>
            </a:r>
          </a:p>
          <a:p>
            <a:pPr marL="127000" indent="-127000">
              <a:spcBef>
                <a:spcPts val="0"/>
              </a:spcBef>
              <a:spcAft>
                <a:spcPts val="90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Small infrastructure (estimate):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one app server pair, PostgreSQL, 1–3 TB a year of storage on NIC or MeitY-empanelled cloud.</a:t>
            </a:r>
          </a:p>
          <a:p>
            <a:pPr marL="127000" indent="-127000">
              <a:spcBef>
                <a:spcPts val="0"/>
              </a:spcBef>
              <a:spcAft>
                <a:spcPts val="90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Government-owned by design: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NCB would hold the signing keys, the colour standard and the code; open formats, no licences.</a:t>
            </a:r>
          </a:p>
          <a:p>
            <a:pPr marL="127000" indent="-127000">
              <a:spcBef>
                <a:spcPts val="0"/>
              </a:spcBef>
              <a:spcAft>
                <a:spcPts val="900"/>
              </a:spcAft>
              <a:buClr>
                <a:srgbClr val="0070C0"/>
              </a:buClr>
              <a:buFont typeface="+mj-lt"/>
              <a:buChar char="•"/>
            </a:pP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Pass criteria set in advance: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false positives at most 1%, proven at 95% confidence (at least 299 negative controls); "inconclusive" at most 15%.</a:t>
            </a:r>
          </a:p>
          <a:p>
            <a:pPr marL="127000" indent="-12700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Clear status: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every number is labelled proven in code, simulated or next. No real phone photo or real reaction has been tested yet; that is the next stage.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101600"/>
            <a:ext cx="7937500" cy="787400"/>
          </a:xfrm>
        </p:spPr>
        <p:txBody>
          <a:bodyPr/>
          <a:lstStyle/>
          <a:p>
            <a:pPr eaLnBrk="1" hangingPunct="1"/>
            <a:r>
              <a:rPr lang="en-US" sz="32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[Team Name]</a:t>
            </a:r>
            <a:endParaRPr lang="en-IN" sz="1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B364C-E3B5-28A9-A618-1E2C8CFB44AA}"/>
              </a:ext>
            </a:extLst>
          </p:cNvPr>
          <p:cNvSpPr txBox="1"/>
          <p:nvPr/>
        </p:nvSpPr>
        <p:spPr>
          <a:xfrm>
            <a:off x="279400" y="1244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WHO BENEFITS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694D9D-B1D9-4C2A-60CA-1858DEA03608}"/>
              </a:ext>
            </a:extLst>
          </p:cNvPr>
          <p:cNvSpPr/>
          <p:nvPr/>
        </p:nvSpPr>
        <p:spPr>
          <a:xfrm>
            <a:off x="279400" y="1524000"/>
            <a:ext cx="457200" cy="457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FFFFFF"/>
                </a:solidFill>
                <a:latin typeface="Arial" panose="020B0604020202020204" pitchFamily="34" charset="0"/>
              </a:rPr>
              <a:t>SO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3E0B7-DB40-6C9E-1BD2-A2C0E1C0D857}"/>
              </a:ext>
            </a:extLst>
          </p:cNvPr>
          <p:cNvSpPr txBox="1"/>
          <p:nvPr/>
        </p:nvSpPr>
        <p:spPr>
          <a:xfrm>
            <a:off x="863600" y="1498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Seizing officer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A guided test and a signed record that shows good-faith action; planned: Field Test Memo and Form-1 item 5 filled in.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85240F-C27A-B169-6AD1-CBA0F36562D6}"/>
              </a:ext>
            </a:extLst>
          </p:cNvPr>
          <p:cNvSpPr/>
          <p:nvPr/>
        </p:nvSpPr>
        <p:spPr>
          <a:xfrm>
            <a:off x="279400" y="2336800"/>
            <a:ext cx="457200" cy="457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FFFFFF"/>
                </a:solidFill>
                <a:latin typeface="Arial" panose="020B0604020202020204" pitchFamily="34" charset="0"/>
              </a:rPr>
              <a:t>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18008-E663-7234-4109-FD7CF4B511E4}"/>
              </a:ext>
            </a:extLst>
          </p:cNvPr>
          <p:cNvSpPr txBox="1"/>
          <p:nvPr/>
        </p:nvSpPr>
        <p:spPr>
          <a:xfrm>
            <a:off x="863600" y="2311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Investigating officer, prosecutor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Checkable records for remand and bail; planned: a Rule 10(2) grouping check and the lab result linked back.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3F6C4D-8E45-F635-2031-41D4D2CE371F}"/>
              </a:ext>
            </a:extLst>
          </p:cNvPr>
          <p:cNvSpPr/>
          <p:nvPr/>
        </p:nvSpPr>
        <p:spPr>
          <a:xfrm>
            <a:off x="279400" y="3149600"/>
            <a:ext cx="457200" cy="457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FFFFFF"/>
                </a:solidFill>
                <a:latin typeface="Arial" panose="020B0604020202020204" pitchFamily="34" charset="0"/>
              </a:rPr>
              <a:t>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33137-87A7-EE21-869C-1AC8EA577539}"/>
              </a:ext>
            </a:extLst>
          </p:cNvPr>
          <p:cNvSpPr txBox="1"/>
          <p:nvPr/>
        </p:nvSpPr>
        <p:spPr>
          <a:xfrm>
            <a:off x="863600" y="3124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Courts, defence, the accused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Any expert can re-check the record offline; the quantity category is flagged as uncertain until the lab confirms.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E78B27-2974-4966-F725-F64C88497155}"/>
              </a:ext>
            </a:extLst>
          </p:cNvPr>
          <p:cNvSpPr/>
          <p:nvPr/>
        </p:nvSpPr>
        <p:spPr>
          <a:xfrm>
            <a:off x="279400" y="3962400"/>
            <a:ext cx="457200" cy="4572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1050" b="1">
                <a:solidFill>
                  <a:srgbClr val="FFFFFF"/>
                </a:solidFill>
                <a:latin typeface="Arial" panose="020B0604020202020204" pitchFamily="34" charset="0"/>
              </a:rPr>
              <a:t>HQ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4F864-3C3A-1090-A05B-661E4460EA2D}"/>
              </a:ext>
            </a:extLst>
          </p:cNvPr>
          <p:cNvSpPr txBox="1"/>
          <p:nvPr/>
        </p:nvSpPr>
        <p:spPr>
          <a:xfrm>
            <a:off x="863600" y="39370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IN" sz="1100" b="1">
                <a:solidFill>
                  <a:srgbClr val="1F3864"/>
                </a:solidFill>
                <a:latin typeface="Arial" panose="020B0604020202020204" pitchFamily="34" charset="0"/>
              </a:rPr>
              <a:t>NCB headquarters and labs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Planned: field-vs-lab accuracy per kit batch and per test, from lab reports the IO already receives.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2D117-773F-F11D-ABDB-67A1FCF25C76}"/>
              </a:ext>
            </a:extLst>
          </p:cNvPr>
          <p:cNvSpPr txBox="1"/>
          <p:nvPr/>
        </p:nvSpPr>
        <p:spPr>
          <a:xfrm>
            <a:off x="5842000" y="1244600"/>
            <a:ext cx="607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WHAT CHANGES FOR ONE SEIZURE</a:t>
            </a:r>
            <a:endParaRPr lang="en-IN" sz="1100" b="1">
              <a:solidFill>
                <a:srgbClr val="1F386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95ED0DF-34FF-51FD-4069-34FEA5D22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735074"/>
              </p:ext>
            </p:extLst>
          </p:nvPr>
        </p:nvGraphicFramePr>
        <p:xfrm>
          <a:off x="5842000" y="1498600"/>
          <a:ext cx="6070600" cy="3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56771364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3832311499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Today (paper)</a:t>
                      </a:r>
                    </a:p>
                  </a:txBody>
                  <a:tcPr marL="63500" marR="63500" marT="38100" marB="38100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With FieldTest Recorder</a:t>
                      </a:r>
                    </a:p>
                  </a:txBody>
                  <a:tcPr marL="63500" marR="63500" marT="38100" marB="381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9376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0" i="0">
                          <a:solidFill>
                            <a:srgbClr val="595959"/>
                          </a:solidFill>
                          <a:latin typeface="Arial" panose="020B0604020202020204" pitchFamily="34" charset="0"/>
                        </a:rPr>
                        <a:t>Colour judged by eye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Measured against a signed colour standard</a:t>
                      </a:r>
                      <a:endParaRPr lang="en-IN" sz="95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70422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595959"/>
                          </a:solidFill>
                          <a:latin typeface="Arial" panose="020B0604020202020204" pitchFamily="34" charset="0"/>
                        </a:rPr>
                        <a:t>"Dark brown" written in the panchnama</a:t>
                      </a:r>
                      <a:endParaRPr lang="en-IN" sz="950" b="0" i="0">
                        <a:solidFill>
                          <a:srgbClr val="59595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Photo + reading + every drug on the kit chart the colour fits</a:t>
                      </a:r>
                      <a:endParaRPr lang="en-IN" sz="95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53722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595959"/>
                          </a:solidFill>
                          <a:latin typeface="Arial" panose="020B0604020202020204" pitchFamily="34" charset="0"/>
                        </a:rPr>
                        <a:t>No proof of time or place</a:t>
                      </a:r>
                      <a:endParaRPr lang="en-IN" sz="950" b="0" i="0">
                        <a:solidFill>
                          <a:srgbClr val="59595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Signed time, GNSS time, GPS and officer</a:t>
                      </a:r>
                      <a:endParaRPr lang="en-IN" sz="95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25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595959"/>
                          </a:solidFill>
                          <a:latin typeface="Arial" panose="020B0604020202020204" pitchFamily="34" charset="0"/>
                        </a:rPr>
                        <a:t>Records can be rewritten later</a:t>
                      </a:r>
                      <a:endParaRPr lang="en-IN" sz="950" b="0" i="0">
                        <a:solidFill>
                          <a:srgbClr val="59595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Deletions and re-runs are detectable</a:t>
                      </a:r>
                      <a:endParaRPr lang="en-IN" sz="95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217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0" i="0">
                          <a:solidFill>
                            <a:srgbClr val="595959"/>
                          </a:solidFill>
                          <a:latin typeface="Arial" panose="020B0604020202020204" pitchFamily="34" charset="0"/>
                        </a:rPr>
                        <a:t>Quantity category guessed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Flagged when it can't be told in the field</a:t>
                      </a:r>
                      <a:endParaRPr lang="en-IN" sz="95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829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950" b="0" i="0">
                          <a:solidFill>
                            <a:srgbClr val="595959"/>
                          </a:solidFill>
                          <a:latin typeface="Arial" panose="020B0604020202020204" pitchFamily="34" charset="0"/>
                        </a:rPr>
                        <a:t>No kit accuracy data</a:t>
                      </a:r>
                    </a:p>
                  </a:txBody>
                  <a:tcPr marL="63500" marR="63500" marT="38100" marB="381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62626"/>
                          </a:solidFill>
                          <a:latin typeface="Arial" panose="020B0604020202020204" pitchFamily="34" charset="0"/>
                        </a:rPr>
                        <a:t>Field result vs lab result, per kit batch (planned)</a:t>
                      </a:r>
                      <a:endParaRPr lang="en-IN" sz="950" b="1" i="0">
                        <a:solidFill>
                          <a:srgbClr val="262626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38100" marB="38100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24154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6DF5E2A-5703-F00E-E703-D565BD9E135C}"/>
              </a:ext>
            </a:extLst>
          </p:cNvPr>
          <p:cNvSpPr/>
          <p:nvPr/>
        </p:nvSpPr>
        <p:spPr>
          <a:xfrm>
            <a:off x="5842000" y="3606800"/>
            <a:ext cx="60706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4C7E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366C6-9F4F-F03B-42B0-7A97F17FB5E2}"/>
              </a:ext>
            </a:extLst>
          </p:cNvPr>
          <p:cNvSpPr txBox="1"/>
          <p:nvPr/>
        </p:nvSpPr>
        <p:spPr>
          <a:xfrm>
            <a:off x="5994400" y="3708400"/>
            <a:ext cx="5765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b="1">
                <a:solidFill>
                  <a:srgbClr val="1F3864"/>
                </a:solidFill>
                <a:latin typeface="Arial" panose="020B0604020202020204" pitchFamily="34" charset="0"/>
              </a:rPr>
              <a:t>Why a field report must not overstate: a real case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50" b="1">
                <a:solidFill>
                  <a:srgbClr val="262626"/>
                </a:solidFill>
                <a:latin typeface="Arial" panose="020B0604020202020204" pitchFamily="34" charset="0"/>
              </a:rPr>
              <a:t>Anuraj v. State of Kerala (2024): </a:t>
            </a:r>
            <a:r>
              <a:rPr lang="en-US" sz="950">
                <a:solidFill>
                  <a:srgbClr val="262626"/>
                </a:solidFill>
                <a:latin typeface="Arial" panose="020B0604020202020204" pitchFamily="34" charset="0"/>
              </a:rPr>
              <a:t>police alleged commercial-quantity MDMA; the lab found methamphetamine in intermediate quantity (MDMA 0.5 g / 10 g vs methamphetamine 2 g / 50 g). Our record states only what the kit's colour supports, lists every drug on the kit chart that the colour fits, and warns when they fall under different NDPS thresholds.</a:t>
            </a:r>
            <a:endParaRPr lang="en-IN" sz="9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E04EBD-27C3-EF5F-9A29-BB02E545341C}"/>
              </a:ext>
            </a:extLst>
          </p:cNvPr>
          <p:cNvSpPr/>
          <p:nvPr/>
        </p:nvSpPr>
        <p:spPr>
          <a:xfrm>
            <a:off x="279400" y="4826000"/>
            <a:ext cx="11633200" cy="13716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AEEE5-1263-CD90-CA28-3A1384860DA8}"/>
              </a:ext>
            </a:extLst>
          </p:cNvPr>
          <p:cNvSpPr txBox="1"/>
          <p:nvPr/>
        </p:nvSpPr>
        <p:spPr>
          <a:xfrm>
            <a:off x="431800" y="5003800"/>
            <a:ext cx="271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Social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Fairer remand and bail decisions; fewer cases lost on procedure; honest officers protected.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0900E-FB18-D158-F5D4-8BD351C1D185}"/>
              </a:ext>
            </a:extLst>
          </p:cNvPr>
          <p:cNvSpPr txBox="1"/>
          <p:nvPr/>
        </p:nvSpPr>
        <p:spPr>
          <a:xfrm>
            <a:off x="3327400" y="5003800"/>
            <a:ext cx="271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Economic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No new hardware; reuses the free NCB kit and officers' phones; small hosting cost.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9C54EA-296F-C8B6-FAD7-EFB56F33B9DC}"/>
              </a:ext>
            </a:extLst>
          </p:cNvPr>
          <p:cNvSpPr txBox="1"/>
          <p:nvPr/>
        </p:nvSpPr>
        <p:spPr>
          <a:xfrm>
            <a:off x="6223000" y="5003800"/>
            <a:ext cx="271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Environmental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Paperless records; the only extra consumables are a printed card per kit and blank-well reagent drops.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63C72-2EEB-A0D9-DFFF-900630CCD2D7}"/>
              </a:ext>
            </a:extLst>
          </p:cNvPr>
          <p:cNvSpPr txBox="1"/>
          <p:nvPr/>
        </p:nvSpPr>
        <p:spPr>
          <a:xfrm>
            <a:off x="9118600" y="5003800"/>
            <a:ext cx="271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Scale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1,15,236 NDPS cases in 2022 (MHA); each seized package can get a recorded field test.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101600"/>
            <a:ext cx="7937500" cy="787400"/>
          </a:xfrm>
        </p:spPr>
        <p:txBody>
          <a:bodyPr/>
          <a:lstStyle/>
          <a:p>
            <a:pPr eaLnBrk="1" hangingPunct="1"/>
            <a:r>
              <a:rPr lang="en-US" sz="30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  <a:endParaRPr lang="en-US" sz="3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[Team Name]</a:t>
            </a:r>
            <a:endParaRPr lang="en-IN" sz="14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449284-7CCE-CB43-1F3C-078CC196CC63}"/>
              </a:ext>
            </a:extLst>
          </p:cNvPr>
          <p:cNvSpPr txBox="1"/>
          <p:nvPr/>
        </p:nvSpPr>
        <p:spPr>
          <a:xfrm>
            <a:off x="279400" y="12700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[1] </a:t>
            </a: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SIH26231 problem statement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Narcotics Control Bureau, MHA; sih.gov.in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[2] </a:t>
            </a: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NCB Narcotic Drugs Detection Kit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NICFS, A Forensic Guide for Crime Investigators, ch. 8, Figs 8.12–8.16 (Tests A–E, flow charts)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[3] </a:t>
            </a: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NDPS (Seizure, Storage, Sampling and Disposal) Rules 2022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GSR 899(E): Rules 3, 5, 10(2), 13, 14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[4] </a:t>
            </a: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Sagar Parshuram Joshi v. State of Maharashtra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Bombay HC, 15 Jan 2021 (indiankanoon.org/doc/90970274)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[5] </a:t>
            </a: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Masibur Khan v. State</a:t>
            </a:r>
            <a:r>
              <a:rPr lang="en-IN" sz="1050">
                <a:solidFill>
                  <a:srgbClr val="595959"/>
                </a:solidFill>
                <a:latin typeface="Arial" panose="020B0604020202020204" pitchFamily="34" charset="0"/>
              </a:rPr>
              <a:t> — Delhi HC, 31 May 2023 (indiankanoon.org/doc/91398841)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[6] </a:t>
            </a: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Anuraj v. State of Kerala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Kerala HC, 2024: alleged MDMA found to be methamphetamine</a:t>
            </a:r>
            <a:endParaRPr lang="en-IN" sz="105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D9AB7-E5A8-D409-C502-77CBDE873D80}"/>
              </a:ext>
            </a:extLst>
          </p:cNvPr>
          <p:cNvSpPr txBox="1"/>
          <p:nvPr/>
        </p:nvSpPr>
        <p:spPr>
          <a:xfrm>
            <a:off x="6121400" y="12700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[7] </a:t>
            </a: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NDPS small and commercial quantities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S.O. 1055(E), 19 Oct 2001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[8] </a:t>
            </a: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NCB Drug Law Enforcement Field Officers' Handbook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narcoticsindia.nic.in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[9] </a:t>
            </a: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BPR&amp;D SOP: audio-video recording under BNSS; BSA 2023 s.63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hash value in the electronic-record certificate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[10] </a:t>
            </a: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NIJ Standard-0604.01</a:t>
            </a:r>
            <a:r>
              <a:rPr lang="en-US" sz="1050">
                <a:solidFill>
                  <a:srgbClr val="595959"/>
                </a:solidFill>
                <a:latin typeface="Arial" panose="020B0604020202020204" pitchFamily="34" charset="0"/>
              </a:rPr>
              <a:t> — Color Test Reagents/Kits for Preliminary Identification of Drugs of Abuse (US DoJ)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[11] </a:t>
            </a: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Android key attestation; RFC 8785 (JSON canonicalisation)</a:t>
            </a:r>
            <a:r>
              <a:rPr lang="en-IN" sz="1050">
                <a:solidFill>
                  <a:srgbClr val="595959"/>
                </a:solidFill>
                <a:latin typeface="Arial" panose="020B0604020202020204" pitchFamily="34" charset="0"/>
              </a:rPr>
              <a:t> — developer.android.com; rfc-editor.org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1050" b="1">
                <a:solidFill>
                  <a:srgbClr val="0070C0"/>
                </a:solidFill>
                <a:latin typeface="Arial" panose="020B0604020202020204" pitchFamily="34" charset="0"/>
              </a:rPr>
              <a:t>[12] </a:t>
            </a: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MHA Rajya Sabha USQ 1832 (11 Dec 2024)</a:t>
            </a:r>
            <a:r>
              <a:rPr lang="en-IN" sz="1050">
                <a:solidFill>
                  <a:srgbClr val="595959"/>
                </a:solidFill>
                <a:latin typeface="Arial" panose="020B0604020202020204" pitchFamily="34" charset="0"/>
              </a:rPr>
              <a:t> — NDPS case statistics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705E47-8601-D3CC-1DBD-4EC9D835B7F4}"/>
              </a:ext>
            </a:extLst>
          </p:cNvPr>
          <p:cNvSpPr/>
          <p:nvPr/>
        </p:nvSpPr>
        <p:spPr>
          <a:xfrm>
            <a:off x="279400" y="4089400"/>
            <a:ext cx="11633200" cy="2108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792AE2-A709-AC70-1CE3-8EFDED023D08}"/>
              </a:ext>
            </a:extLst>
          </p:cNvPr>
          <p:cNvSpPr txBox="1"/>
          <p:nvPr/>
        </p:nvSpPr>
        <p:spPr>
          <a:xfrm>
            <a:off x="431800" y="4216400"/>
            <a:ext cx="1132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1F3864"/>
                </a:solidFill>
                <a:latin typeface="Arial" panose="020B0604020202020204" pitchFamily="34" charset="0"/>
              </a:rPr>
              <a:t>OUR CODE AND RESEARCH: </a:t>
            </a:r>
            <a:r>
              <a:rPr lang="en-IN" sz="1200" b="1">
                <a:solidFill>
                  <a:srgbClr val="0070C0"/>
                </a:solidFill>
                <a:latin typeface="Arial" panose="020B0604020202020204" pitchFamily="34" charset="0"/>
                <a:hlinkClick r:id="rId4"/>
              </a:rPr>
              <a:t>github.com/Harshith029/fieldtest-recorder</a:t>
            </a:r>
            <a:endParaRPr lang="en-IN" sz="1200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1DC25-4250-B104-C65F-0930890A8137}"/>
              </a:ext>
            </a:extLst>
          </p:cNvPr>
          <p:cNvSpPr txBox="1"/>
          <p:nvPr/>
        </p:nvSpPr>
        <p:spPr>
          <a:xfrm>
            <a:off x="431800" y="4495800"/>
            <a:ext cx="1132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700"/>
              </a:spcAft>
              <a:buClr>
                <a:srgbClr val="0070C0"/>
              </a:buClr>
              <a:buFont typeface="+mj-lt"/>
              <a:buChar char="•"/>
            </a:pP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Working Python reference prototype with a one-command demo and 47 automated tests: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record format and offline verifier, colour engine, NCB kit protocol, searchable log, sync protocol. Photos in the demo are simulated; the Android app must match its outputs.</a:t>
            </a:r>
          </a:p>
          <a:p>
            <a:pPr marL="127000" indent="-127000">
              <a:spcBef>
                <a:spcPts val="0"/>
              </a:spcBef>
              <a:spcAft>
                <a:spcPts val="700"/>
              </a:spcAft>
              <a:buClr>
                <a:srgbClr val="0070C0"/>
              </a:buClr>
              <a:buFont typeface="+mj-lt"/>
              <a:buChar char="•"/>
            </a:pP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17 experiments with 95% confidence intervals,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including 18 tampering attacks and 15 failure scenarios (real code) and colour, sample-amount, night-light and staged-sample tests (simulated photos).</a:t>
            </a:r>
          </a:p>
          <a:p>
            <a:pPr marL="127000" indent="-127000">
              <a:spcBef>
                <a:spcPts val="0"/>
              </a:spcBef>
              <a:spcAft>
                <a:spcPts val="700"/>
              </a:spcAft>
              <a:buClr>
                <a:srgbClr val="0070C0"/>
              </a:buClr>
              <a:buFont typeface="+mj-lt"/>
              <a:buChar char="•"/>
            </a:pPr>
            <a:r>
              <a:rPr lang="en-US" sz="1050" b="1">
                <a:solidFill>
                  <a:srgbClr val="262626"/>
                </a:solidFill>
                <a:latin typeface="Arial" panose="020B0604020202020204" pitchFamily="34" charset="0"/>
              </a:rPr>
              <a:t>Reviewed adversarially, claim by claim: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confirmed defects are either fixed and re-tested or listed openly in the repository's problem register.</a:t>
            </a:r>
          </a:p>
          <a:p>
            <a:pPr marL="127000" indent="-12700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+mj-lt"/>
              <a:buChar char="•"/>
            </a:pPr>
            <a:r>
              <a:rPr lang="en-IN" sz="1050" b="1">
                <a:solidFill>
                  <a:srgbClr val="262626"/>
                </a:solidFill>
                <a:latin typeface="Arial" panose="020B0604020202020204" pitchFamily="34" charset="0"/>
              </a:rPr>
              <a:t>Safety and law: </a:t>
            </a:r>
            <a:r>
              <a:rPr lang="en-US" sz="1050">
                <a:solidFill>
                  <a:srgbClr val="262626"/>
                </a:solidFill>
                <a:latin typeface="Arial" panose="020B0604020202020204" pitchFamily="34" charset="0"/>
              </a:rPr>
              <a:t>our team never handles narcotics; colour tests use published colours, the kit chart and safe dyes. Real-kit validation is designed for NCB or CFSL chemists.</a:t>
            </a:r>
            <a:endParaRPr lang="en-IN" sz="1050">
              <a:solidFill>
                <a:srgbClr val="26262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2066</Words>
  <Application>Microsoft Office PowerPoint</Application>
  <PresentationFormat>Widescreen</PresentationFormat>
  <Paragraphs>192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FieldTest Recorder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Harshith Pali</cp:lastModifiedBy>
  <cp:revision>149</cp:revision>
  <dcterms:created xsi:type="dcterms:W3CDTF">2013-12-12T18:46:50Z</dcterms:created>
  <dcterms:modified xsi:type="dcterms:W3CDTF">2026-09-30T05:23:38Z</dcterms:modified>
  <cp:category/>
</cp:coreProperties>
</file>