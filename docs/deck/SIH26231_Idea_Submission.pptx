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Harshith029/fieldtest-record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FieldTest Recorder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588000" cy="3118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SIH26231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Digital Companion for Field Drug Testing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MedTech / BioTech / HealthTech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[Team ID]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[Team Name]</a:t>
            </a:r>
            <a:endParaRPr lang="en-IN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4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FieldTest Recorder</a:t>
            </a:r>
            <a:endParaRPr lang="en-US" sz="34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BA027E-0A92-0076-FD2B-C5E6877244FD}"/>
              </a:ext>
            </a:extLst>
          </p:cNvPr>
          <p:cNvSpPr txBox="1"/>
          <p:nvPr/>
        </p:nvSpPr>
        <p:spPr>
          <a:xfrm>
            <a:off x="1778000" y="812800"/>
            <a:ext cx="7937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0" i="1">
                <a:solidFill>
                  <a:srgbClr val="1F3864"/>
                </a:solidFill>
                <a:latin typeface="Arial" panose="020B0604020202020204" pitchFamily="34" charset="0"/>
              </a:rPr>
              <a:t>A guided, measured and signed field test for NCB's Narcotic Drugs Detection Kit</a:t>
            </a:r>
            <a:endParaRPr lang="en-IN" sz="1300" i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6B2BC3E-3F7F-0EC4-AEBB-7284EB993945}"/>
              </a:ext>
            </a:extLst>
          </p:cNvPr>
          <p:cNvSpPr/>
          <p:nvPr/>
        </p:nvSpPr>
        <p:spPr>
          <a:xfrm>
            <a:off x="279400" y="1219200"/>
            <a:ext cx="3327400" cy="502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D609A-0D64-BBE1-E584-16CEC5D916B8}"/>
              </a:ext>
            </a:extLst>
          </p:cNvPr>
          <p:cNvSpPr txBox="1"/>
          <p:nvPr/>
        </p:nvSpPr>
        <p:spPr>
          <a:xfrm>
            <a:off x="431800" y="1346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THE GAP TODAY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1ED48E-0893-4EEB-EC87-5F0AE59A2B48}"/>
              </a:ext>
            </a:extLst>
          </p:cNvPr>
          <p:cNvSpPr txBox="1"/>
          <p:nvPr/>
        </p:nvSpPr>
        <p:spPr>
          <a:xfrm>
            <a:off x="431800" y="1651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Read by eye.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Officers match the kit's colour against a printed chart; nothing proves a test happened at a place and time (NCB, this problem statement).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No standard.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Bombay HC (2021): NCB "has not prescribed the standards"; field testing is "arbitrary", and a bare mention in the panchnama is not enough.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Wrong drug, wrong quantity. </a:t>
            </a:r>
            <a:r>
              <a:rPr lang="en-IN" sz="1100">
                <a:solidFill>
                  <a:srgbClr val="262626"/>
                </a:solidFill>
                <a:latin typeface="Arial" panose="020B0604020202020204" pitchFamily="34" charset="0"/>
              </a:rPr>
              <a:t>Kerala HC (2024, Anuraj): seized "MDMA" was methamphetamine, which changes the NDPS quantity category.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So: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disputed seizures, bail on procedure, and no data on how often field tests are wrong.</a:t>
            </a:r>
            <a:endParaRPr lang="en-IN" sz="11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C9D84-6FF1-0111-88FB-F8DE23514122}"/>
              </a:ext>
            </a:extLst>
          </p:cNvPr>
          <p:cNvSpPr txBox="1"/>
          <p:nvPr/>
        </p:nvSpPr>
        <p:spPr>
          <a:xfrm>
            <a:off x="3810000" y="12700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200" b="1">
                <a:solidFill>
                  <a:srgbClr val="1F3864"/>
                </a:solidFill>
                <a:latin typeface="Arial" panose="020B0604020202020204" pitchFamily="34" charset="0"/>
              </a:rPr>
              <a:t>HOW IT WORKS (OFFLINE, ON THE OFFICER'S PHONE)</a:t>
            </a:r>
            <a:endParaRPr lang="en-IN" sz="12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781352A-6075-16CC-9D86-01D1780A2D56}"/>
              </a:ext>
            </a:extLst>
          </p:cNvPr>
          <p:cNvSpPr/>
          <p:nvPr/>
        </p:nvSpPr>
        <p:spPr>
          <a:xfrm>
            <a:off x="3810000" y="15748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D812E-F5F6-BCB5-0205-26613B08C61B}"/>
              </a:ext>
            </a:extLst>
          </p:cNvPr>
          <p:cNvSpPr txBox="1"/>
          <p:nvPr/>
        </p:nvSpPr>
        <p:spPr>
          <a:xfrm>
            <a:off x="4241800" y="15621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Guide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NCB kit Tests A–E in the printed flow-chart order: drops, wait time, which layer to read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ACE5DD-BB8E-354C-14E1-E00EE46B4797}"/>
              </a:ext>
            </a:extLst>
          </p:cNvPr>
          <p:cNvCxnSpPr/>
          <p:nvPr/>
        </p:nvCxnSpPr>
        <p:spPr>
          <a:xfrm>
            <a:off x="3975100" y="19304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DA9A02-DD31-2D14-532F-FDEF30FF3CB9}"/>
              </a:ext>
            </a:extLst>
          </p:cNvPr>
          <p:cNvSpPr/>
          <p:nvPr/>
        </p:nvSpPr>
        <p:spPr>
          <a:xfrm>
            <a:off x="3810000" y="23495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175E1A-A3F2-D36A-3E04-7ECE9F3A5BB3}"/>
              </a:ext>
            </a:extLst>
          </p:cNvPr>
          <p:cNvSpPr txBox="1"/>
          <p:nvPr/>
        </p:nvSpPr>
        <p:spPr>
          <a:xfrm>
            <a:off x="4241800" y="23368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Photo of the reaction on a reference colour card, next to a reagent-only blank well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1D22222-1472-54B6-47A7-7BF1D8428B84}"/>
              </a:ext>
            </a:extLst>
          </p:cNvPr>
          <p:cNvCxnSpPr/>
          <p:nvPr/>
        </p:nvCxnSpPr>
        <p:spPr>
          <a:xfrm>
            <a:off x="3975100" y="27051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CF8BA2A3-6041-0926-165E-E006E9C13813}"/>
              </a:ext>
            </a:extLst>
          </p:cNvPr>
          <p:cNvSpPr/>
          <p:nvPr/>
        </p:nvSpPr>
        <p:spPr>
          <a:xfrm>
            <a:off x="3810000" y="31242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9554F5-696A-327D-C8B2-32E23477BC94}"/>
              </a:ext>
            </a:extLst>
          </p:cNvPr>
          <p:cNvSpPr txBox="1"/>
          <p:nvPr/>
        </p:nvSpPr>
        <p:spPr>
          <a:xfrm>
            <a:off x="4241800" y="31115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Read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Colour bands from the kit's own ranges: positive / no colour change / inconclusive + every drug it fits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A970276-C96B-1D28-9CB4-8ADD6B398342}"/>
              </a:ext>
            </a:extLst>
          </p:cNvPr>
          <p:cNvCxnSpPr/>
          <p:nvPr/>
        </p:nvCxnSpPr>
        <p:spPr>
          <a:xfrm>
            <a:off x="3975100" y="34798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6B597CE0-17FE-C771-957A-DBA3D1948E5C}"/>
              </a:ext>
            </a:extLst>
          </p:cNvPr>
          <p:cNvSpPr/>
          <p:nvPr/>
        </p:nvSpPr>
        <p:spPr>
          <a:xfrm>
            <a:off x="3810000" y="38989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60F33-DE26-CA73-2462-28E3961EE946}"/>
              </a:ext>
            </a:extLst>
          </p:cNvPr>
          <p:cNvSpPr txBox="1"/>
          <p:nvPr/>
        </p:nvSpPr>
        <p:spPr>
          <a:xfrm>
            <a:off x="4241800" y="38862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Sign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Time, GPS, officer and image hash, signed in phone hardware and hash-chained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FF0DAFB-B6A0-6839-7091-98BC165895C2}"/>
              </a:ext>
            </a:extLst>
          </p:cNvPr>
          <p:cNvCxnSpPr/>
          <p:nvPr/>
        </p:nvCxnSpPr>
        <p:spPr>
          <a:xfrm>
            <a:off x="3975100" y="42545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0CD1916-F2F9-E994-B044-5AC541A09F0D}"/>
              </a:ext>
            </a:extLst>
          </p:cNvPr>
          <p:cNvSpPr/>
          <p:nvPr/>
        </p:nvSpPr>
        <p:spPr>
          <a:xfrm>
            <a:off x="3810000" y="46736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956FCB-2301-A937-F88E-EAAF02A5EBF9}"/>
              </a:ext>
            </a:extLst>
          </p:cNvPr>
          <p:cNvSpPr txBox="1"/>
          <p:nvPr/>
        </p:nvSpPr>
        <p:spPr>
          <a:xfrm>
            <a:off x="4241800" y="46609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Anchor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A 14-character code written into the witness-signed panchnama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CD65E7-12CB-F8F3-CA06-BC72ED9E1B64}"/>
              </a:ext>
            </a:extLst>
          </p:cNvPr>
          <p:cNvCxnSpPr/>
          <p:nvPr/>
        </p:nvCxnSpPr>
        <p:spPr>
          <a:xfrm>
            <a:off x="3975100" y="50292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CC9936F5-D415-B2A1-A045-31E4C2BB6B7F}"/>
              </a:ext>
            </a:extLst>
          </p:cNvPr>
          <p:cNvSpPr/>
          <p:nvPr/>
        </p:nvSpPr>
        <p:spPr>
          <a:xfrm>
            <a:off x="3810000" y="54483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639B10-08C8-0DDF-C357-E48E5A4DFD8D}"/>
              </a:ext>
            </a:extLst>
          </p:cNvPr>
          <p:cNvSpPr txBox="1"/>
          <p:nvPr/>
        </p:nvSpPr>
        <p:spPr>
          <a:xfrm>
            <a:off x="4241800" y="54356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Report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Field Test Memo, Form-1 item 5, BSA s.63 data; anyone can verify offline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26C746-2875-84BC-FABE-A53607CB101A}"/>
              </a:ext>
            </a:extLst>
          </p:cNvPr>
          <p:cNvSpPr txBox="1"/>
          <p:nvPr/>
        </p:nvSpPr>
        <p:spPr>
          <a:xfrm>
            <a:off x="8229600" y="1270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WHAT IS NEW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A2E3774-0C85-D8D1-186E-C746C5C5BABB}"/>
              </a:ext>
            </a:extLst>
          </p:cNvPr>
          <p:cNvSpPr/>
          <p:nvPr/>
        </p:nvSpPr>
        <p:spPr>
          <a:xfrm>
            <a:off x="8229600" y="15748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EA960F-A7C7-7AFE-A451-3CAE5329B063}"/>
              </a:ext>
            </a:extLst>
          </p:cNvPr>
          <p:cNvSpPr txBox="1"/>
          <p:nvPr/>
        </p:nvSpPr>
        <p:spPr>
          <a:xfrm>
            <a:off x="8356600" y="16764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Says only what the chemistry supports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Test E blue = "cocaine or methaqualone" until E3/E4 narrows it; warns when the NDPS quantity category can't be told in the field.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A4A8E8F-BBF7-32B3-2445-3F012732E8D9}"/>
              </a:ext>
            </a:extLst>
          </p:cNvPr>
          <p:cNvSpPr/>
          <p:nvPr/>
        </p:nvSpPr>
        <p:spPr>
          <a:xfrm>
            <a:off x="8229600" y="27432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BD9B6A-23A6-7AB7-5AC6-F940EBDAD3F3}"/>
              </a:ext>
            </a:extLst>
          </p:cNvPr>
          <p:cNvSpPr txBox="1"/>
          <p:nvPr/>
        </p:nvSpPr>
        <p:spPr>
          <a:xfrm>
            <a:off x="8356600" y="28448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Holds up when the sample amount varies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Bands + blank well: 0% false positives where single-point colour matching gave up to 11.7%.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54D1330-283F-3FD7-992A-4C429D9F6100}"/>
              </a:ext>
            </a:extLst>
          </p:cNvPr>
          <p:cNvSpPr/>
          <p:nvPr/>
        </p:nvSpPr>
        <p:spPr>
          <a:xfrm>
            <a:off x="11201400" y="28067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8970BAF-5718-A286-E9CD-6E61CC3EE107}"/>
              </a:ext>
            </a:extLst>
          </p:cNvPr>
          <p:cNvSpPr/>
          <p:nvPr/>
        </p:nvSpPr>
        <p:spPr>
          <a:xfrm>
            <a:off x="8229600" y="39116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5BA662-34AB-A747-2036-9949F9648FB7}"/>
              </a:ext>
            </a:extLst>
          </p:cNvPr>
          <p:cNvSpPr txBox="1"/>
          <p:nvPr/>
        </p:nvSpPr>
        <p:spPr>
          <a:xfrm>
            <a:off x="8356600" y="40132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Proves completeness, not just integrity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Deleted or re-run tests are caught; not even our server admin can forge a record.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E5E58A8-EC87-B41C-C885-7815E2C70C0A}"/>
              </a:ext>
            </a:extLst>
          </p:cNvPr>
          <p:cNvSpPr/>
          <p:nvPr/>
        </p:nvSpPr>
        <p:spPr>
          <a:xfrm>
            <a:off x="11023600" y="39751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4B1515D-B6C6-25C1-9A8A-43C2C00F94C5}"/>
              </a:ext>
            </a:extLst>
          </p:cNvPr>
          <p:cNvSpPr/>
          <p:nvPr/>
        </p:nvSpPr>
        <p:spPr>
          <a:xfrm>
            <a:off x="8229600" y="50800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5A7A3E-61C7-625C-61D7-8625A8A9E92A}"/>
              </a:ext>
            </a:extLst>
          </p:cNvPr>
          <p:cNvSpPr txBox="1"/>
          <p:nvPr/>
        </p:nvSpPr>
        <p:spPr>
          <a:xfrm>
            <a:off x="8356600" y="51816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No new hardware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Existing NCB kit + officer's phone + a printed card. Works offline; embeds in e-Sakshya as an SDK.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F592037-561C-50D4-DBAC-6E22A2079E75}"/>
              </a:ext>
            </a:extLst>
          </p:cNvPr>
          <p:cNvSpPr/>
          <p:nvPr/>
        </p:nvSpPr>
        <p:spPr>
          <a:xfrm>
            <a:off x="279400" y="1219200"/>
            <a:ext cx="3556000" cy="3403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64547-A096-075C-5F91-8C5E0FF36C5C}"/>
              </a:ext>
            </a:extLst>
          </p:cNvPr>
          <p:cNvSpPr txBox="1"/>
          <p:nvPr/>
        </p:nvSpPr>
        <p:spPr>
          <a:xfrm>
            <a:off x="431800" y="1320800"/>
            <a:ext cx="325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OFFICER'S PHONE (offline SDK)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562693-7C5C-8A90-7104-836927749894}"/>
              </a:ext>
            </a:extLst>
          </p:cNvPr>
          <p:cNvSpPr/>
          <p:nvPr/>
        </p:nvSpPr>
        <p:spPr>
          <a:xfrm>
            <a:off x="431800" y="16256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F5D716-F759-0C91-4F9D-CAFC3A74CF74}"/>
              </a:ext>
            </a:extLst>
          </p:cNvPr>
          <p:cNvSpPr txBox="1"/>
          <p:nvPr/>
        </p:nvSpPr>
        <p:spPr>
          <a:xfrm>
            <a:off x="533400" y="16891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Guided NDDK protocol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signed: steps, drops, read times, flow charts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5AD702D-32AF-A86C-D071-A6217376B72F}"/>
              </a:ext>
            </a:extLst>
          </p:cNvPr>
          <p:cNvSpPr/>
          <p:nvPr/>
        </p:nvSpPr>
        <p:spPr>
          <a:xfrm>
            <a:off x="431800" y="22098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2D9560-7703-700E-04EF-F811B78B15B9}"/>
              </a:ext>
            </a:extLst>
          </p:cNvPr>
          <p:cNvSpPr txBox="1"/>
          <p:nvPr/>
        </p:nvSpPr>
        <p:spPr>
          <a:xfrm>
            <a:off x="533400" y="22733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CameraX / Camera2 RAW, card located by ArUco markers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E7A88F4-18CF-94B5-8FA1-75CD557FFD23}"/>
              </a:ext>
            </a:extLst>
          </p:cNvPr>
          <p:cNvSpPr/>
          <p:nvPr/>
        </p:nvSpPr>
        <p:spPr>
          <a:xfrm>
            <a:off x="431800" y="27940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9E1C58-0E8B-B0AE-BE02-B0E2896D9680}"/>
              </a:ext>
            </a:extLst>
          </p:cNvPr>
          <p:cNvSpPr txBox="1"/>
          <p:nvPr/>
        </p:nvSpPr>
        <p:spPr>
          <a:xfrm>
            <a:off x="533400" y="28575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Colour engine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card correction, blank well, CIELAB colour bands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E000A53-8926-F70B-B525-9A562F65A3B8}"/>
              </a:ext>
            </a:extLst>
          </p:cNvPr>
          <p:cNvSpPr/>
          <p:nvPr/>
        </p:nvSpPr>
        <p:spPr>
          <a:xfrm>
            <a:off x="431800" y="33782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36239-66D4-49CB-3F2E-9B4F44827749}"/>
              </a:ext>
            </a:extLst>
          </p:cNvPr>
          <p:cNvSpPr txBox="1"/>
          <p:nvPr/>
        </p:nvSpPr>
        <p:spPr>
          <a:xfrm>
            <a:off x="533400" y="34417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Record core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ECDSA P-256 in StrongBox/TEE, SHA-256 chain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4BAB98C-72CC-AED6-5CA7-BAC2204440C0}"/>
              </a:ext>
            </a:extLst>
          </p:cNvPr>
          <p:cNvSpPr/>
          <p:nvPr/>
        </p:nvSpPr>
        <p:spPr>
          <a:xfrm>
            <a:off x="431800" y="39624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68B773-C61F-B6C1-92D5-FC380A8D1E98}"/>
              </a:ext>
            </a:extLst>
          </p:cNvPr>
          <p:cNvSpPr txBox="1"/>
          <p:nvPr/>
        </p:nvSpPr>
        <p:spPr>
          <a:xfrm>
            <a:off x="533400" y="40259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Log + reports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searchable log, Field Test Memo, Form-1 item 5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2FAA2D7-AFB3-8265-17FB-74EF5C1AF817}"/>
              </a:ext>
            </a:extLst>
          </p:cNvPr>
          <p:cNvSpPr/>
          <p:nvPr/>
        </p:nvSpPr>
        <p:spPr>
          <a:xfrm>
            <a:off x="4368800" y="1219200"/>
            <a:ext cx="3251200" cy="3403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6BD5EE-A56A-857B-D7AD-2340E0CB6F7F}"/>
              </a:ext>
            </a:extLst>
          </p:cNvPr>
          <p:cNvSpPr txBox="1"/>
          <p:nvPr/>
        </p:nvSpPr>
        <p:spPr>
          <a:xfrm>
            <a:off x="4521200" y="13208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THIN SERVER: NIC / MeitY cloud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D310CBD-0BF3-1FE4-5A3E-F3FBE6043D71}"/>
              </a:ext>
            </a:extLst>
          </p:cNvPr>
          <p:cNvSpPr/>
          <p:nvPr/>
        </p:nvSpPr>
        <p:spPr>
          <a:xfrm>
            <a:off x="4521200" y="16256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88B814-0907-A324-16B7-F3F2E3057D76}"/>
              </a:ext>
            </a:extLst>
          </p:cNvPr>
          <p:cNvSpPr txBox="1"/>
          <p:nvPr/>
        </p:nvSpPr>
        <p:spPr>
          <a:xfrm>
            <a:off x="4622800" y="16891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Enrolment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Android key attestation + supervisor's DSC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3085109-7C26-E17F-43BC-F04DF3E47C51}"/>
              </a:ext>
            </a:extLst>
          </p:cNvPr>
          <p:cNvSpPr/>
          <p:nvPr/>
        </p:nvSpPr>
        <p:spPr>
          <a:xfrm>
            <a:off x="4521200" y="22098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A4099E-9CF7-0C54-6089-9AB62E435787}"/>
              </a:ext>
            </a:extLst>
          </p:cNvPr>
          <p:cNvSpPr txBox="1"/>
          <p:nvPr/>
        </p:nvSpPr>
        <p:spPr>
          <a:xfrm>
            <a:off x="4622800" y="22733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Sync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idempotent, fork/replay checks, signed receipts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6921AE2-2963-E545-35CA-85778A17D0C3}"/>
              </a:ext>
            </a:extLst>
          </p:cNvPr>
          <p:cNvSpPr/>
          <p:nvPr/>
        </p:nvSpPr>
        <p:spPr>
          <a:xfrm>
            <a:off x="4521200" y="27940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142FEF-0FAA-EA5A-CC27-28E7CF74E833}"/>
              </a:ext>
            </a:extLst>
          </p:cNvPr>
          <p:cNvSpPr txBox="1"/>
          <p:nvPr/>
        </p:nvSpPr>
        <p:spPr>
          <a:xfrm>
            <a:off x="4622800" y="28575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Storage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PostgreSQL + S3 write-once, durable checkpoints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ABB959A-1D61-F4CB-4F49-641B3D5A08A8}"/>
              </a:ext>
            </a:extLst>
          </p:cNvPr>
          <p:cNvSpPr/>
          <p:nvPr/>
        </p:nvSpPr>
        <p:spPr>
          <a:xfrm>
            <a:off x="4521200" y="33782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A4FDCF-230B-6A8A-58D1-59F804A15C03}"/>
              </a:ext>
            </a:extLst>
          </p:cNvPr>
          <p:cNvSpPr txBox="1"/>
          <p:nvPr/>
        </p:nvSpPr>
        <p:spPr>
          <a:xfrm>
            <a:off x="4622800" y="34417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Search + lab loop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case search; Rule 14 lab result vs field result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5959744-C9F3-EA72-ACE7-6E367F9AC061}"/>
              </a:ext>
            </a:extLst>
          </p:cNvPr>
          <p:cNvSpPr/>
          <p:nvPr/>
        </p:nvSpPr>
        <p:spPr>
          <a:xfrm>
            <a:off x="4521200" y="39624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A1DF49-9C25-2E1F-D0BC-2A442234F994}"/>
              </a:ext>
            </a:extLst>
          </p:cNvPr>
          <p:cNvSpPr txBox="1"/>
          <p:nvPr/>
        </p:nvSpPr>
        <p:spPr>
          <a:xfrm>
            <a:off x="4622800" y="40259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Never trusted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records verify without the server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D0B9B55-B8A1-1599-6B1E-0096C0B111B7}"/>
              </a:ext>
            </a:extLst>
          </p:cNvPr>
          <p:cNvCxnSpPr/>
          <p:nvPr/>
        </p:nvCxnSpPr>
        <p:spPr>
          <a:xfrm>
            <a:off x="3860800" y="2921000"/>
            <a:ext cx="4826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0126A9A-68E2-3C64-E65B-75A64F8D328F}"/>
              </a:ext>
            </a:extLst>
          </p:cNvPr>
          <p:cNvSpPr txBox="1"/>
          <p:nvPr/>
        </p:nvSpPr>
        <p:spPr>
          <a:xfrm>
            <a:off x="3784600" y="2590800"/>
            <a:ext cx="63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750" i="1">
                <a:solidFill>
                  <a:srgbClr val="595959"/>
                </a:solidFill>
                <a:latin typeface="Arial" panose="020B0604020202020204" pitchFamily="34" charset="0"/>
              </a:rPr>
              <a:t>sync when online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4612905-2351-367F-317B-CF4D0787509B}"/>
              </a:ext>
            </a:extLst>
          </p:cNvPr>
          <p:cNvSpPr/>
          <p:nvPr/>
        </p:nvSpPr>
        <p:spPr>
          <a:xfrm>
            <a:off x="279400" y="4749800"/>
            <a:ext cx="73406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90752A-CDDD-B095-1079-975951C98E50}"/>
              </a:ext>
            </a:extLst>
          </p:cNvPr>
          <p:cNvSpPr txBox="1"/>
          <p:nvPr/>
        </p:nvSpPr>
        <p:spPr>
          <a:xfrm>
            <a:off x="431800" y="4838700"/>
            <a:ext cx="622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Trust without trusting us: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NCB signs the supervisor list; a supervisor's DSC binds officer + phone + key; the phone signs and chains every test; the chain heads of every phone go into the witness-signed panchnama. An offline verifier (same record core) checks it all in court.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54DBB00-57FE-8B40-8685-FEDB7B373605}"/>
              </a:ext>
            </a:extLst>
          </p:cNvPr>
          <p:cNvSpPr/>
          <p:nvPr/>
        </p:nvSpPr>
        <p:spPr>
          <a:xfrm>
            <a:off x="6756400" y="48387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A09D46-A711-B9BD-0EDD-3EA1812FFDE4}"/>
              </a:ext>
            </a:extLst>
          </p:cNvPr>
          <p:cNvSpPr txBox="1"/>
          <p:nvPr/>
        </p:nvSpPr>
        <p:spPr>
          <a:xfrm>
            <a:off x="279400" y="55880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Stack: </a:t>
            </a:r>
            <a:r>
              <a:rPr lang="en-IN" sz="950">
                <a:solidFill>
                  <a:srgbClr val="262626"/>
                </a:solidFill>
                <a:latin typeface="Arial" panose="020B0604020202020204" pitchFamily="34" charset="0"/>
              </a:rPr>
              <a:t>Kotlin · CameraX/Camera2 · OpenCV · Android Keystore + key attestation · SQLCipher · RFC 8785 JSON · ECDSA P-256 · Spring Boot · PostgreSQL · S3 object lock · Parichay / Class 3 DSC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Deliberately not used: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blockchain, cloud AI, a neural-network "drug detector" (a colour test cannot identify a drug; the court must be able to re-run the reading)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BC511F99-B506-9042-F0D2-C0B698A5A7B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1244600"/>
            <a:ext cx="4013200" cy="28067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8B55D54-E672-6B7F-3559-9F1ED41C7F0A}"/>
              </a:ext>
            </a:extLst>
          </p:cNvPr>
          <p:cNvSpPr txBox="1"/>
          <p:nvPr/>
        </p:nvSpPr>
        <p:spPr>
          <a:xfrm>
            <a:off x="7874000" y="40894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50" i="1">
                <a:solidFill>
                  <a:srgbClr val="595959"/>
                </a:solidFill>
                <a:latin typeface="Arial" panose="020B0604020202020204" pitchFamily="34" charset="0"/>
              </a:rPr>
              <a:t>Reference card v2 (printable, 150 x 105 mm): 24 colour patches, 4 markers, SAMPLE and BLANK zones. The engine finds it in the print file.</a:t>
            </a:r>
            <a:endParaRPr lang="en-IN" sz="8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A1D5DC-D8D0-947F-E1E7-4BA1EE8634F0}"/>
              </a:ext>
            </a:extLst>
          </p:cNvPr>
          <p:cNvSpPr txBox="1"/>
          <p:nvPr/>
        </p:nvSpPr>
        <p:spPr>
          <a:xfrm>
            <a:off x="7874000" y="45212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BUILT SO FAR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C6C2C81-403B-40C4-E1D6-E34A011DD1C2}"/>
              </a:ext>
            </a:extLst>
          </p:cNvPr>
          <p:cNvSpPr/>
          <p:nvPr/>
        </p:nvSpPr>
        <p:spPr>
          <a:xfrm>
            <a:off x="7874000" y="48006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3A0892-0AEA-2A43-C8F4-1AD557C47CF4}"/>
              </a:ext>
            </a:extLst>
          </p:cNvPr>
          <p:cNvSpPr txBox="1"/>
          <p:nvPr/>
        </p:nvSpPr>
        <p:spPr>
          <a:xfrm>
            <a:off x="8737600" y="47752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Reference implementation + one-command demo, 47 tests: github.com/Harshith029/fieldtest-recorder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52B3CC9D-B849-DC96-BD6A-A0A1BE903304}"/>
              </a:ext>
            </a:extLst>
          </p:cNvPr>
          <p:cNvSpPr/>
          <p:nvPr/>
        </p:nvSpPr>
        <p:spPr>
          <a:xfrm>
            <a:off x="7874000" y="52832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3F819E-85A4-44A4-5C60-D9926E028C28}"/>
              </a:ext>
            </a:extLst>
          </p:cNvPr>
          <p:cNvSpPr txBox="1"/>
          <p:nvPr/>
        </p:nvSpPr>
        <p:spPr>
          <a:xfrm>
            <a:off x="8737600" y="52578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17 experiments with 95% intervals (colour, liveness, night light, amount)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77C8A9AF-0EF6-E71D-315B-ADF02B81F763}"/>
              </a:ext>
            </a:extLst>
          </p:cNvPr>
          <p:cNvSpPr/>
          <p:nvPr/>
        </p:nvSpPr>
        <p:spPr>
          <a:xfrm>
            <a:off x="7874000" y="57658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145CA6-0F7D-14D9-42E7-38668F84D8FF}"/>
              </a:ext>
            </a:extLst>
          </p:cNvPr>
          <p:cNvSpPr txBox="1"/>
          <p:nvPr/>
        </p:nvSpPr>
        <p:spPr>
          <a:xfrm>
            <a:off x="8737600" y="5740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Android app (Kotlin) on the same test vectors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C9513D2-F87F-4E79-453B-D3BA96302430}"/>
              </a:ext>
            </a:extLst>
          </p:cNvPr>
          <p:cNvSpPr/>
          <p:nvPr/>
        </p:nvSpPr>
        <p:spPr>
          <a:xfrm>
            <a:off x="279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7CFAF-7D9E-F6FD-E454-E44AB2CE14DB}"/>
              </a:ext>
            </a:extLst>
          </p:cNvPr>
          <p:cNvSpPr txBox="1"/>
          <p:nvPr/>
        </p:nvSpPr>
        <p:spPr>
          <a:xfrm>
            <a:off x="406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18/18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C3DE08-440D-092E-1F9E-BB8F29FC62C6}"/>
              </a:ext>
            </a:extLst>
          </p:cNvPr>
          <p:cNvSpPr txBox="1"/>
          <p:nvPr/>
        </p:nvSpPr>
        <p:spPr>
          <a:xfrm>
            <a:off x="406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tampering attacks caught, incl. insider-admin forgery and deleted records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532422C-9537-B3ED-5661-5FF50D0A3EA7}"/>
              </a:ext>
            </a:extLst>
          </p:cNvPr>
          <p:cNvSpPr/>
          <p:nvPr/>
        </p:nvSpPr>
        <p:spPr>
          <a:xfrm>
            <a:off x="2159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B7A9D4-0E10-EFEF-5DCE-30B818525B76}"/>
              </a:ext>
            </a:extLst>
          </p:cNvPr>
          <p:cNvSpPr/>
          <p:nvPr/>
        </p:nvSpPr>
        <p:spPr>
          <a:xfrm>
            <a:off x="3200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1F4E2-3040-5241-D9B4-724ABA0EDAD2}"/>
              </a:ext>
            </a:extLst>
          </p:cNvPr>
          <p:cNvSpPr txBox="1"/>
          <p:nvPr/>
        </p:nvSpPr>
        <p:spPr>
          <a:xfrm>
            <a:off x="3327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15/15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99C054-E921-0738-B2E4-4B7139563381}"/>
              </a:ext>
            </a:extLst>
          </p:cNvPr>
          <p:cNvSpPr txBox="1"/>
          <p:nvPr/>
        </p:nvSpPr>
        <p:spPr>
          <a:xfrm>
            <a:off x="3327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sync and failure scenarios handled, incl. restore from an old backup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4EAE8A-DD1F-CE10-B458-F36786DC83D4}"/>
              </a:ext>
            </a:extLst>
          </p:cNvPr>
          <p:cNvSpPr/>
          <p:nvPr/>
        </p:nvSpPr>
        <p:spPr>
          <a:xfrm>
            <a:off x="5080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06BF98B-6CB5-270B-A28B-81E9CF1769AC}"/>
              </a:ext>
            </a:extLst>
          </p:cNvPr>
          <p:cNvSpPr/>
          <p:nvPr/>
        </p:nvSpPr>
        <p:spPr>
          <a:xfrm>
            <a:off x="6121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8C9BC6-9172-E98D-3141-0003DAF52C2E}"/>
              </a:ext>
            </a:extLst>
          </p:cNvPr>
          <p:cNvSpPr txBox="1"/>
          <p:nvPr/>
        </p:nvSpPr>
        <p:spPr>
          <a:xfrm>
            <a:off x="6248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11.7% → 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D1CAB-2F9D-7763-2326-5F4C75085894}"/>
              </a:ext>
            </a:extLst>
          </p:cNvPr>
          <p:cNvSpPr txBox="1"/>
          <p:nvPr/>
        </p:nvSpPr>
        <p:spPr>
          <a:xfrm>
            <a:off x="6248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 positives when the sample amount varies (single-point rule vs colour bands)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E88AF3-ED19-23F5-3721-7D06D2D10CA1}"/>
              </a:ext>
            </a:extLst>
          </p:cNvPr>
          <p:cNvSpPr/>
          <p:nvPr/>
        </p:nvSpPr>
        <p:spPr>
          <a:xfrm>
            <a:off x="8178800" y="1295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6AFAF75-11B7-0768-623D-ACFCDE24FDB4}"/>
              </a:ext>
            </a:extLst>
          </p:cNvPr>
          <p:cNvSpPr/>
          <p:nvPr/>
        </p:nvSpPr>
        <p:spPr>
          <a:xfrm>
            <a:off x="9042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23A8A7-CCE0-0D53-1883-6CF239E91BBB}"/>
              </a:ext>
            </a:extLst>
          </p:cNvPr>
          <p:cNvSpPr txBox="1"/>
          <p:nvPr/>
        </p:nvSpPr>
        <p:spPr>
          <a:xfrm>
            <a:off x="9169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89%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9EA790-F8AA-4103-B891-A25F832D8E3C}"/>
              </a:ext>
            </a:extLst>
          </p:cNvPr>
          <p:cNvSpPr txBox="1"/>
          <p:nvPr/>
        </p:nvSpPr>
        <p:spPr>
          <a:xfrm>
            <a:off x="9169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NCB-kit chart outcomes read correctly, 1.7% wrong, rest inconclusive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F5EA29A-8C0E-2485-188C-754D54C3DB07}"/>
              </a:ext>
            </a:extLst>
          </p:cNvPr>
          <p:cNvSpPr/>
          <p:nvPr/>
        </p:nvSpPr>
        <p:spPr>
          <a:xfrm>
            <a:off x="11099800" y="1295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07E118-9EFA-C4C2-CBA7-066A137141CE}"/>
              </a:ext>
            </a:extLst>
          </p:cNvPr>
          <p:cNvSpPr txBox="1"/>
          <p:nvPr/>
        </p:nvSpPr>
        <p:spPr>
          <a:xfrm>
            <a:off x="279400" y="25908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CHALLENGES AND HOW WE HANDLE THEM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6399D97-A7FD-59A3-E44B-56E821AA52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9987201"/>
              </p:ext>
            </p:extLst>
          </p:nvPr>
        </p:nvGraphicFramePr>
        <p:xfrm>
          <a:off x="279400" y="2819400"/>
          <a:ext cx="76200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3749151646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1568917766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Challenge / risk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Strategy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13915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reaction colours differ from the printed chart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Validation by NCB/CFSL chemists under their licences: 1,296 captures at 3 sample amounts; we never handle narcotics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95666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Phones and light vary; glare; night raids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Reference card + RAW capture; bad-light gate; flash/no-flash night mode; say "inconclusive" rather than guess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6150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Staged or swapped sample</a:t>
                      </a: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Capture starts before the reagent drop; liveness check; package label in frame; link to the s.105 video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379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Rooted phone, insider, deleted records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Hardware keys + attestation; supervisor-signed binding; panchnama anchor; server never trusted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218311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Access to SIMS / e-Sakshya not confirmed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File exports first; the engine ships as an SDK e-Sakshya can embed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122606"/>
                  </a:ext>
                </a:extLst>
              </a:tr>
            </a:tbl>
          </a:graphicData>
        </a:graphic>
      </p:graphicFrame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52BC779-07F5-2312-9815-B66F28FE44C8}"/>
              </a:ext>
            </a:extLst>
          </p:cNvPr>
          <p:cNvSpPr/>
          <p:nvPr/>
        </p:nvSpPr>
        <p:spPr>
          <a:xfrm>
            <a:off x="8102600" y="2590800"/>
            <a:ext cx="3810000" cy="3632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5220DD-0814-F6E3-0851-B33A1B89F67D}"/>
              </a:ext>
            </a:extLst>
          </p:cNvPr>
          <p:cNvSpPr txBox="1"/>
          <p:nvPr/>
        </p:nvSpPr>
        <p:spPr>
          <a:xfrm>
            <a:off x="8255000" y="26924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WHY IT IS VIABLE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4AA334-CD0A-A3FF-F6C5-6CD18C89F09A}"/>
              </a:ext>
            </a:extLst>
          </p:cNvPr>
          <p:cNvSpPr txBox="1"/>
          <p:nvPr/>
        </p:nvSpPr>
        <p:spPr>
          <a:xfrm>
            <a:off x="8255000" y="29718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Existing kit, existing phones: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already supplies the kit free; the only addition is a printed colour card per kit.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Small infrastructure: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one app server pair, PostgreSQL, 1–3 TB a year of storage on NIC or MeitY-empanelled cloud.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Government-owned: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holds the signing keys, the colour standard and the code; open formats, no licences.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Pass criteria set in advance: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false positives at most 1%, proven at 95% confidence (at least 299 negative controls); "inconclusive" at most 15%.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Clear status: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every number here is labelled proven in code or simulated. Real-phone and real-kit numbers come next.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CC15AF6-07D9-8BF5-AF32-C1E05D39E25D}"/>
              </a:ext>
            </a:extLst>
          </p:cNvPr>
          <p:cNvSpPr txBox="1"/>
          <p:nvPr/>
        </p:nvSpPr>
        <p:spPr>
          <a:xfrm>
            <a:off x="279400" y="1244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WHO BENEFITS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5E7CFCA-B723-B315-A198-169CC6B6CE31}"/>
              </a:ext>
            </a:extLst>
          </p:cNvPr>
          <p:cNvSpPr/>
          <p:nvPr/>
        </p:nvSpPr>
        <p:spPr>
          <a:xfrm>
            <a:off x="279400" y="15240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SO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3868C2-F1DD-6DA5-C854-8A09D98F4B73}"/>
              </a:ext>
            </a:extLst>
          </p:cNvPr>
          <p:cNvSpPr txBox="1"/>
          <p:nvPr/>
        </p:nvSpPr>
        <p:spPr>
          <a:xfrm>
            <a:off x="863600" y="1498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Seizing officer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 guided test, a Field Test Memo and Form-1 item 5 filled in, and a record that shows good-faith action.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02A58A-8F67-2C29-1885-027E823BD396}"/>
              </a:ext>
            </a:extLst>
          </p:cNvPr>
          <p:cNvSpPr/>
          <p:nvPr/>
        </p:nvSpPr>
        <p:spPr>
          <a:xfrm>
            <a:off x="279400" y="23368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IO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C3740F-B513-F117-CE35-A87838A7A304}"/>
              </a:ext>
            </a:extLst>
          </p:cNvPr>
          <p:cNvSpPr txBox="1"/>
          <p:nvPr/>
        </p:nvSpPr>
        <p:spPr>
          <a:xfrm>
            <a:off x="863600" y="23114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Investigating officer, prosecutor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Checkable evidence for remand and bail; a Rule 10(2) grouping check before sampling; the lab result linked back.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92B478F-AC5D-811F-C374-97BFBAD2B270}"/>
              </a:ext>
            </a:extLst>
          </p:cNvPr>
          <p:cNvSpPr/>
          <p:nvPr/>
        </p:nvSpPr>
        <p:spPr>
          <a:xfrm>
            <a:off x="279400" y="31496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FD7D3A-C16B-EBBE-81EE-CDEE3333D60E}"/>
              </a:ext>
            </a:extLst>
          </p:cNvPr>
          <p:cNvSpPr txBox="1"/>
          <p:nvPr/>
        </p:nvSpPr>
        <p:spPr>
          <a:xfrm>
            <a:off x="863600" y="3124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Courts, defence, the accused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Any expert can re-check the record offline; the quantity category is flagged as uncertain until the lab confirms.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874BDB2-634D-44D5-E43D-1E50E9F95A55}"/>
              </a:ext>
            </a:extLst>
          </p:cNvPr>
          <p:cNvSpPr/>
          <p:nvPr/>
        </p:nvSpPr>
        <p:spPr>
          <a:xfrm>
            <a:off x="279400" y="39624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HQ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E9EDEB-8CF3-18F5-DA3E-C604A8AACFEF}"/>
              </a:ext>
            </a:extLst>
          </p:cNvPr>
          <p:cNvSpPr txBox="1"/>
          <p:nvPr/>
        </p:nvSpPr>
        <p:spPr>
          <a:xfrm>
            <a:off x="863600" y="3937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NCB headquarters and labs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India's first field-vs-lab accuracy data, per kit batch and per test.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63B6-774E-47D9-7343-F04DF9623F6B}"/>
              </a:ext>
            </a:extLst>
          </p:cNvPr>
          <p:cNvSpPr txBox="1"/>
          <p:nvPr/>
        </p:nvSpPr>
        <p:spPr>
          <a:xfrm>
            <a:off x="5842000" y="1244600"/>
            <a:ext cx="607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WHAT CHANGES FOR ONE SEIZURE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C23CD73-7C43-EDA3-0BFA-916434918C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097878"/>
              </p:ext>
            </p:extLst>
          </p:nvPr>
        </p:nvGraphicFramePr>
        <p:xfrm>
          <a:off x="5842000" y="1498600"/>
          <a:ext cx="60706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3881344347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49002960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Today (paper)</a:t>
                      </a:r>
                    </a:p>
                  </a:txBody>
                  <a:tcPr marL="63500" marR="63500" marT="38100" marB="38100"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With FieldTest Recorder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0914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Colour judged by eye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Measured against a signed colour standard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057474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"Dark brown" written in the panchnama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Photo + reading + every drug the colour is consistent with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3092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proof of time or place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Signed time, GNSS time, GPS and officer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6628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Records can be rewritten later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Deletions and re-runs are detectable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2287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Quantity category guessed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Flagged when it can't be told in the field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76888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kit accuracy data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Field result vs lab result, per kit batch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835276"/>
                  </a:ext>
                </a:extLst>
              </a:tr>
            </a:tbl>
          </a:graphicData>
        </a:graphic>
      </p:graphicFrame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5F0632-439A-5E9B-FA19-AC44C6AC5E69}"/>
              </a:ext>
            </a:extLst>
          </p:cNvPr>
          <p:cNvSpPr/>
          <p:nvPr/>
        </p:nvSpPr>
        <p:spPr>
          <a:xfrm>
            <a:off x="5842000" y="3606800"/>
            <a:ext cx="60706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44A1DE-27B6-A03D-9599-6AB249361E12}"/>
              </a:ext>
            </a:extLst>
          </p:cNvPr>
          <p:cNvSpPr txBox="1"/>
          <p:nvPr/>
        </p:nvSpPr>
        <p:spPr>
          <a:xfrm>
            <a:off x="5994400" y="3708400"/>
            <a:ext cx="5765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Why a field report must not overstate: a real case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 (2024):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police alleged commercial-quantity MDMA; the lab found methamphetamine in intermediate quantity (MDMA 0.5 g / 10 g vs methamphetamine 2 g / 50 g). Our record states only what the kit's colour supports, lists every drug that colour fits, and warns when they fall under different NDPS thresholds.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A3F9B0F-9B72-B3E5-C6B1-D708FAE93BE7}"/>
              </a:ext>
            </a:extLst>
          </p:cNvPr>
          <p:cNvSpPr/>
          <p:nvPr/>
        </p:nvSpPr>
        <p:spPr>
          <a:xfrm>
            <a:off x="279400" y="4826000"/>
            <a:ext cx="11633200" cy="1371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8375B1-595E-AE6B-89D1-4F7D02429F49}"/>
              </a:ext>
            </a:extLst>
          </p:cNvPr>
          <p:cNvSpPr txBox="1"/>
          <p:nvPr/>
        </p:nvSpPr>
        <p:spPr>
          <a:xfrm>
            <a:off x="4318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Social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Fairer remand and bail decisions; fewer cases lost on procedure; honest officers protected.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D91862-3D4C-27A6-7E99-3704E8EDC40F}"/>
              </a:ext>
            </a:extLst>
          </p:cNvPr>
          <p:cNvSpPr txBox="1"/>
          <p:nvPr/>
        </p:nvSpPr>
        <p:spPr>
          <a:xfrm>
            <a:off x="33274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Economic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No new hardware; reuses the free NCB kit and officers' phones; small hosting cost.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0A5F1A-9452-1B9A-16A4-BAC6DE7CD3A3}"/>
              </a:ext>
            </a:extLst>
          </p:cNvPr>
          <p:cNvSpPr txBox="1"/>
          <p:nvPr/>
        </p:nvSpPr>
        <p:spPr>
          <a:xfrm>
            <a:off x="62230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Environmental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Paperless records; no extra consumables beyond one printed card per kit.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EF190C-399D-9CF6-02BE-90CF61E21A17}"/>
              </a:ext>
            </a:extLst>
          </p:cNvPr>
          <p:cNvSpPr txBox="1"/>
          <p:nvPr/>
        </p:nvSpPr>
        <p:spPr>
          <a:xfrm>
            <a:off x="91186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Scale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1,15,236 NDPS cases in 2022 (MHA); every package in every case gets a field test.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CBE8889-6335-9319-EBC0-1C2D5A5F7FB2}"/>
              </a:ext>
            </a:extLst>
          </p:cNvPr>
          <p:cNvSpPr txBox="1"/>
          <p:nvPr/>
        </p:nvSpPr>
        <p:spPr>
          <a:xfrm>
            <a:off x="279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SIH26231 problem statement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 Control Bureau, MHA; sih.gov.in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[2]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Narcotic Drugs Detection Kit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NICFS, A Forensic Guide for Crime Investigators, ch. 8, Figs 8.12–8.16 (Tests A–E, flow charts)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[3]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(Seizure, Storage, Sampling and Disposal) Rules 2022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GSR 899(E): Rules 3, 5, 10(2), 13, 14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[4]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Sagar Parshuram Joshi v. State of Maharashtra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Bombay HC, 15 Jan 2021 (indiankanoon.org/doc/90970274)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[5]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Masibur Khan v. State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Delhi HC, 31 May 2023 (indiankanoon.org/doc/91398841)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[6]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Kerala HC, 2024: alleged MDMA found to be methamphetamine</a:t>
            </a:r>
            <a:endParaRPr lang="en-IN" sz="105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93301D-411E-09C7-D10C-0E02267046A3}"/>
              </a:ext>
            </a:extLst>
          </p:cNvPr>
          <p:cNvSpPr txBox="1"/>
          <p:nvPr/>
        </p:nvSpPr>
        <p:spPr>
          <a:xfrm>
            <a:off x="6121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[7]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small and commercial quantities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S.O. 1055(E), 19 Oct 2001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[8]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Drug Law Enforcement Field Officers' Handbook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narcoticsindia.nic.in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[9]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BPR&amp;D SOP: audio-video recording under BNSS; BSA 2023 s.63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hash value in the electronic-record certificate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[10]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NIJ Standard-0604.01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Color Test Reagents/Kits for Preliminary Identification of Drugs of Abuse (US DoJ)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Android key attestation; RFC 8785 (JSON canonicalisation)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developer.android.com; rfc-editor.org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[12]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MHA Rajya Sabha USQ 1832 (11 Dec 2024)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NDPS case statistics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3CACFE-B64F-1190-27F3-9C13595E4295}"/>
              </a:ext>
            </a:extLst>
          </p:cNvPr>
          <p:cNvSpPr/>
          <p:nvPr/>
        </p:nvSpPr>
        <p:spPr>
          <a:xfrm>
            <a:off x="279400" y="4089400"/>
            <a:ext cx="11633200" cy="2108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984EAA-1790-6756-CB97-48CECBCD900A}"/>
              </a:ext>
            </a:extLst>
          </p:cNvPr>
          <p:cNvSpPr txBox="1"/>
          <p:nvPr/>
        </p:nvSpPr>
        <p:spPr>
          <a:xfrm>
            <a:off x="431800" y="42164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OUR CODE AND RESEARCH: </a:t>
            </a:r>
            <a:r>
              <a:rPr lang="en-IN" sz="1200" b="1">
                <a:solidFill>
                  <a:srgbClr val="0070C0"/>
                </a:solidFill>
                <a:latin typeface="Arial" panose="020B0604020202020204" pitchFamily="34" charset="0"/>
                <a:hlinkClick r:id="rId4"/>
              </a:rPr>
              <a:t>github.com/Harshith029/fieldtest-recorder</a:t>
            </a:r>
            <a:endParaRPr lang="en-IN" sz="120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D415C7-2C4D-1A24-BD53-720C27DD21A5}"/>
              </a:ext>
            </a:extLst>
          </p:cNvPr>
          <p:cNvSpPr txBox="1"/>
          <p:nvPr/>
        </p:nvSpPr>
        <p:spPr>
          <a:xfrm>
            <a:off x="431800" y="44958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Working reference implementation with a one-command demo and 47 automated tests: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record format and offline verifier, colour engine, NCB kit protocol, searchable log, sync server. The Android app must match its outputs byte for byte.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17 experiments with 95% confidence intervals,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including 18 tampering attacks, 15 failure scenarios, sample-amount tests, night light and staged-sample detection.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 external review, re-checked claim by claim: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every confirmed defect was fixed and re-tested before this submission.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Safety and law: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our team never handles narcotics; colour tests use published colours, the kit chart and safe dyes. Real-kit validation is designed for NCB or CFSL chemists.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1884</Words>
  <Application>Microsoft Office PowerPoint</Application>
  <PresentationFormat>Widescreen</PresentationFormat>
  <Paragraphs>192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FieldTest Recorder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Harshith Pali</cp:lastModifiedBy>
  <cp:revision>149</cp:revision>
  <dcterms:created xsi:type="dcterms:W3CDTF">2013-12-12T18:46:50Z</dcterms:created>
  <dcterms:modified xsi:type="dcterms:W3CDTF">2026-09-30T04:30:51Z</dcterms:modified>
  <cp:category/>
</cp:coreProperties>
</file>